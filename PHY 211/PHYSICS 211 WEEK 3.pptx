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81" r:id="rId2"/>
    <p:sldId id="257" r:id="rId3"/>
    <p:sldId id="258" r:id="rId4"/>
    <p:sldId id="259" r:id="rId5"/>
    <p:sldId id="260" r:id="rId6"/>
    <p:sldId id="265" r:id="rId7"/>
    <p:sldId id="262" r:id="rId8"/>
    <p:sldId id="263" r:id="rId9"/>
    <p:sldId id="266" r:id="rId10"/>
    <p:sldId id="267" r:id="rId11"/>
    <p:sldId id="268" r:id="rId12"/>
    <p:sldId id="269" r:id="rId13"/>
    <p:sldId id="270" r:id="rId14"/>
    <p:sldId id="271" r:id="rId15"/>
    <p:sldId id="272" r:id="rId16"/>
    <p:sldId id="273" r:id="rId17"/>
    <p:sldId id="274" r:id="rId18"/>
    <p:sldId id="275" r:id="rId19"/>
    <p:sldId id="282" r:id="rId20"/>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3965D-1089-473E-A0FB-CFCB3792C56D}" type="datetimeFigureOut">
              <a:rPr lang="en-NG" smtClean="0"/>
              <a:t>13/10/2025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E0E124-4BF9-4884-A9DB-FD4DBDA36A9C}" type="slidenum">
              <a:rPr lang="en-NG" smtClean="0"/>
              <a:t>‹#›</a:t>
            </a:fld>
            <a:endParaRPr lang="en-NG"/>
          </a:p>
        </p:txBody>
      </p:sp>
    </p:spTree>
    <p:extLst>
      <p:ext uri="{BB962C8B-B14F-4D97-AF65-F5344CB8AC3E}">
        <p14:creationId xmlns:p14="http://schemas.microsoft.com/office/powerpoint/2010/main" val="1949210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A081759-8476-4DE7-AFDE-4CD737713BD3}" type="slidenum">
              <a:rPr lang="en-US" smtClean="0">
                <a:solidFill>
                  <a:prstClr val="black"/>
                </a:solidFill>
              </a:rPr>
              <a:pPr eaLnBrk="1" hangingPunct="1"/>
              <a:t>1</a:t>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CA477-604C-4787-876E-236F4A9BC8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FAC93662-9CB0-4D84-ADCC-48F287329B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86907A2F-D96D-4F7B-9CAF-5D2281E05665}"/>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5" name="Footer Placeholder 4">
            <a:extLst>
              <a:ext uri="{FF2B5EF4-FFF2-40B4-BE49-F238E27FC236}">
                <a16:creationId xmlns:a16="http://schemas.microsoft.com/office/drawing/2014/main" id="{8E20A2CF-AF21-47B1-8389-DFD44AF00A29}"/>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D134B857-CF01-4D74-A014-23AB97A7D958}"/>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2089079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9EAD8-78DD-4DCC-A288-1CB1172B9DE8}"/>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E37A5BF0-37C7-46ED-89AF-1226BFF2E52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FB89DDB9-481A-47E7-B148-5D93A08C2B2A}"/>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5" name="Footer Placeholder 4">
            <a:extLst>
              <a:ext uri="{FF2B5EF4-FFF2-40B4-BE49-F238E27FC236}">
                <a16:creationId xmlns:a16="http://schemas.microsoft.com/office/drawing/2014/main" id="{26F43231-1CA2-4587-9971-3E09F0A4F8B3}"/>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30CBA504-EB76-4647-9234-75E7F1E63085}"/>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3897954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771C5-B48F-4C9A-A170-F5706658BA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9D842D96-13FC-4230-B75C-FAD10DE691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06C49D-4F9C-47AD-A72C-A5F8E159753E}"/>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5" name="Footer Placeholder 4">
            <a:extLst>
              <a:ext uri="{FF2B5EF4-FFF2-40B4-BE49-F238E27FC236}">
                <a16:creationId xmlns:a16="http://schemas.microsoft.com/office/drawing/2014/main" id="{AB0B84DE-566F-489B-9F09-24CDFDEBA9D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01FA292D-886C-4966-A3C7-AC66463E0343}"/>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3086827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C6EE1-E6B7-491A-8EF6-26093736AD02}"/>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E9DEE51D-A0BC-4156-BDD0-6512139882F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B1B51B5E-300D-4CAE-AF99-C398AE3589E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C9DC59AC-8B70-4446-91F1-6AB350773993}"/>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6" name="Footer Placeholder 5">
            <a:extLst>
              <a:ext uri="{FF2B5EF4-FFF2-40B4-BE49-F238E27FC236}">
                <a16:creationId xmlns:a16="http://schemas.microsoft.com/office/drawing/2014/main" id="{DCE8C4A6-7737-4847-98BA-BBB55FCA4A7F}"/>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6DA2DFAE-CB94-452B-A0EA-D257C7D7E4E7}"/>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1710065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ED68C-1646-40DF-A6EE-5F2FD3EA72E2}"/>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5B96F72D-9DDE-4B68-BDFC-F9A9B19D2C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1218230-C091-48DB-ACEA-4947768D5E6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8E2AFFB1-5B15-402F-A7FD-DCFF4C5D8D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07DA323-3C2A-4ADB-B5A9-13FAC6FFC89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5C2558DB-94A3-4F36-9BC2-A044859D474E}"/>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8" name="Footer Placeholder 7">
            <a:extLst>
              <a:ext uri="{FF2B5EF4-FFF2-40B4-BE49-F238E27FC236}">
                <a16:creationId xmlns:a16="http://schemas.microsoft.com/office/drawing/2014/main" id="{D3E5B33B-5F4A-4D06-AAB6-2A93BC30ED31}"/>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988FDA32-3515-48DB-BBE7-10269DC87148}"/>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3493208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138CF-9075-4A52-9DE1-103183C82BCF}"/>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7A86755E-5DDC-44DD-9EDA-6335BC048566}"/>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4" name="Footer Placeholder 3">
            <a:extLst>
              <a:ext uri="{FF2B5EF4-FFF2-40B4-BE49-F238E27FC236}">
                <a16:creationId xmlns:a16="http://schemas.microsoft.com/office/drawing/2014/main" id="{B21F775A-CDF2-410B-A2C7-1182F8219D50}"/>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A479D6D7-C655-44F7-992A-54B230E7D83F}"/>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2517976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4414B2-E2C4-4898-AD2D-D70AC2026296}"/>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3" name="Footer Placeholder 2">
            <a:extLst>
              <a:ext uri="{FF2B5EF4-FFF2-40B4-BE49-F238E27FC236}">
                <a16:creationId xmlns:a16="http://schemas.microsoft.com/office/drawing/2014/main" id="{81898E4B-D362-42C1-A2F4-9F611BFEA958}"/>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B5D21CBA-9870-4AB4-B614-CE4A8F827310}"/>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1823244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0CC19-6652-4E46-8492-3FFA05D855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D209EB22-9A50-4AF7-AC9A-6AEEC3C094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446B2BC6-3C9A-4E45-ADEF-5C930AF74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F760E08-4468-47F5-83EE-AF842F3B005D}"/>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6" name="Footer Placeholder 5">
            <a:extLst>
              <a:ext uri="{FF2B5EF4-FFF2-40B4-BE49-F238E27FC236}">
                <a16:creationId xmlns:a16="http://schemas.microsoft.com/office/drawing/2014/main" id="{0348A4BD-19E7-498F-A1A0-43E13F3738D9}"/>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8E25DE4F-6251-400C-97A0-A69912321B59}"/>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2312295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DF765-3898-493F-A979-4C8429ADA8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5529472A-B6E2-43B6-9832-2E77929043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C51F53AA-5092-4B08-8B03-E57B932FB3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4D59514-F39D-475E-9DCB-C785028DC50C}"/>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6" name="Footer Placeholder 5">
            <a:extLst>
              <a:ext uri="{FF2B5EF4-FFF2-40B4-BE49-F238E27FC236}">
                <a16:creationId xmlns:a16="http://schemas.microsoft.com/office/drawing/2014/main" id="{65DD0D27-DB0E-4721-B7CC-2444D9E25560}"/>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3C0BBF83-FDF0-4974-86A7-ADD5674A44C6}"/>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4183147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0FB53-F8AC-4177-8540-07D7C6E800F5}"/>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C7C5D2C5-DEF5-40B2-B37C-CD21125D9EE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142EAAD-46BE-4001-A10C-640ACFADB716}"/>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5" name="Footer Placeholder 4">
            <a:extLst>
              <a:ext uri="{FF2B5EF4-FFF2-40B4-BE49-F238E27FC236}">
                <a16:creationId xmlns:a16="http://schemas.microsoft.com/office/drawing/2014/main" id="{55C2397A-FB14-42F7-891A-0D2C81FFE31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4A7437FF-B765-4073-A2FA-1F22ABF837CD}"/>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390172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FE3B5D-1B7D-4C84-A36C-7EBF63218F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8235672E-CDBB-47A8-9F8E-F18A9A41B2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326DB646-71F1-4807-987D-A4E2E737AA41}"/>
              </a:ext>
            </a:extLst>
          </p:cNvPr>
          <p:cNvSpPr>
            <a:spLocks noGrp="1"/>
          </p:cNvSpPr>
          <p:nvPr>
            <p:ph type="dt" sz="half" idx="10"/>
          </p:nvPr>
        </p:nvSpPr>
        <p:spPr/>
        <p:txBody>
          <a:bodyPr/>
          <a:lstStyle/>
          <a:p>
            <a:fld id="{7636F4F4-213E-43B6-9802-87C851378BFD}" type="datetimeFigureOut">
              <a:rPr lang="en-NG" smtClean="0"/>
              <a:t>13/10/2025</a:t>
            </a:fld>
            <a:endParaRPr lang="en-NG"/>
          </a:p>
        </p:txBody>
      </p:sp>
      <p:sp>
        <p:nvSpPr>
          <p:cNvPr id="5" name="Footer Placeholder 4">
            <a:extLst>
              <a:ext uri="{FF2B5EF4-FFF2-40B4-BE49-F238E27FC236}">
                <a16:creationId xmlns:a16="http://schemas.microsoft.com/office/drawing/2014/main" id="{1FC8A107-73D7-46DC-B298-F2DA0B2587E6}"/>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978D0F20-598D-4A02-88ED-DD26CDBAE1BB}"/>
              </a:ext>
            </a:extLst>
          </p:cNvPr>
          <p:cNvSpPr>
            <a:spLocks noGrp="1"/>
          </p:cNvSpPr>
          <p:nvPr>
            <p:ph type="sldNum" sz="quarter" idx="12"/>
          </p:nvPr>
        </p:nvSpPr>
        <p:spPr/>
        <p:txBody>
          <a:bodyPr/>
          <a:lstStyle/>
          <a:p>
            <a:fld id="{2AF9A0E6-85A9-4364-A665-656DF2E875CC}" type="slidenum">
              <a:rPr lang="en-NG" smtClean="0"/>
              <a:t>‹#›</a:t>
            </a:fld>
            <a:endParaRPr lang="en-NG"/>
          </a:p>
        </p:txBody>
      </p:sp>
    </p:spTree>
    <p:extLst>
      <p:ext uri="{BB962C8B-B14F-4D97-AF65-F5344CB8AC3E}">
        <p14:creationId xmlns:p14="http://schemas.microsoft.com/office/powerpoint/2010/main" val="238180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281D9B-1ED2-4316-8140-9747137F89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F1CDF14E-D6C0-4D29-A14C-78F18D2E1E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1636FEC2-D308-4996-8444-C7CF690783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36F4F4-213E-43B6-9802-87C851378BFD}" type="datetimeFigureOut">
              <a:rPr lang="en-NG" smtClean="0"/>
              <a:t>13/10/2025</a:t>
            </a:fld>
            <a:endParaRPr lang="en-NG"/>
          </a:p>
        </p:txBody>
      </p:sp>
      <p:sp>
        <p:nvSpPr>
          <p:cNvPr id="5" name="Footer Placeholder 4">
            <a:extLst>
              <a:ext uri="{FF2B5EF4-FFF2-40B4-BE49-F238E27FC236}">
                <a16:creationId xmlns:a16="http://schemas.microsoft.com/office/drawing/2014/main" id="{69F21D5F-9BFE-4BE0-8E23-1157B60572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G"/>
          </a:p>
        </p:txBody>
      </p:sp>
      <p:sp>
        <p:nvSpPr>
          <p:cNvPr id="6" name="Slide Number Placeholder 5">
            <a:extLst>
              <a:ext uri="{FF2B5EF4-FFF2-40B4-BE49-F238E27FC236}">
                <a16:creationId xmlns:a16="http://schemas.microsoft.com/office/drawing/2014/main" id="{63506467-F7D9-4BFD-AC23-758C114B69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F9A0E6-85A9-4364-A665-656DF2E875CC}" type="slidenum">
              <a:rPr lang="en-NG" smtClean="0"/>
              <a:t>‹#›</a:t>
            </a:fld>
            <a:endParaRPr lang="en-NG"/>
          </a:p>
        </p:txBody>
      </p:sp>
    </p:spTree>
    <p:extLst>
      <p:ext uri="{BB962C8B-B14F-4D97-AF65-F5344CB8AC3E}">
        <p14:creationId xmlns:p14="http://schemas.microsoft.com/office/powerpoint/2010/main" val="813674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noChangeArrowheads="1"/>
          </p:cNvSpPr>
          <p:nvPr>
            <p:ph type="ctrTitle"/>
          </p:nvPr>
        </p:nvSpPr>
        <p:spPr>
          <a:xfrm>
            <a:off x="1524000" y="0"/>
            <a:ext cx="9144000" cy="3212976"/>
          </a:xfrm>
        </p:spPr>
        <p:txBody>
          <a:bodyPr/>
          <a:lstStyle/>
          <a:p>
            <a:pPr eaLnBrk="1" hangingPunct="1"/>
            <a:r>
              <a:rPr lang="en-US" altLang="zh-CN" sz="3200" dirty="0">
                <a:solidFill>
                  <a:srgbClr val="FF0000"/>
                </a:solidFill>
                <a:latin typeface="Times New Roman" pitchFamily="18" charset="0"/>
                <a:cs typeface="Times New Roman" pitchFamily="18" charset="0"/>
              </a:rPr>
              <a:t>PHY 211: ELEMENTARY MODERN PHYSICS 3units</a:t>
            </a:r>
            <a:br>
              <a:rPr lang="en-US" altLang="zh-CN" sz="3200" dirty="0">
                <a:solidFill>
                  <a:srgbClr val="FF0000"/>
                </a:solidFill>
                <a:latin typeface="Times New Roman" pitchFamily="18" charset="0"/>
                <a:cs typeface="Times New Roman" pitchFamily="18" charset="0"/>
              </a:rPr>
            </a:br>
            <a:r>
              <a:rPr lang="en-US" altLang="zh-CN" sz="3200" dirty="0">
                <a:solidFill>
                  <a:srgbClr val="FF0000"/>
                </a:solidFill>
                <a:latin typeface="Times New Roman" pitchFamily="18" charset="0"/>
                <a:cs typeface="Times New Roman" pitchFamily="18" charset="0"/>
              </a:rPr>
              <a:t> (Relativistic Velocity addition) </a:t>
            </a:r>
          </a:p>
        </p:txBody>
      </p:sp>
      <p:sp>
        <p:nvSpPr>
          <p:cNvPr id="2051" name="Subtitle 2"/>
          <p:cNvSpPr>
            <a:spLocks noGrp="1"/>
          </p:cNvSpPr>
          <p:nvPr>
            <p:ph type="subTitle" idx="1"/>
          </p:nvPr>
        </p:nvSpPr>
        <p:spPr>
          <a:xfrm>
            <a:off x="2895600" y="3501008"/>
            <a:ext cx="6400800" cy="2520280"/>
          </a:xfrm>
        </p:spPr>
        <p:txBody>
          <a:bodyPr/>
          <a:lstStyle/>
          <a:p>
            <a:pPr eaLnBrk="1" hangingPunct="1"/>
            <a:r>
              <a:rPr lang="en-US" sz="2000" dirty="0">
                <a:latin typeface="Times New Roman" pitchFamily="18" charset="0"/>
                <a:cs typeface="Times New Roman" pitchFamily="18" charset="0"/>
              </a:rPr>
              <a:t>DR  OKAFOR  P.N.</a:t>
            </a:r>
          </a:p>
          <a:p>
            <a:pPr eaLnBrk="1" hangingPunct="1"/>
            <a:r>
              <a:rPr lang="en-US" sz="2000" dirty="0">
                <a:latin typeface="Times New Roman" pitchFamily="18" charset="0"/>
                <a:cs typeface="Times New Roman" pitchFamily="18" charset="0"/>
              </a:rPr>
              <a:t>DEPARTMENT  OF  PHYSICS</a:t>
            </a:r>
          </a:p>
          <a:p>
            <a:pPr eaLnBrk="1" hangingPunct="1"/>
            <a:r>
              <a:rPr lang="en-US" sz="2000" dirty="0">
                <a:latin typeface="Times New Roman" pitchFamily="18" charset="0"/>
                <a:cs typeface="Times New Roman" pitchFamily="18" charset="0"/>
              </a:rPr>
              <a:t>COLLEGE  OF  SCIENCE  AND  TECHNOLOGY</a:t>
            </a:r>
          </a:p>
          <a:p>
            <a:pPr eaLnBrk="1" hangingPunct="1"/>
            <a:r>
              <a:rPr lang="en-US" sz="2000" dirty="0">
                <a:latin typeface="Times New Roman" pitchFamily="18" charset="0"/>
                <a:cs typeface="Times New Roman" pitchFamily="18" charset="0"/>
              </a:rPr>
              <a:t>CONVENANT  UNIVERSITY</a:t>
            </a:r>
          </a:p>
          <a:p>
            <a:pPr eaLnBrk="1" hangingPunct="1"/>
            <a:r>
              <a:rPr lang="en-US" sz="2000" dirty="0">
                <a:latin typeface="Times New Roman" pitchFamily="18" charset="0"/>
                <a:cs typeface="Times New Roman" pitchFamily="18" charset="0"/>
              </a:rPr>
              <a:t>2025/26</a:t>
            </a:r>
          </a:p>
        </p:txBody>
      </p:sp>
    </p:spTree>
    <p:extLst>
      <p:ext uri="{BB962C8B-B14F-4D97-AF65-F5344CB8AC3E}">
        <p14:creationId xmlns:p14="http://schemas.microsoft.com/office/powerpoint/2010/main" val="974078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8C44-1710-4A71-A4B9-DDEB043743B5}"/>
              </a:ext>
            </a:extLst>
          </p:cNvPr>
          <p:cNvSpPr>
            <a:spLocks noGrp="1"/>
          </p:cNvSpPr>
          <p:nvPr>
            <p:ph type="title"/>
          </p:nvPr>
        </p:nvSpPr>
        <p:spPr/>
        <p:txBody>
          <a:bodyPr/>
          <a:lstStyle/>
          <a:p>
            <a:r>
              <a:rPr lang="en-US" dirty="0">
                <a:solidFill>
                  <a:srgbClr val="FF0000"/>
                </a:solidFill>
              </a:rPr>
              <a:t>OBJECTIVES</a:t>
            </a:r>
            <a:endParaRPr lang="en-NG" dirty="0">
              <a:solidFill>
                <a:srgbClr val="FF0000"/>
              </a:solidFill>
            </a:endParaRPr>
          </a:p>
        </p:txBody>
      </p:sp>
      <p:sp>
        <p:nvSpPr>
          <p:cNvPr id="3" name="Content Placeholder 2">
            <a:extLst>
              <a:ext uri="{FF2B5EF4-FFF2-40B4-BE49-F238E27FC236}">
                <a16:creationId xmlns:a16="http://schemas.microsoft.com/office/drawing/2014/main" id="{B5089F49-F7F8-45B2-91C5-37BB6F84C636}"/>
              </a:ext>
            </a:extLst>
          </p:cNvPr>
          <p:cNvSpPr>
            <a:spLocks noGrp="1"/>
          </p:cNvSpPr>
          <p:nvPr>
            <p:ph idx="1"/>
          </p:nvPr>
        </p:nvSpPr>
        <p:spPr/>
        <p:txBody>
          <a:bodyPr/>
          <a:lstStyle/>
          <a:p>
            <a:pPr marL="0" indent="0">
              <a:buNone/>
            </a:pPr>
            <a:r>
              <a:rPr lang="en-US" dirty="0"/>
              <a:t>The students are able to explain velocity addition using the Lorentz  transformation </a:t>
            </a:r>
          </a:p>
          <a:p>
            <a:pPr marL="0" indent="0">
              <a:buNone/>
            </a:pPr>
            <a:r>
              <a:rPr lang="en-US" dirty="0"/>
              <a:t>Students are able to write down  inverse Lorentz transformation and   calculate relativistic velocity.</a:t>
            </a:r>
            <a:endParaRPr lang="en-NG" dirty="0"/>
          </a:p>
        </p:txBody>
      </p:sp>
    </p:spTree>
    <p:extLst>
      <p:ext uri="{BB962C8B-B14F-4D97-AF65-F5344CB8AC3E}">
        <p14:creationId xmlns:p14="http://schemas.microsoft.com/office/powerpoint/2010/main" val="1446178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A2BBB-0D2F-492C-8BC7-A5DD42D2FC69}"/>
              </a:ext>
            </a:extLst>
          </p:cNvPr>
          <p:cNvSpPr>
            <a:spLocks noGrp="1"/>
          </p:cNvSpPr>
          <p:nvPr>
            <p:ph type="title"/>
          </p:nvPr>
        </p:nvSpPr>
        <p:spPr/>
        <p:txBody>
          <a:bodyPr/>
          <a:lstStyle/>
          <a:p>
            <a:r>
              <a:rPr lang="en-US" dirty="0"/>
              <a:t>Relativistic Velocity Addition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D04CFF-6E8B-4E9A-86D8-10C1E892FB53}"/>
                  </a:ext>
                </a:extLst>
              </p:cNvPr>
              <p:cNvSpPr>
                <a:spLocks noGrp="1"/>
              </p:cNvSpPr>
              <p:nvPr>
                <p:ph idx="1"/>
              </p:nvPr>
            </p:nvSpPr>
            <p:spPr/>
            <p:txBody>
              <a:bodyPr/>
              <a:lstStyle/>
              <a:p>
                <a:r>
                  <a:rPr lang="en-US" dirty="0"/>
                  <a:t>The Lorentz transformation equations are</a:t>
                </a:r>
              </a:p>
              <a:p>
                <a:pPr marL="0" indent="0">
                  <a:buNone/>
                </a:pPr>
                <a:r>
                  <a:rPr lang="en-US" dirty="0"/>
                  <a:t>x’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𝑣𝑡</m:t>
                        </m:r>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(1</m:t>
                            </m:r>
                          </m:e>
                        </m:rad>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den>
                    </m:f>
                  </m:oMath>
                </a14:m>
                <a:endParaRPr lang="en-US" dirty="0"/>
              </a:p>
              <a:p>
                <a:pPr marL="0" indent="0">
                  <a:buNone/>
                </a:pPr>
                <a:r>
                  <a:rPr lang="en-US" dirty="0"/>
                  <a:t>y’  = y</a:t>
                </a:r>
              </a:p>
              <a:p>
                <a:pPr marL="0" indent="0">
                  <a:buNone/>
                </a:pPr>
                <a:r>
                  <a:rPr lang="en-US" dirty="0"/>
                  <a:t>z’ = z                  …………………………………………..(1)</a:t>
                </a:r>
              </a:p>
              <a:p>
                <a:pPr marL="0" indent="0">
                  <a:buNone/>
                </a:pPr>
                <a:endParaRPr lang="en-US" dirty="0"/>
              </a:p>
              <a:p>
                <a:pPr marL="0" indent="0">
                  <a:buNone/>
                </a:pPr>
                <a:r>
                  <a:rPr lang="en-US" dirty="0"/>
                  <a:t>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 </m:t>
                        </m:r>
                        <m:f>
                          <m:fPr>
                            <m:ctrlPr>
                              <a:rPr lang="en-US" b="0" i="1" smtClean="0">
                                <a:latin typeface="Cambria Math" panose="02040503050406030204" pitchFamily="18" charset="0"/>
                              </a:rPr>
                            </m:ctrlPr>
                          </m:fPr>
                          <m:num>
                            <m:r>
                              <a:rPr lang="en-US" b="0" i="1" smtClean="0">
                                <a:latin typeface="Cambria Math" panose="02040503050406030204" pitchFamily="18" charset="0"/>
                              </a:rPr>
                              <m:t>𝑣𝑥</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( 1 −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den>
                    </m:f>
                  </m:oMath>
                </a14:m>
                <a:endParaRPr lang="en-NG" dirty="0"/>
              </a:p>
            </p:txBody>
          </p:sp>
        </mc:Choice>
        <mc:Fallback xmlns="">
          <p:sp>
            <p:nvSpPr>
              <p:cNvPr id="3" name="Content Placeholder 2">
                <a:extLst>
                  <a:ext uri="{FF2B5EF4-FFF2-40B4-BE49-F238E27FC236}">
                    <a16:creationId xmlns:a16="http://schemas.microsoft.com/office/drawing/2014/main" id="{ECD04CFF-6E8B-4E9A-86D8-10C1E892FB53}"/>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NG">
                    <a:noFill/>
                  </a:rPr>
                  <a:t> </a:t>
                </a:r>
              </a:p>
            </p:txBody>
          </p:sp>
        </mc:Fallback>
      </mc:AlternateContent>
    </p:spTree>
    <p:extLst>
      <p:ext uri="{BB962C8B-B14F-4D97-AF65-F5344CB8AC3E}">
        <p14:creationId xmlns:p14="http://schemas.microsoft.com/office/powerpoint/2010/main" val="1229992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9E69D-69EA-4499-B97B-2CB3C2B3CB6E}"/>
              </a:ext>
            </a:extLst>
          </p:cNvPr>
          <p:cNvSpPr>
            <a:spLocks noGrp="1"/>
          </p:cNvSpPr>
          <p:nvPr>
            <p:ph type="title"/>
          </p:nvPr>
        </p:nvSpPr>
        <p:spPr/>
        <p:txBody>
          <a:bodyPr/>
          <a:lstStyle/>
          <a:p>
            <a:r>
              <a:rPr lang="en-US" dirty="0"/>
              <a:t>Velocity addition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60AFB0-1497-436C-8AB3-A6B6294BE994}"/>
                  </a:ext>
                </a:extLst>
              </p:cNvPr>
              <p:cNvSpPr>
                <a:spLocks noGrp="1"/>
              </p:cNvSpPr>
              <p:nvPr>
                <p:ph idx="1"/>
              </p:nvPr>
            </p:nvSpPr>
            <p:spPr/>
            <p:txBody>
              <a:bodyPr/>
              <a:lstStyle/>
              <a:p>
                <a:pPr marL="0" indent="0">
                  <a:buNone/>
                </a:pPr>
                <a:r>
                  <a:rPr lang="en-US" dirty="0"/>
                  <a:t>The inverse transformation equations are obtained by replacing v by </a:t>
                </a:r>
              </a:p>
              <a:p>
                <a:pPr marL="0" indent="0">
                  <a:buNone/>
                </a:pPr>
                <a:r>
                  <a:rPr lang="en-US" dirty="0"/>
                  <a:t>-v as discussed previously and by exchanging the primed and unprimed quantities  then</a:t>
                </a:r>
              </a:p>
              <a:p>
                <a:pPr marL="0" indent="0">
                  <a:buNone/>
                </a:pPr>
                <a:r>
                  <a:rPr lang="en-US" dirty="0"/>
                  <a:t> x = </a:t>
                </a:r>
                <a14:m>
                  <m:oMath xmlns:m="http://schemas.openxmlformats.org/officeDocument/2006/math">
                    <m:f>
                      <m:fPr>
                        <m:ctrlPr>
                          <a:rPr lang="en-US"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𝑣𝑡</m:t>
                        </m:r>
                        <m:r>
                          <a:rPr lang="en-US" b="0" i="1" smtClean="0">
                            <a:latin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   </m:t>
                    </m:r>
                  </m:oMath>
                </a14:m>
                <a:endParaRPr lang="en-US" b="0" dirty="0"/>
              </a:p>
              <a:p>
                <a:pPr marL="0" indent="0">
                  <a:buNone/>
                </a:pPr>
                <a:r>
                  <a:rPr lang="en-US" dirty="0"/>
                  <a:t>      y  = y’                            ………………………………….(2)</a:t>
                </a:r>
              </a:p>
              <a:p>
                <a:pPr marL="0" indent="0">
                  <a:buNone/>
                </a:pPr>
                <a:r>
                  <a:rPr lang="en-US" dirty="0"/>
                  <a:t>      z = z’</a:t>
                </a:r>
              </a:p>
              <a:p>
                <a:pPr marL="0" indent="0">
                  <a:buNone/>
                </a:pPr>
                <a:r>
                  <a:rPr lang="en-US" dirty="0"/>
                  <a:t>    t =  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𝑣𝑥</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den>
                    </m:f>
                  </m:oMath>
                </a14:m>
                <a:endParaRPr lang="en-NG" dirty="0"/>
              </a:p>
            </p:txBody>
          </p:sp>
        </mc:Choice>
        <mc:Fallback xmlns="">
          <p:sp>
            <p:nvSpPr>
              <p:cNvPr id="3" name="Content Placeholder 2">
                <a:extLst>
                  <a:ext uri="{FF2B5EF4-FFF2-40B4-BE49-F238E27FC236}">
                    <a16:creationId xmlns:a16="http://schemas.microsoft.com/office/drawing/2014/main" id="{C960AFB0-1497-436C-8AB3-A6B6294BE994}"/>
                  </a:ext>
                </a:extLst>
              </p:cNvPr>
              <p:cNvSpPr>
                <a:spLocks noGrp="1" noRot="1" noChangeAspect="1" noMove="1" noResize="1" noEditPoints="1" noAdjustHandles="1" noChangeArrowheads="1" noChangeShapeType="1" noTextEdit="1"/>
              </p:cNvSpPr>
              <p:nvPr>
                <p:ph idx="1"/>
              </p:nvPr>
            </p:nvSpPr>
            <p:spPr>
              <a:blipFill>
                <a:blip r:embed="rId2"/>
                <a:stretch>
                  <a:fillRect l="-1217" t="-2241" r="-1043"/>
                </a:stretch>
              </a:blipFill>
            </p:spPr>
            <p:txBody>
              <a:bodyPr/>
              <a:lstStyle/>
              <a:p>
                <a:r>
                  <a:rPr lang="en-NG">
                    <a:noFill/>
                  </a:rPr>
                  <a:t> </a:t>
                </a:r>
              </a:p>
            </p:txBody>
          </p:sp>
        </mc:Fallback>
      </mc:AlternateContent>
    </p:spTree>
    <p:extLst>
      <p:ext uri="{BB962C8B-B14F-4D97-AF65-F5344CB8AC3E}">
        <p14:creationId xmlns:p14="http://schemas.microsoft.com/office/powerpoint/2010/main" val="2090815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DB16-4426-4549-9984-0F9F6FE14321}"/>
              </a:ext>
            </a:extLst>
          </p:cNvPr>
          <p:cNvSpPr>
            <a:spLocks noGrp="1"/>
          </p:cNvSpPr>
          <p:nvPr>
            <p:ph type="title"/>
          </p:nvPr>
        </p:nvSpPr>
        <p:spPr/>
        <p:txBody>
          <a:bodyPr/>
          <a:lstStyle/>
          <a:p>
            <a:r>
              <a:rPr lang="en-US" dirty="0"/>
              <a:t>Relativistic velocity addition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F73A95-CD61-4636-8EC1-D368DED1C51F}"/>
                  </a:ext>
                </a:extLst>
              </p:cNvPr>
              <p:cNvSpPr>
                <a:spLocks noGrp="1"/>
              </p:cNvSpPr>
              <p:nvPr>
                <p:ph idx="1"/>
              </p:nvPr>
            </p:nvSpPr>
            <p:spPr/>
            <p:txBody>
              <a:bodyPr/>
              <a:lstStyle/>
              <a:p>
                <a:pPr marL="0" indent="0">
                  <a:buNone/>
                </a:pPr>
                <a:r>
                  <a:rPr lang="en-US" dirty="0"/>
                  <a:t>Equations  (1) and (2) both reduce to the Galilean transformation when  v</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c. It is only for speeds that approach the speed of light that the Lorentz transformation equations become significantly different from the Galilean transformation</a:t>
                </a:r>
              </a:p>
              <a:p>
                <a:endParaRPr lang="en-US" dirty="0"/>
              </a:p>
              <a:p>
                <a:pPr marL="0" indent="0">
                  <a:buNone/>
                </a:pPr>
                <a:r>
                  <a:rPr lang="en-US" dirty="0"/>
                  <a:t>A spaceship launched from a space station quickly reaches it’s cruising speed of 0.6c with respect to the space station when a band of asteroids is observed straight ahead of the ship. Mary  the </a:t>
                </a:r>
                <a:endParaRPr lang="en-NG" dirty="0"/>
              </a:p>
            </p:txBody>
          </p:sp>
        </mc:Choice>
        <mc:Fallback xmlns="">
          <p:sp>
            <p:nvSpPr>
              <p:cNvPr id="3" name="Content Placeholder 2">
                <a:extLst>
                  <a:ext uri="{FF2B5EF4-FFF2-40B4-BE49-F238E27FC236}">
                    <a16:creationId xmlns:a16="http://schemas.microsoft.com/office/drawing/2014/main" id="{85F73A95-CD61-4636-8EC1-D368DED1C51F}"/>
                  </a:ext>
                </a:extLst>
              </p:cNvPr>
              <p:cNvSpPr>
                <a:spLocks noGrp="1" noRot="1" noChangeAspect="1" noMove="1" noResize="1" noEditPoints="1" noAdjustHandles="1" noChangeArrowheads="1" noChangeShapeType="1" noTextEdit="1"/>
              </p:cNvSpPr>
              <p:nvPr>
                <p:ph idx="1"/>
              </p:nvPr>
            </p:nvSpPr>
            <p:spPr>
              <a:blipFill>
                <a:blip r:embed="rId2"/>
                <a:stretch>
                  <a:fillRect l="-1217" t="-2241" r="-1971"/>
                </a:stretch>
              </a:blipFill>
            </p:spPr>
            <p:txBody>
              <a:bodyPr/>
              <a:lstStyle/>
              <a:p>
                <a:r>
                  <a:rPr lang="en-NG">
                    <a:noFill/>
                  </a:rPr>
                  <a:t> </a:t>
                </a:r>
              </a:p>
            </p:txBody>
          </p:sp>
        </mc:Fallback>
      </mc:AlternateContent>
    </p:spTree>
    <p:extLst>
      <p:ext uri="{BB962C8B-B14F-4D97-AF65-F5344CB8AC3E}">
        <p14:creationId xmlns:p14="http://schemas.microsoft.com/office/powerpoint/2010/main" val="3690682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26431-A3D2-464D-87F3-64D87243B64F}"/>
              </a:ext>
            </a:extLst>
          </p:cNvPr>
          <p:cNvSpPr>
            <a:spLocks noGrp="1"/>
          </p:cNvSpPr>
          <p:nvPr>
            <p:ph type="title"/>
          </p:nvPr>
        </p:nvSpPr>
        <p:spPr/>
        <p:txBody>
          <a:bodyPr/>
          <a:lstStyle/>
          <a:p>
            <a:r>
              <a:rPr lang="en-US" dirty="0"/>
              <a:t>Velocity addition</a:t>
            </a:r>
            <a:endParaRPr lang="en-NG" dirty="0"/>
          </a:p>
        </p:txBody>
      </p:sp>
      <p:sp>
        <p:nvSpPr>
          <p:cNvPr id="3" name="Content Placeholder 2">
            <a:extLst>
              <a:ext uri="{FF2B5EF4-FFF2-40B4-BE49-F238E27FC236}">
                <a16:creationId xmlns:a16="http://schemas.microsoft.com/office/drawing/2014/main" id="{A6510D66-8E84-42F9-8FB2-22F9375ADF8D}"/>
              </a:ext>
            </a:extLst>
          </p:cNvPr>
          <p:cNvSpPr>
            <a:spLocks noGrp="1"/>
          </p:cNvSpPr>
          <p:nvPr>
            <p:ph idx="1"/>
          </p:nvPr>
        </p:nvSpPr>
        <p:spPr/>
        <p:txBody>
          <a:bodyPr/>
          <a:lstStyle/>
          <a:p>
            <a:pPr marL="0" indent="0">
              <a:buNone/>
            </a:pPr>
            <a:r>
              <a:rPr lang="en-US" dirty="0"/>
              <a:t>commander reacts quickly and orders her crew to blast  away the asteroids with the ship’s proton gun to  avoid   a catastrophic collision.</a:t>
            </a:r>
          </a:p>
          <a:p>
            <a:pPr marL="0" indent="0">
              <a:buNone/>
            </a:pPr>
            <a:r>
              <a:rPr lang="en-US" dirty="0"/>
              <a:t>Frank, the admiral   on the space station listens with apprehension to the communication because he fears the asteroids may eventually destroy his space station as well. </a:t>
            </a:r>
          </a:p>
          <a:p>
            <a:pPr marL="0" indent="0">
              <a:buNone/>
            </a:pPr>
            <a:r>
              <a:rPr lang="en-US" dirty="0"/>
              <a:t>Will the high energy protons of 0.99c be able to successfully blast away</a:t>
            </a:r>
          </a:p>
          <a:p>
            <a:pPr marL="0" indent="0">
              <a:buNone/>
            </a:pPr>
            <a:r>
              <a:rPr lang="en-US" dirty="0"/>
              <a:t>the asteroids  and save both the space ship and the space station?</a:t>
            </a:r>
            <a:endParaRPr lang="en-NG" dirty="0"/>
          </a:p>
        </p:txBody>
      </p:sp>
    </p:spTree>
    <p:extLst>
      <p:ext uri="{BB962C8B-B14F-4D97-AF65-F5344CB8AC3E}">
        <p14:creationId xmlns:p14="http://schemas.microsoft.com/office/powerpoint/2010/main" val="3386904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6660B-4816-4D4E-B795-71DA5A7C4EAB}"/>
              </a:ext>
            </a:extLst>
          </p:cNvPr>
          <p:cNvSpPr>
            <a:spLocks noGrp="1"/>
          </p:cNvSpPr>
          <p:nvPr>
            <p:ph type="title"/>
          </p:nvPr>
        </p:nvSpPr>
        <p:spPr/>
        <p:txBody>
          <a:bodyPr/>
          <a:lstStyle/>
          <a:p>
            <a:r>
              <a:rPr lang="en-US" dirty="0"/>
              <a:t>Velocity Addition</a:t>
            </a:r>
            <a:endParaRPr lang="en-NG" dirty="0"/>
          </a:p>
        </p:txBody>
      </p:sp>
      <p:pic>
        <p:nvPicPr>
          <p:cNvPr id="4" name="Content Placeholder 3">
            <a:extLst>
              <a:ext uri="{FF2B5EF4-FFF2-40B4-BE49-F238E27FC236}">
                <a16:creationId xmlns:a16="http://schemas.microsoft.com/office/drawing/2014/main" id="{559025C6-BEE4-4E23-A982-7BDA068488A7}"/>
              </a:ext>
            </a:extLst>
          </p:cNvPr>
          <p:cNvPicPr>
            <a:picLocks noGrp="1" noChangeAspect="1"/>
          </p:cNvPicPr>
          <p:nvPr>
            <p:ph idx="1"/>
          </p:nvPr>
        </p:nvPicPr>
        <p:blipFill>
          <a:blip r:embed="rId2"/>
          <a:stretch>
            <a:fillRect/>
          </a:stretch>
        </p:blipFill>
        <p:spPr>
          <a:xfrm>
            <a:off x="361507" y="1690688"/>
            <a:ext cx="10992293" cy="5592614"/>
          </a:xfrm>
          <a:prstGeom prst="rect">
            <a:avLst/>
          </a:prstGeom>
        </p:spPr>
      </p:pic>
    </p:spTree>
    <p:extLst>
      <p:ext uri="{BB962C8B-B14F-4D97-AF65-F5344CB8AC3E}">
        <p14:creationId xmlns:p14="http://schemas.microsoft.com/office/powerpoint/2010/main" val="406185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85089-0526-4798-ADC2-F780116EB14F}"/>
              </a:ext>
            </a:extLst>
          </p:cNvPr>
          <p:cNvSpPr>
            <a:spLocks noGrp="1"/>
          </p:cNvSpPr>
          <p:nvPr>
            <p:ph type="title"/>
          </p:nvPr>
        </p:nvSpPr>
        <p:spPr/>
        <p:txBody>
          <a:bodyPr/>
          <a:lstStyle/>
          <a:p>
            <a:r>
              <a:rPr lang="en-US" dirty="0"/>
              <a:t>Velocity Addition</a:t>
            </a:r>
            <a:endParaRPr lang="en-NG" dirty="0"/>
          </a:p>
        </p:txBody>
      </p:sp>
      <p:sp>
        <p:nvSpPr>
          <p:cNvPr id="3" name="Content Placeholder 2">
            <a:extLst>
              <a:ext uri="{FF2B5EF4-FFF2-40B4-BE49-F238E27FC236}">
                <a16:creationId xmlns:a16="http://schemas.microsoft.com/office/drawing/2014/main" id="{37CF42B9-B5D0-4DED-B586-A4BF1DB10A55}"/>
              </a:ext>
            </a:extLst>
          </p:cNvPr>
          <p:cNvSpPr>
            <a:spLocks noGrp="1"/>
          </p:cNvSpPr>
          <p:nvPr>
            <p:ph idx="1"/>
          </p:nvPr>
        </p:nvSpPr>
        <p:spPr/>
        <p:txBody>
          <a:bodyPr/>
          <a:lstStyle/>
          <a:p>
            <a:pPr marL="0" indent="0">
              <a:buNone/>
            </a:pPr>
            <a:r>
              <a:rPr lang="en-US" dirty="0"/>
              <a:t>If 0.99c is the speed of the protons with respect to the space ship, what speed will Frank measure for the protons?</a:t>
            </a:r>
          </a:p>
          <a:p>
            <a:pPr marL="0" indent="0">
              <a:buNone/>
            </a:pPr>
            <a:r>
              <a:rPr lang="en-US" dirty="0"/>
              <a:t>We will use the letter u to denote velocity of objects as measured in various co ordinate systems . In this case, Frank (in the fixed, stationary system K on the space station) will  measure the velocity of the protons to be u. Mary the commander of the space ship(in the moving system K’) will measure u’ = 0.99c</a:t>
            </a:r>
          </a:p>
          <a:p>
            <a:pPr marL="0" indent="0">
              <a:buNone/>
            </a:pPr>
            <a:r>
              <a:rPr lang="en-US" dirty="0"/>
              <a:t>We reserve the letter v to express the velocity of the coordinate systems with respect to each other.</a:t>
            </a:r>
            <a:endParaRPr lang="en-NG" dirty="0"/>
          </a:p>
        </p:txBody>
      </p:sp>
    </p:spTree>
    <p:extLst>
      <p:ext uri="{BB962C8B-B14F-4D97-AF65-F5344CB8AC3E}">
        <p14:creationId xmlns:p14="http://schemas.microsoft.com/office/powerpoint/2010/main" val="2666564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F2C08-C5B8-472A-AF5A-5715C7A8D434}"/>
              </a:ext>
            </a:extLst>
          </p:cNvPr>
          <p:cNvSpPr>
            <a:spLocks noGrp="1"/>
          </p:cNvSpPr>
          <p:nvPr>
            <p:ph type="title"/>
          </p:nvPr>
        </p:nvSpPr>
        <p:spPr/>
        <p:txBody>
          <a:bodyPr/>
          <a:lstStyle/>
          <a:p>
            <a:r>
              <a:rPr lang="en-US" dirty="0"/>
              <a:t>Velocity addition</a:t>
            </a:r>
            <a:endParaRPr lang="en-NG" dirty="0"/>
          </a:p>
        </p:txBody>
      </p:sp>
      <p:sp>
        <p:nvSpPr>
          <p:cNvPr id="3" name="Content Placeholder 2">
            <a:extLst>
              <a:ext uri="{FF2B5EF4-FFF2-40B4-BE49-F238E27FC236}">
                <a16:creationId xmlns:a16="http://schemas.microsoft.com/office/drawing/2014/main" id="{0298D73D-8A4E-4126-8384-F6366DBDA91D}"/>
              </a:ext>
            </a:extLst>
          </p:cNvPr>
          <p:cNvSpPr>
            <a:spLocks noGrp="1"/>
          </p:cNvSpPr>
          <p:nvPr>
            <p:ph idx="1"/>
          </p:nvPr>
        </p:nvSpPr>
        <p:spPr/>
        <p:txBody>
          <a:bodyPr/>
          <a:lstStyle/>
          <a:p>
            <a:pPr marL="0" indent="0">
              <a:buNone/>
            </a:pPr>
            <a:r>
              <a:rPr lang="en-US" dirty="0"/>
              <a:t>The </a:t>
            </a:r>
            <a:r>
              <a:rPr lang="en-US" dirty="0" err="1"/>
              <a:t>velocty</a:t>
            </a:r>
            <a:r>
              <a:rPr lang="en-US" dirty="0"/>
              <a:t> of the space ship with respect to the space station is v = 0,60c. Newtonian mechanics teaches us that to find the velocity of the protons with respect to the space station, we simply add the velocity of the spaceship with respect to the space station (o.60c) to the velocity of the protons with respect to the space ship (0.99c) to determine the result u = v + u’ = 0.60c + 0.99c = 1.59c.</a:t>
            </a:r>
          </a:p>
          <a:p>
            <a:pPr marL="0" indent="0">
              <a:buNone/>
            </a:pPr>
            <a:r>
              <a:rPr lang="en-US" dirty="0"/>
              <a:t>However, this result is not in agreement with the result of the Lorentz transformation.</a:t>
            </a:r>
            <a:endParaRPr lang="en-NG" dirty="0"/>
          </a:p>
        </p:txBody>
      </p:sp>
    </p:spTree>
    <p:extLst>
      <p:ext uri="{BB962C8B-B14F-4D97-AF65-F5344CB8AC3E}">
        <p14:creationId xmlns:p14="http://schemas.microsoft.com/office/powerpoint/2010/main" val="3003914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5161C-847C-447F-8C9E-59487FBDCF6B}"/>
              </a:ext>
            </a:extLst>
          </p:cNvPr>
          <p:cNvSpPr>
            <a:spLocks noGrp="1"/>
          </p:cNvSpPr>
          <p:nvPr>
            <p:ph type="title"/>
          </p:nvPr>
        </p:nvSpPr>
        <p:spPr/>
        <p:txBody>
          <a:bodyPr/>
          <a:lstStyle/>
          <a:p>
            <a:r>
              <a:rPr lang="en-US" dirty="0"/>
              <a:t>Relativistic velocity addition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7B3594-75D9-4657-8C54-87E9830BF1FA}"/>
                  </a:ext>
                </a:extLst>
              </p:cNvPr>
              <p:cNvSpPr>
                <a:spLocks noGrp="1"/>
              </p:cNvSpPr>
              <p:nvPr>
                <p:ph idx="1"/>
              </p:nvPr>
            </p:nvSpPr>
            <p:spPr/>
            <p:txBody>
              <a:bodyPr/>
              <a:lstStyle/>
              <a:p>
                <a:pPr marL="0" indent="0">
                  <a:buNone/>
                </a:pPr>
                <a:r>
                  <a:rPr lang="en-US" dirty="0"/>
                  <a:t>We use equation (2), letting x be along the direction of motion of the space ship (and high speed protons) and take the differentials, we have:</a:t>
                </a:r>
              </a:p>
              <a:p>
                <a:pPr marL="0" indent="0">
                  <a:buNone/>
                </a:pPr>
                <a:r>
                  <a:rPr lang="en-US" dirty="0"/>
                  <a:t>dx = </a:t>
                </a:r>
                <a14:m>
                  <m:oMath xmlns:m="http://schemas.openxmlformats.org/officeDocument/2006/math">
                    <m:r>
                      <a:rPr lang="en-US" i="1" smtClean="0">
                        <a:latin typeface="Cambria Math" panose="02040503050406030204" pitchFamily="18" charset="0"/>
                        <a:ea typeface="Cambria Math" panose="02040503050406030204" pitchFamily="18" charset="0"/>
                      </a:rPr>
                      <m:t>𝛾</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𝑑</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𝑣𝑑</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𝑡</m:t>
                            </m:r>
                          </m:e>
                          <m:sup>
                            <m:r>
                              <a:rPr lang="en-US" b="0" i="1" smtClean="0">
                                <a:latin typeface="Cambria Math" panose="02040503050406030204" pitchFamily="18" charset="0"/>
                                <a:ea typeface="Cambria Math" panose="02040503050406030204" pitchFamily="18" charset="0"/>
                              </a:rPr>
                              <m:t>′</m:t>
                            </m:r>
                          </m:sup>
                        </m:sSup>
                      </m:e>
                    </m:d>
                  </m:oMath>
                </a14:m>
                <a:endParaRPr lang="en-US" b="0" dirty="0">
                  <a:ea typeface="Cambria Math" panose="02040503050406030204" pitchFamily="18" charset="0"/>
                </a:endParaRPr>
              </a:p>
              <a:p>
                <a:pPr marL="0" indent="0">
                  <a:buNone/>
                </a:pPr>
                <a:r>
                  <a:rPr lang="en-US" dirty="0" err="1"/>
                  <a:t>dy</a:t>
                </a:r>
                <a:r>
                  <a:rPr lang="en-US" dirty="0"/>
                  <a:t>  = </a:t>
                </a:r>
                <a:r>
                  <a:rPr lang="en-US" dirty="0" err="1"/>
                  <a:t>dy</a:t>
                </a:r>
                <a:r>
                  <a:rPr lang="en-US" dirty="0"/>
                  <a:t>’</a:t>
                </a:r>
              </a:p>
              <a:p>
                <a:pPr marL="0" indent="0">
                  <a:buNone/>
                </a:pPr>
                <a:r>
                  <a:rPr lang="en-US" dirty="0" err="1"/>
                  <a:t>dz</a:t>
                </a:r>
                <a:r>
                  <a:rPr lang="en-US" dirty="0"/>
                  <a:t>  = </a:t>
                </a:r>
                <a:r>
                  <a:rPr lang="en-US" dirty="0" err="1"/>
                  <a:t>dz</a:t>
                </a:r>
                <a:r>
                  <a:rPr lang="en-US" dirty="0"/>
                  <a:t>’</a:t>
                </a:r>
              </a:p>
              <a:p>
                <a:pPr marL="0" indent="0">
                  <a:buNone/>
                </a:pPr>
                <a:r>
                  <a:rPr lang="en-US" dirty="0"/>
                  <a:t>  dt  =  </a:t>
                </a:r>
                <a14:m>
                  <m:oMath xmlns:m="http://schemas.openxmlformats.org/officeDocument/2006/math">
                    <m:r>
                      <a:rPr lang="en-US"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𝑡</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𝑣</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e>
                    </m:d>
                    <m:r>
                      <a:rPr lang="en-US" b="0" i="1" smtClean="0">
                        <a:latin typeface="Cambria Math" panose="02040503050406030204" pitchFamily="18" charset="0"/>
                        <a:ea typeface="Cambria Math" panose="02040503050406030204" pitchFamily="18" charset="0"/>
                      </a:rPr>
                      <m:t>𝑑</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oMath>
                </a14:m>
                <a:r>
                  <a:rPr lang="en-US" dirty="0"/>
                  <a:t> </a:t>
                </a:r>
                <a:endParaRPr lang="en-NG" dirty="0"/>
              </a:p>
            </p:txBody>
          </p:sp>
        </mc:Choice>
        <mc:Fallback xmlns="">
          <p:sp>
            <p:nvSpPr>
              <p:cNvPr id="3" name="Content Placeholder 2">
                <a:extLst>
                  <a:ext uri="{FF2B5EF4-FFF2-40B4-BE49-F238E27FC236}">
                    <a16:creationId xmlns:a16="http://schemas.microsoft.com/office/drawing/2014/main" id="{2C7B3594-75D9-4657-8C54-87E9830BF1FA}"/>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NG">
                    <a:noFill/>
                  </a:rPr>
                  <a:t> </a:t>
                </a:r>
              </a:p>
            </p:txBody>
          </p:sp>
        </mc:Fallback>
      </mc:AlternateContent>
    </p:spTree>
    <p:extLst>
      <p:ext uri="{BB962C8B-B14F-4D97-AF65-F5344CB8AC3E}">
        <p14:creationId xmlns:p14="http://schemas.microsoft.com/office/powerpoint/2010/main" val="3148667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8B344-9995-40CB-84D6-414BE3A597A8}"/>
              </a:ext>
            </a:extLst>
          </p:cNvPr>
          <p:cNvSpPr>
            <a:spLocks noGrp="1"/>
          </p:cNvSpPr>
          <p:nvPr>
            <p:ph type="title"/>
          </p:nvPr>
        </p:nvSpPr>
        <p:spPr/>
        <p:txBody>
          <a:bodyPr/>
          <a:lstStyle/>
          <a:p>
            <a:r>
              <a:rPr lang="en-US" dirty="0"/>
              <a:t>Relativistic velocity addition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A7AB0C-6363-47EF-8B97-FCB5817BDBCA}"/>
                  </a:ext>
                </a:extLst>
              </p:cNvPr>
              <p:cNvSpPr>
                <a:spLocks noGrp="1"/>
              </p:cNvSpPr>
              <p:nvPr>
                <p:ph idx="1"/>
              </p:nvPr>
            </p:nvSpPr>
            <p:spPr/>
            <p:txBody>
              <a:bodyPr/>
              <a:lstStyle/>
              <a:p>
                <a:pPr marL="0" indent="0">
                  <a:buNone/>
                </a:pPr>
                <a:r>
                  <a:rPr lang="en-US" dirty="0"/>
                  <a:t>Velocity along the x direction is given as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num>
                      <m:den>
                        <m:r>
                          <a:rPr lang="en-US" b="0" i="1" smtClean="0">
                            <a:latin typeface="Cambria Math" panose="02040503050406030204" pitchFamily="18" charset="0"/>
                          </a:rPr>
                          <m:t>𝑑𝑡</m:t>
                        </m:r>
                      </m:den>
                    </m:f>
                  </m:oMath>
                </a14:m>
                <a:endParaRPr lang="en-US" b="0" dirty="0"/>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NG"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𝑦</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𝑑𝑦</m:t>
                          </m:r>
                        </m:num>
                        <m:den>
                          <m:r>
                            <a:rPr lang="en-US" b="0" i="1" smtClean="0">
                              <a:latin typeface="Cambria Math" panose="02040503050406030204" pitchFamily="18" charset="0"/>
                            </a:rPr>
                            <m:t>𝑑𝑡</m:t>
                          </m:r>
                        </m:den>
                      </m:f>
                      <m:r>
                        <a:rPr lang="en-US" b="0" i="1" smtClean="0">
                          <a:latin typeface="Cambria Math" panose="02040503050406030204" pitchFamily="18" charset="0"/>
                        </a:rPr>
                        <m:t>, </m:t>
                      </m:r>
                      <m:r>
                        <a:rPr lang="en-US" b="0" i="1" smtClean="0">
                          <a:latin typeface="Cambria Math" panose="02040503050406030204" pitchFamily="18" charset="0"/>
                        </a:rPr>
                        <m:t>𝑎𝑛𝑑</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m:t>
                          </m:r>
                        </m:sup>
                      </m:sSup>
                      <m:r>
                        <a:rPr lang="en-US" b="0" i="1" smtClean="0">
                          <a:latin typeface="Cambria Math" panose="02040503050406030204" pitchFamily="18" charset="0"/>
                        </a:rPr>
                        <m:t>𝑥</m:t>
                      </m:r>
                      <m:r>
                        <a:rPr lang="en-US" b="0" i="1" smtClean="0">
                          <a:latin typeface="Cambria Math" panose="02040503050406030204" pitchFamily="18" charset="0"/>
                        </a:rPr>
                        <m:t> = </m:t>
                      </m:r>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r>
                            <a:rPr lang="en-US" b="0" i="1" smtClean="0">
                              <a:latin typeface="Cambria Math" panose="02040503050406030204" pitchFamily="18" charset="0"/>
                            </a:rPr>
                            <m:t>′</m:t>
                          </m:r>
                        </m:num>
                        <m:den>
                          <m:r>
                            <a:rPr lang="en-US" b="0" i="1" smtClean="0">
                              <a:latin typeface="Cambria Math" panose="02040503050406030204" pitchFamily="18" charset="0"/>
                            </a:rPr>
                            <m:t>𝑑𝑡</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𝑠𝑜</m:t>
                      </m:r>
                      <m:r>
                        <a:rPr lang="en-US" b="0" i="1" smtClean="0">
                          <a:latin typeface="Cambria Math" panose="02040503050406030204" pitchFamily="18" charset="0"/>
                        </a:rPr>
                        <m:t> </m:t>
                      </m:r>
                      <m:r>
                        <a:rPr lang="en-US" b="0" i="1" smtClean="0">
                          <a:latin typeface="Cambria Math" panose="02040503050406030204" pitchFamily="18" charset="0"/>
                        </a:rPr>
                        <m:t>𝑜𝑛</m:t>
                      </m:r>
                    </m:oMath>
                  </m:oMathPara>
                </a14:m>
                <a:endParaRPr lang="en-US" b="0" dirty="0"/>
              </a:p>
              <a:p>
                <a:pPr marL="0" indent="0">
                  <a:buNone/>
                </a:pPr>
                <a:r>
                  <a:rPr lang="en-US" dirty="0"/>
                  <a:t>Therefore we determine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𝑥</m:t>
                        </m:r>
                      </m:sub>
                    </m:sSub>
                    <m:r>
                      <a:rPr lang="en-US" b="0" i="1" smtClean="0">
                        <a:latin typeface="Cambria Math" panose="02040503050406030204" pitchFamily="18" charset="0"/>
                      </a:rPr>
                      <m:t>  </m:t>
                    </m:r>
                    <m:r>
                      <a:rPr lang="en-US" b="0" i="1" smtClean="0">
                        <a:latin typeface="Cambria Math" panose="02040503050406030204" pitchFamily="18" charset="0"/>
                      </a:rPr>
                      <m:t>𝑏𝑦</m:t>
                    </m:r>
                    <m:r>
                      <a:rPr lang="en-US" b="0" i="1" smtClean="0">
                        <a:latin typeface="Cambria Math" panose="02040503050406030204" pitchFamily="18" charset="0"/>
                      </a:rPr>
                      <m:t> </m:t>
                    </m:r>
                  </m:oMath>
                </a14:m>
                <a:endParaRPr lang="en-US" b="0" dirty="0"/>
              </a:p>
              <a:p>
                <a:endParaRPr lang="en-NG" dirty="0"/>
              </a:p>
            </p:txBody>
          </p:sp>
        </mc:Choice>
        <mc:Fallback xmlns="">
          <p:sp>
            <p:nvSpPr>
              <p:cNvPr id="3" name="Content Placeholder 2">
                <a:extLst>
                  <a:ext uri="{FF2B5EF4-FFF2-40B4-BE49-F238E27FC236}">
                    <a16:creationId xmlns:a16="http://schemas.microsoft.com/office/drawing/2014/main" id="{06A7AB0C-6363-47EF-8B97-FCB5817BDBCA}"/>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NG">
                    <a:noFill/>
                  </a:rPr>
                  <a:t> </a:t>
                </a:r>
              </a:p>
            </p:txBody>
          </p:sp>
        </mc:Fallback>
      </mc:AlternateContent>
    </p:spTree>
    <p:extLst>
      <p:ext uri="{BB962C8B-B14F-4D97-AF65-F5344CB8AC3E}">
        <p14:creationId xmlns:p14="http://schemas.microsoft.com/office/powerpoint/2010/main" val="3777857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AC93-0019-4329-A338-4B473491C051}"/>
              </a:ext>
            </a:extLst>
          </p:cNvPr>
          <p:cNvSpPr>
            <a:spLocks noGrp="1"/>
          </p:cNvSpPr>
          <p:nvPr>
            <p:ph type="title"/>
          </p:nvPr>
        </p:nvSpPr>
        <p:spPr/>
        <p:txBody>
          <a:bodyPr/>
          <a:lstStyle/>
          <a:p>
            <a:r>
              <a:rPr lang="en-US" dirty="0"/>
              <a:t>Relativistic velocity addition</a:t>
            </a:r>
            <a:endParaRPr lang="en-NG"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E2FB91A-4CF0-42E5-824F-734F45CB8016}"/>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NG"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𝑥</m:t>
                          </m:r>
                        </m:sub>
                      </m:sSub>
                      <m:r>
                        <a:rPr lang="en-US" b="0" i="1" smtClean="0">
                          <a:latin typeface="Cambria Math" panose="02040503050406030204" pitchFamily="18" charset="0"/>
                        </a:rPr>
                        <m:t> =  </m:t>
                      </m:r>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num>
                        <m:den>
                          <m:r>
                            <a:rPr lang="en-US" b="0" i="1" smtClean="0">
                              <a:latin typeface="Cambria Math" panose="02040503050406030204" pitchFamily="18" charset="0"/>
                            </a:rPr>
                            <m:t>𝑑𝑡</m:t>
                          </m:r>
                        </m:den>
                      </m:f>
                      <m:r>
                        <a:rPr lang="en-US" b="0" i="1" smtClean="0">
                          <a:latin typeface="Cambria Math" panose="02040503050406030204" pitchFamily="18" charset="0"/>
                        </a:rPr>
                        <m:t>  =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𝑣𝑑</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𝑡</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num>
                        <m:den>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𝑑𝑡</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  </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𝑣</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e>
                          </m:d>
                          <m:r>
                            <a:rPr lang="en-US" b="0" i="1" smtClean="0">
                              <a:latin typeface="Cambria Math" panose="02040503050406030204" pitchFamily="18" charset="0"/>
                              <a:ea typeface="Cambria Math" panose="02040503050406030204" pitchFamily="18" charset="0"/>
                            </a:rPr>
                            <m:t>𝑑</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m:t>
                      </m:r>
                    </m:oMath>
                  </m:oMathPara>
                </a14:m>
                <a:endParaRPr lang="en-US" b="0" dirty="0"/>
              </a:p>
              <a:p>
                <a:endParaRPr lang="en-US" dirty="0"/>
              </a:p>
              <a:p>
                <a:pPr marL="0" indent="0">
                  <a:buNone/>
                </a:pPr>
                <a14:m>
                  <m:oMath xmlns:m="http://schemas.openxmlformats.org/officeDocument/2006/math">
                    <m:f>
                      <m:fPr>
                        <m:ctrlPr>
                          <a:rPr lang="en-NG"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m:t>
                            </m:r>
                          </m:sup>
                        </m:sSup>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𝑣</m:t>
                        </m:r>
                      </m:num>
                      <m:den>
                        <m:r>
                          <a:rPr lang="en-US" b="0" i="1" smtClean="0">
                            <a:latin typeface="Cambria Math" panose="02040503050406030204" pitchFamily="18" charset="0"/>
                          </a:rPr>
                          <m:t>1 +  </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𝑣</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m:t>
                            </m:r>
                          </m:sup>
                        </m:sSup>
                        <m:r>
                          <a:rPr lang="en-US" b="0" i="1" smtClean="0">
                            <a:latin typeface="Cambria Math" panose="02040503050406030204" pitchFamily="18" charset="0"/>
                          </a:rPr>
                          <m:t>𝑥</m:t>
                        </m:r>
                      </m:den>
                    </m:f>
                  </m:oMath>
                </a14:m>
                <a:r>
                  <a:rPr lang="en-US" dirty="0"/>
                  <a:t>          ……………………………………………..(4)</a:t>
                </a:r>
              </a:p>
              <a:p>
                <a:endParaRPr lang="en-US" dirty="0"/>
              </a:p>
              <a:p>
                <a:pPr marL="0" indent="0">
                  <a:buNone/>
                </a:pPr>
                <a:r>
                  <a:rPr lang="en-US" dirty="0"/>
                  <a:t>Similarly,</a:t>
                </a:r>
                <a:endParaRPr lang="en-NG" dirty="0"/>
              </a:p>
            </p:txBody>
          </p:sp>
        </mc:Choice>
        <mc:Fallback>
          <p:sp>
            <p:nvSpPr>
              <p:cNvPr id="3" name="Content Placeholder 2">
                <a:extLst>
                  <a:ext uri="{FF2B5EF4-FFF2-40B4-BE49-F238E27FC236}">
                    <a16:creationId xmlns:a16="http://schemas.microsoft.com/office/drawing/2014/main" id="{AE2FB91A-4CF0-42E5-824F-734F45CB801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NG">
                    <a:noFill/>
                  </a:rPr>
                  <a:t> </a:t>
                </a:r>
              </a:p>
            </p:txBody>
          </p:sp>
        </mc:Fallback>
      </mc:AlternateContent>
    </p:spTree>
    <p:extLst>
      <p:ext uri="{BB962C8B-B14F-4D97-AF65-F5344CB8AC3E}">
        <p14:creationId xmlns:p14="http://schemas.microsoft.com/office/powerpoint/2010/main" val="744956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80B71-122E-4A8D-B25E-720E82030833}"/>
              </a:ext>
            </a:extLst>
          </p:cNvPr>
          <p:cNvSpPr>
            <a:spLocks noGrp="1"/>
          </p:cNvSpPr>
          <p:nvPr>
            <p:ph type="title"/>
          </p:nvPr>
        </p:nvSpPr>
        <p:spPr/>
        <p:txBody>
          <a:bodyPr/>
          <a:lstStyle/>
          <a:p>
            <a:r>
              <a:rPr lang="en-US" dirty="0"/>
              <a:t>Relativistic velocity addition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629D0F-6659-48BE-A2E1-66F4C3DC4958}"/>
                  </a:ext>
                </a:extLst>
              </p:cNvPr>
              <p:cNvSpPr>
                <a:spLocks noGrp="1"/>
              </p:cNvSpPr>
              <p:nvPr>
                <p:ph idx="1"/>
              </p:nvPr>
            </p:nvSpPr>
            <p:spPr/>
            <p:txBody>
              <a:bodyPr/>
              <a:lstStyle/>
              <a:p>
                <a:pPr marL="0" indent="0">
                  <a:buNone/>
                </a:pPr>
                <a14:m>
                  <m:oMath xmlns:m="http://schemas.openxmlformats.org/officeDocument/2006/math">
                    <m:sSub>
                      <m:sSubPr>
                        <m:ctrlPr>
                          <a:rPr lang="en-NG"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𝑦</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𝑧</m:t>
                        </m:r>
                      </m:sub>
                    </m:sSub>
                    <m:r>
                      <a:rPr lang="en-US" b="0" i="1" smtClean="0">
                        <a:latin typeface="Cambria Math" panose="02040503050406030204" pitchFamily="18" charset="0"/>
                      </a:rPr>
                      <m:t>  </m:t>
                    </m:r>
                  </m:oMath>
                </a14:m>
                <a:r>
                  <a:rPr lang="en-US" dirty="0"/>
                  <a:t>are determined to be</a:t>
                </a:r>
              </a:p>
              <a:p>
                <a:endParaRPr lang="en-US" dirty="0"/>
              </a:p>
              <a:p>
                <a:pPr marL="0" indent="0">
                  <a:buNone/>
                </a:pPr>
                <a14:m>
                  <m:oMath xmlns:m="http://schemas.openxmlformats.org/officeDocument/2006/math">
                    <m:sSub>
                      <m:sSubPr>
                        <m:ctrlPr>
                          <a:rPr lang="en-NG"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𝑦</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m:t>
                            </m:r>
                          </m:sup>
                        </m:sSup>
                        <m:r>
                          <a:rPr lang="en-US" b="0" i="1" smtClean="0">
                            <a:latin typeface="Cambria Math" panose="02040503050406030204" pitchFamily="18" charset="0"/>
                          </a:rPr>
                          <m:t>𝑦</m:t>
                        </m:r>
                      </m:num>
                      <m:den>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[ 1+</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𝑣</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e>
                        </m: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𝑢</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den>
                    </m:f>
                  </m:oMath>
                </a14:m>
                <a:r>
                  <a:rPr lang="en-US" dirty="0"/>
                  <a:t>………………………………………………………(5)</a:t>
                </a:r>
              </a:p>
              <a:p>
                <a:endParaRPr lang="en-US" dirty="0"/>
              </a:p>
              <a:p>
                <a:pPr marL="0" indent="0">
                  <a:buNone/>
                </a:pPr>
                <a14:m>
                  <m:oMath xmlns:m="http://schemas.openxmlformats.org/officeDocument/2006/math">
                    <m:sSub>
                      <m:sSubPr>
                        <m:ctrlPr>
                          <a:rPr lang="en-NG"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𝑧</m:t>
                        </m:r>
                      </m:sub>
                    </m:sSub>
                    <m:r>
                      <a:rPr lang="en-US" b="0" i="1" smtClean="0">
                        <a:latin typeface="Cambria Math" panose="02040503050406030204" pitchFamily="18" charset="0"/>
                      </a:rPr>
                      <m:t>  =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m:t>
                            </m:r>
                          </m:sup>
                        </m:sSup>
                        <m:r>
                          <a:rPr lang="en-US" b="0" i="1" smtClean="0">
                            <a:latin typeface="Cambria Math" panose="02040503050406030204" pitchFamily="18" charset="0"/>
                          </a:rPr>
                          <m:t>𝑧</m:t>
                        </m:r>
                      </m:num>
                      <m:den>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[ 1+  </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𝑣</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e>
                        </m: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𝑢</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den>
                    </m:f>
                  </m:oMath>
                </a14:m>
                <a:r>
                  <a:rPr lang="en-US" dirty="0"/>
                  <a:t>……………………………………………………(6)</a:t>
                </a:r>
                <a:endParaRPr lang="en-NG" dirty="0"/>
              </a:p>
            </p:txBody>
          </p:sp>
        </mc:Choice>
        <mc:Fallback xmlns="">
          <p:sp>
            <p:nvSpPr>
              <p:cNvPr id="3" name="Content Placeholder 2">
                <a:extLst>
                  <a:ext uri="{FF2B5EF4-FFF2-40B4-BE49-F238E27FC236}">
                    <a16:creationId xmlns:a16="http://schemas.microsoft.com/office/drawing/2014/main" id="{4E629D0F-6659-48BE-A2E1-66F4C3DC4958}"/>
                  </a:ext>
                </a:extLst>
              </p:cNvPr>
              <p:cNvSpPr>
                <a:spLocks noGrp="1" noRot="1" noChangeAspect="1" noMove="1" noResize="1" noEditPoints="1" noAdjustHandles="1" noChangeArrowheads="1" noChangeShapeType="1" noTextEdit="1"/>
              </p:cNvSpPr>
              <p:nvPr>
                <p:ph idx="1"/>
              </p:nvPr>
            </p:nvSpPr>
            <p:spPr>
              <a:blipFill>
                <a:blip r:embed="rId2"/>
                <a:stretch>
                  <a:fillRect t="-1961"/>
                </a:stretch>
              </a:blipFill>
            </p:spPr>
            <p:txBody>
              <a:bodyPr/>
              <a:lstStyle/>
              <a:p>
                <a:r>
                  <a:rPr lang="en-NG">
                    <a:noFill/>
                  </a:rPr>
                  <a:t> </a:t>
                </a:r>
              </a:p>
            </p:txBody>
          </p:sp>
        </mc:Fallback>
      </mc:AlternateContent>
    </p:spTree>
    <p:extLst>
      <p:ext uri="{BB962C8B-B14F-4D97-AF65-F5344CB8AC3E}">
        <p14:creationId xmlns:p14="http://schemas.microsoft.com/office/powerpoint/2010/main" val="1574355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74226-E2DB-4A73-9BCB-0552A01CBB39}"/>
              </a:ext>
            </a:extLst>
          </p:cNvPr>
          <p:cNvSpPr>
            <a:spLocks noGrp="1"/>
          </p:cNvSpPr>
          <p:nvPr>
            <p:ph type="title"/>
          </p:nvPr>
        </p:nvSpPr>
        <p:spPr/>
        <p:txBody>
          <a:bodyPr/>
          <a:lstStyle/>
          <a:p>
            <a:r>
              <a:rPr lang="en-US" dirty="0"/>
              <a:t>Relativistic velocity addition</a:t>
            </a:r>
            <a:endParaRPr lang="en-NG" dirty="0"/>
          </a:p>
        </p:txBody>
      </p:sp>
      <p:sp>
        <p:nvSpPr>
          <p:cNvPr id="3" name="Content Placeholder 2">
            <a:extLst>
              <a:ext uri="{FF2B5EF4-FFF2-40B4-BE49-F238E27FC236}">
                <a16:creationId xmlns:a16="http://schemas.microsoft.com/office/drawing/2014/main" id="{544FD9E6-9E17-44AC-B366-3DB8AAB1FA93}"/>
              </a:ext>
            </a:extLst>
          </p:cNvPr>
          <p:cNvSpPr>
            <a:spLocks noGrp="1"/>
          </p:cNvSpPr>
          <p:nvPr>
            <p:ph idx="1"/>
          </p:nvPr>
        </p:nvSpPr>
        <p:spPr/>
        <p:txBody>
          <a:bodyPr/>
          <a:lstStyle/>
          <a:p>
            <a:pPr marL="0" indent="0">
              <a:buNone/>
            </a:pPr>
            <a:r>
              <a:rPr lang="en-US" dirty="0"/>
              <a:t>Equations 4 to 6 are referred to as the Lorentz  velocity transformation equations.</a:t>
            </a:r>
          </a:p>
          <a:p>
            <a:pPr marL="0" indent="0">
              <a:buNone/>
            </a:pPr>
            <a:r>
              <a:rPr lang="en-US" dirty="0"/>
              <a:t>We notice that although the relative motion of the systems K and K’ is only along the  x direction the velocities along the y and z directions</a:t>
            </a:r>
          </a:p>
          <a:p>
            <a:pPr marL="0" indent="0">
              <a:buNone/>
            </a:pPr>
            <a:r>
              <a:rPr lang="en-US" dirty="0"/>
              <a:t>are affected  as well. This contrasts with the Lorentz transformation equations, where y = y’ and z =z’</a:t>
            </a:r>
          </a:p>
          <a:p>
            <a:pPr marL="0" indent="0">
              <a:buNone/>
            </a:pPr>
            <a:endParaRPr lang="en-US" dirty="0"/>
          </a:p>
          <a:p>
            <a:pPr marL="0" indent="0">
              <a:buNone/>
            </a:pPr>
            <a:r>
              <a:rPr lang="en-US" dirty="0"/>
              <a:t>However , the difference in velocities is simply ascribed to the</a:t>
            </a:r>
            <a:endParaRPr lang="en-NG" dirty="0"/>
          </a:p>
        </p:txBody>
      </p:sp>
    </p:spTree>
    <p:extLst>
      <p:ext uri="{BB962C8B-B14F-4D97-AF65-F5344CB8AC3E}">
        <p14:creationId xmlns:p14="http://schemas.microsoft.com/office/powerpoint/2010/main" val="1577552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04C85-060C-43BF-B279-1281A73E2C64}"/>
              </a:ext>
            </a:extLst>
          </p:cNvPr>
          <p:cNvSpPr>
            <a:spLocks noGrp="1"/>
          </p:cNvSpPr>
          <p:nvPr>
            <p:ph type="title"/>
          </p:nvPr>
        </p:nvSpPr>
        <p:spPr/>
        <p:txBody>
          <a:bodyPr/>
          <a:lstStyle/>
          <a:p>
            <a:r>
              <a:rPr lang="en-US" dirty="0"/>
              <a:t>Relativistic velocity addition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162AD0-0D51-4743-AC0B-4ED53A5FF212}"/>
                  </a:ext>
                </a:extLst>
              </p:cNvPr>
              <p:cNvSpPr>
                <a:spLocks noGrp="1"/>
              </p:cNvSpPr>
              <p:nvPr>
                <p:ph idx="1"/>
              </p:nvPr>
            </p:nvSpPr>
            <p:spPr/>
            <p:txBody>
              <a:bodyPr/>
              <a:lstStyle/>
              <a:p>
                <a:pPr marL="0" indent="0">
                  <a:buNone/>
                </a:pPr>
                <a:r>
                  <a:rPr lang="en-US" dirty="0"/>
                  <a:t>Transformation of time, which depends on v and x’. Thus the transformations for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𝑦</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𝑧</m:t>
                        </m:r>
                      </m:sub>
                    </m:sSub>
                    <m:r>
                      <a:rPr lang="en-US" b="0" i="1" smtClean="0">
                        <a:latin typeface="Cambria Math" panose="02040503050406030204" pitchFamily="18" charset="0"/>
                      </a:rPr>
                      <m:t>  </m:t>
                    </m:r>
                    <m:r>
                      <a:rPr lang="en-US" b="0" i="1" smtClean="0">
                        <a:latin typeface="Cambria Math" panose="02040503050406030204" pitchFamily="18" charset="0"/>
                      </a:rPr>
                      <m:t>𝑑𝑒𝑝𝑒𝑛𝑑𝑠</m:t>
                    </m:r>
                    <m:r>
                      <a:rPr lang="en-US" b="0" i="1" smtClean="0">
                        <a:latin typeface="Cambria Math" panose="02040503050406030204" pitchFamily="18" charset="0"/>
                      </a:rPr>
                      <m:t> </m:t>
                    </m:r>
                    <m:r>
                      <a:rPr lang="en-US" b="0" i="1" smtClean="0">
                        <a:latin typeface="Cambria Math" panose="02040503050406030204" pitchFamily="18" charset="0"/>
                      </a:rPr>
                      <m:t>𝑜𝑛</m:t>
                    </m:r>
                    <m:r>
                      <a:rPr lang="en-US" b="0" i="1" smtClean="0">
                        <a:latin typeface="Cambria Math" panose="02040503050406030204" pitchFamily="18" charset="0"/>
                      </a:rPr>
                      <m:t> </m:t>
                    </m:r>
                    <m:r>
                      <a:rPr lang="en-US" b="0" i="1" smtClean="0">
                        <a:latin typeface="Cambria Math" panose="02040503050406030204" pitchFamily="18" charset="0"/>
                      </a:rPr>
                      <m:t>𝑣</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m:t>
                        </m:r>
                      </m:sup>
                    </m:sSup>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b="0" dirty="0"/>
              </a:p>
              <a:p>
                <a:pPr marL="0" indent="0">
                  <a:buNone/>
                </a:pPr>
                <a:r>
                  <a:rPr lang="en-US" dirty="0"/>
                  <a:t>The inverse transformations for </a:t>
                </a:r>
                <a:r>
                  <a:rPr lang="en-US" dirty="0" err="1"/>
                  <a:t>u’x</a:t>
                </a:r>
                <a:r>
                  <a:rPr lang="en-US" dirty="0"/>
                  <a:t> , </a:t>
                </a:r>
                <a:r>
                  <a:rPr lang="en-US" dirty="0" err="1"/>
                  <a:t>u’y</a:t>
                </a:r>
                <a:r>
                  <a:rPr lang="en-US" dirty="0"/>
                  <a:t> and </a:t>
                </a:r>
                <a:r>
                  <a:rPr lang="en-US" dirty="0" err="1"/>
                  <a:t>u’z</a:t>
                </a:r>
                <a:r>
                  <a:rPr lang="en-US" dirty="0"/>
                  <a:t> can be determined by simply switching  primed and unprimed variables and changing v to –v.</a:t>
                </a:r>
              </a:p>
              <a:p>
                <a:pPr marL="0" indent="0">
                  <a:buNone/>
                </a:pPr>
                <a:r>
                  <a:rPr lang="en-US" dirty="0"/>
                  <a:t>The results are</a:t>
                </a:r>
                <a:endParaRPr lang="en-NG" dirty="0"/>
              </a:p>
            </p:txBody>
          </p:sp>
        </mc:Choice>
        <mc:Fallback xmlns="">
          <p:sp>
            <p:nvSpPr>
              <p:cNvPr id="3" name="Content Placeholder 2">
                <a:extLst>
                  <a:ext uri="{FF2B5EF4-FFF2-40B4-BE49-F238E27FC236}">
                    <a16:creationId xmlns:a16="http://schemas.microsoft.com/office/drawing/2014/main" id="{7C162AD0-0D51-4743-AC0B-4ED53A5FF21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NG">
                    <a:noFill/>
                  </a:rPr>
                  <a:t> </a:t>
                </a:r>
              </a:p>
            </p:txBody>
          </p:sp>
        </mc:Fallback>
      </mc:AlternateContent>
    </p:spTree>
    <p:extLst>
      <p:ext uri="{BB962C8B-B14F-4D97-AF65-F5344CB8AC3E}">
        <p14:creationId xmlns:p14="http://schemas.microsoft.com/office/powerpoint/2010/main" val="3017665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702B1-6F24-442A-AEDC-056E70012B6D}"/>
              </a:ext>
            </a:extLst>
          </p:cNvPr>
          <p:cNvSpPr>
            <a:spLocks noGrp="1"/>
          </p:cNvSpPr>
          <p:nvPr>
            <p:ph type="title"/>
          </p:nvPr>
        </p:nvSpPr>
        <p:spPr>
          <a:xfrm>
            <a:off x="763772" y="375757"/>
            <a:ext cx="10515600" cy="1325563"/>
          </a:xfrm>
        </p:spPr>
        <p:txBody>
          <a:bodyPr/>
          <a:lstStyle/>
          <a:p>
            <a:r>
              <a:rPr lang="en-US" dirty="0"/>
              <a:t>Relativistic velocity addition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139A0B-5564-49D1-AF1D-9EC75755C12C}"/>
                  </a:ext>
                </a:extLst>
              </p:cNvPr>
              <p:cNvSpPr>
                <a:spLocks noGrp="1"/>
              </p:cNvSpPr>
              <p:nvPr>
                <p:ph idx="1"/>
              </p:nvPr>
            </p:nvSpPr>
            <p:spPr/>
            <p:txBody>
              <a:bodyPr/>
              <a:lstStyle/>
              <a:p>
                <a:pPr marL="0" indent="0">
                  <a:buNone/>
                </a:pPr>
                <a:r>
                  <a:rPr lang="en-US" dirty="0"/>
                  <a:t>        </a:t>
                </a:r>
                <a:r>
                  <a:rPr lang="en-US" dirty="0" err="1"/>
                  <a:t>u’x</a:t>
                </a:r>
                <a:r>
                  <a:rPr lang="en-US" dirty="0"/>
                  <a:t> =   </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𝑥</m:t>
                            </m:r>
                          </m:sub>
                        </m:sSub>
                        <m:r>
                          <a:rPr lang="en-US" b="0" i="1" smtClean="0">
                            <a:latin typeface="Cambria Math" panose="02040503050406030204" pitchFamily="18" charset="0"/>
                          </a:rPr>
                          <m:t> −</m:t>
                        </m:r>
                        <m:r>
                          <a:rPr lang="en-US" b="0" i="1" smtClean="0">
                            <a:latin typeface="Cambria Math" panose="02040503050406030204" pitchFamily="18" charset="0"/>
                          </a:rPr>
                          <m:t>𝑣</m:t>
                        </m:r>
                      </m:num>
                      <m:den>
                        <m:r>
                          <a:rPr lang="en-US" b="0" i="1" smtClean="0">
                            <a:latin typeface="Cambria Math" panose="02040503050406030204" pitchFamily="18" charset="0"/>
                          </a:rPr>
                          <m:t>1 −(</m:t>
                        </m:r>
                        <m:f>
                          <m:fPr>
                            <m:ctrlPr>
                              <a:rPr lang="en-US" b="0" i="1" smtClean="0">
                                <a:latin typeface="Cambria Math" panose="02040503050406030204" pitchFamily="18" charset="0"/>
                              </a:rPr>
                            </m:ctrlPr>
                          </m:fPr>
                          <m:num>
                            <m:r>
                              <a:rPr lang="en-US" b="0" i="1" smtClean="0">
                                <a:latin typeface="Cambria Math" panose="02040503050406030204" pitchFamily="18" charset="0"/>
                              </a:rPr>
                              <m:t>𝑣</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𝑥</m:t>
                            </m:r>
                          </m:sub>
                        </m:sSub>
                        <m:r>
                          <a:rPr lang="en-US" b="0" i="1" smtClean="0">
                            <a:latin typeface="Cambria Math" panose="02040503050406030204" pitchFamily="18" charset="0"/>
                          </a:rPr>
                          <m:t> </m:t>
                        </m:r>
                      </m:den>
                    </m:f>
                  </m:oMath>
                </a14:m>
                <a:endParaRPr lang="en-US" dirty="0"/>
              </a:p>
              <a:p>
                <a:pPr marL="0" indent="0">
                  <a:buNone/>
                </a:pPr>
                <a:r>
                  <a:rPr lang="en-US" dirty="0"/>
                  <a:t>        </a:t>
                </a:r>
                <a:r>
                  <a:rPr lang="en-US" dirty="0" err="1"/>
                  <a:t>u’y</a:t>
                </a:r>
                <a:r>
                  <a:rPr lang="en-US" dirty="0"/>
                  <a:t>  =  </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𝑦</m:t>
                            </m:r>
                          </m:sub>
                        </m:sSub>
                      </m:num>
                      <m:den>
                        <m:r>
                          <a:rPr lang="en-US"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[1 −</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𝑣</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𝑥</m:t>
                            </m:r>
                          </m:sub>
                        </m:sSub>
                        <m:r>
                          <a:rPr lang="en-US" b="0" i="1" smtClean="0">
                            <a:latin typeface="Cambria Math" panose="02040503050406030204" pitchFamily="18" charset="0"/>
                            <a:ea typeface="Cambria Math" panose="02040503050406030204" pitchFamily="18" charset="0"/>
                          </a:rPr>
                          <m:t>]</m:t>
                        </m:r>
                      </m:den>
                    </m:f>
                  </m:oMath>
                </a14:m>
                <a:endParaRPr lang="en-US" dirty="0"/>
              </a:p>
              <a:p>
                <a:pPr marL="0" indent="0">
                  <a:buNone/>
                </a:pPr>
                <a:endParaRPr lang="en-US" dirty="0"/>
              </a:p>
              <a:p>
                <a:pPr marL="0" indent="0">
                  <a:buNone/>
                </a:pPr>
                <a:r>
                  <a:rPr lang="en-US" dirty="0"/>
                  <a:t>        </a:t>
                </a:r>
                <a:r>
                  <a:rPr lang="en-US" dirty="0" err="1"/>
                  <a:t>u’z</a:t>
                </a:r>
                <a:r>
                  <a:rPr lang="en-US" dirty="0"/>
                  <a:t>  =   </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𝑧</m:t>
                            </m:r>
                          </m:sub>
                        </m:sSub>
                      </m:num>
                      <m:den>
                        <m:r>
                          <a:rPr lang="en-US"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[1 −</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𝑣</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𝑥</m:t>
                            </m:r>
                          </m:sub>
                        </m:sSub>
                        <m:r>
                          <a:rPr lang="en-US" b="0" i="1" smtClean="0">
                            <a:latin typeface="Cambria Math" panose="02040503050406030204" pitchFamily="18" charset="0"/>
                            <a:ea typeface="Cambria Math" panose="02040503050406030204" pitchFamily="18" charset="0"/>
                          </a:rPr>
                          <m:t>]</m:t>
                        </m:r>
                      </m:den>
                    </m:f>
                  </m:oMath>
                </a14:m>
                <a:endParaRPr lang="en-US" dirty="0"/>
              </a:p>
              <a:p>
                <a:pPr marL="0" indent="0">
                  <a:buNone/>
                </a:pPr>
                <a:r>
                  <a:rPr lang="en-US" dirty="0"/>
                  <a:t>Note that we found the velocity transformation equations for the situation corresponding to the inverse Lorentz </a:t>
                </a:r>
                <a:r>
                  <a:rPr lang="en-US" dirty="0" err="1"/>
                  <a:t>transformaton</a:t>
                </a:r>
                <a:endParaRPr lang="en-NG" dirty="0"/>
              </a:p>
            </p:txBody>
          </p:sp>
        </mc:Choice>
        <mc:Fallback xmlns="">
          <p:sp>
            <p:nvSpPr>
              <p:cNvPr id="3" name="Content Placeholder 2">
                <a:extLst>
                  <a:ext uri="{FF2B5EF4-FFF2-40B4-BE49-F238E27FC236}">
                    <a16:creationId xmlns:a16="http://schemas.microsoft.com/office/drawing/2014/main" id="{2E139A0B-5564-49D1-AF1D-9EC75755C12C}"/>
                  </a:ext>
                </a:extLst>
              </p:cNvPr>
              <p:cNvSpPr>
                <a:spLocks noGrp="1" noRot="1" noChangeAspect="1" noMove="1" noResize="1" noEditPoints="1" noAdjustHandles="1" noChangeArrowheads="1" noChangeShapeType="1" noTextEdit="1"/>
              </p:cNvSpPr>
              <p:nvPr>
                <p:ph idx="1"/>
              </p:nvPr>
            </p:nvSpPr>
            <p:spPr>
              <a:blipFill>
                <a:blip r:embed="rId2"/>
                <a:stretch>
                  <a:fillRect l="-1217" t="-1261"/>
                </a:stretch>
              </a:blipFill>
            </p:spPr>
            <p:txBody>
              <a:bodyPr/>
              <a:lstStyle/>
              <a:p>
                <a:r>
                  <a:rPr lang="en-NG">
                    <a:noFill/>
                  </a:rPr>
                  <a:t> </a:t>
                </a:r>
              </a:p>
            </p:txBody>
          </p:sp>
        </mc:Fallback>
      </mc:AlternateContent>
    </p:spTree>
    <p:extLst>
      <p:ext uri="{BB962C8B-B14F-4D97-AF65-F5344CB8AC3E}">
        <p14:creationId xmlns:p14="http://schemas.microsoft.com/office/powerpoint/2010/main" val="3602436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018A0-ADF9-4154-839A-E8F73A5EF59B}"/>
              </a:ext>
            </a:extLst>
          </p:cNvPr>
          <p:cNvSpPr>
            <a:spLocks noGrp="1"/>
          </p:cNvSpPr>
          <p:nvPr>
            <p:ph type="title"/>
          </p:nvPr>
        </p:nvSpPr>
        <p:spPr/>
        <p:txBody>
          <a:bodyPr/>
          <a:lstStyle/>
          <a:p>
            <a:r>
              <a:rPr lang="en-US" dirty="0"/>
              <a:t>Relativistic velocity addition</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B21BA8-B2DF-4502-9D1E-CC25A0DDDB19}"/>
                  </a:ext>
                </a:extLst>
              </p:cNvPr>
              <p:cNvSpPr>
                <a:spLocks noGrp="1"/>
              </p:cNvSpPr>
              <p:nvPr>
                <p:ph idx="1"/>
              </p:nvPr>
            </p:nvSpPr>
            <p:spPr/>
            <p:txBody>
              <a:bodyPr/>
              <a:lstStyle/>
              <a:p>
                <a:pPr marL="0" indent="0">
                  <a:buNone/>
                </a:pPr>
                <a:r>
                  <a:rPr lang="en-US" dirty="0"/>
                  <a:t>equation (2) before finding the velocity transformation for equation (1)</a:t>
                </a:r>
              </a:p>
              <a:p>
                <a:pPr marL="0" indent="0">
                  <a:buNone/>
                </a:pPr>
                <a:r>
                  <a:rPr lang="en-US" dirty="0"/>
                  <a:t>What is the correct result for the speed of the protons with respect to the space station? We have  </a:t>
                </a:r>
                <a:r>
                  <a:rPr lang="en-US" dirty="0" err="1"/>
                  <a:t>u’x</a:t>
                </a:r>
                <a:r>
                  <a:rPr lang="en-US" dirty="0"/>
                  <a:t> = 0.99c and v= 0.60c.</a:t>
                </a:r>
              </a:p>
              <a:p>
                <a:pPr marL="0" indent="0">
                  <a:buNone/>
                </a:pPr>
                <a:r>
                  <a:rPr lang="en-US" dirty="0"/>
                  <a:t>So equation 4 gives us the result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NG"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𝑥</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0.99</m:t>
                          </m:r>
                          <m:r>
                            <a:rPr lang="en-US" b="0" i="1" smtClean="0">
                              <a:latin typeface="Cambria Math" panose="02040503050406030204" pitchFamily="18" charset="0"/>
                            </a:rPr>
                            <m:t>𝑐</m:t>
                          </m:r>
                          <m:r>
                            <a:rPr lang="en-US" b="0" i="1" smtClean="0">
                              <a:latin typeface="Cambria Math" panose="02040503050406030204" pitchFamily="18" charset="0"/>
                            </a:rPr>
                            <m:t>+0.60</m:t>
                          </m:r>
                          <m:r>
                            <a:rPr lang="en-US" b="0" i="1" smtClean="0">
                              <a:latin typeface="Cambria Math" panose="02040503050406030204" pitchFamily="18" charset="0"/>
                            </a:rPr>
                            <m:t>𝑐</m:t>
                          </m:r>
                        </m:num>
                        <m:den>
                          <m:r>
                            <a:rPr lang="en-US" b="0" i="1" smtClean="0">
                              <a:latin typeface="Cambria Math" panose="02040503050406030204" pitchFamily="18" charset="0"/>
                            </a:rPr>
                            <m:t>1+ </m:t>
                          </m:r>
                          <m:f>
                            <m:fPr>
                              <m:ctrlPr>
                                <a:rPr lang="en-US" b="0" i="1" smtClean="0">
                                  <a:latin typeface="Cambria Math" panose="02040503050406030204" pitchFamily="18" charset="0"/>
                                </a:rPr>
                              </m:ctrlPr>
                            </m:fPr>
                            <m:num>
                              <m:r>
                                <a:rPr lang="en-US" b="0" i="1" smtClean="0">
                                  <a:latin typeface="Cambria Math" panose="02040503050406030204" pitchFamily="18" charset="0"/>
                                </a:rPr>
                                <m:t>(0.60</m:t>
                              </m:r>
                              <m:r>
                                <a:rPr lang="en-US" b="0" i="1" smtClean="0">
                                  <a:latin typeface="Cambria Math" panose="02040503050406030204" pitchFamily="18" charset="0"/>
                                </a:rPr>
                                <m:t>𝑐</m:t>
                              </m:r>
                              <m:r>
                                <a:rPr lang="en-US" b="0" i="1" smtClean="0">
                                  <a:latin typeface="Cambria Math" panose="02040503050406030204" pitchFamily="18" charset="0"/>
                                </a:rPr>
                                <m:t>)(0.99</m:t>
                              </m:r>
                              <m:r>
                                <a:rPr lang="en-US" b="0" i="1" smtClean="0">
                                  <a:latin typeface="Cambria Math" panose="02040503050406030204" pitchFamily="18" charset="0"/>
                                </a:rPr>
                                <m:t>𝑐</m:t>
                              </m:r>
                              <m:r>
                                <a:rPr lang="en-US" b="0" i="1" smtClean="0">
                                  <a:latin typeface="Cambria Math" panose="02040503050406030204" pitchFamily="18" charset="0"/>
                                </a:rPr>
                                <m:t>)</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den>
                      </m:f>
                    </m:oMath>
                  </m:oMathPara>
                </a14:m>
                <a:endParaRPr lang="en-US" b="0" dirty="0"/>
              </a:p>
              <a:p>
                <a:pPr marL="0" indent="0">
                  <a:buNone/>
                </a:pPr>
                <a:r>
                  <a:rPr lang="en-US" dirty="0"/>
                  <a:t> = 0.007c</a:t>
                </a:r>
                <a:endParaRPr lang="en-NG" dirty="0"/>
              </a:p>
            </p:txBody>
          </p:sp>
        </mc:Choice>
        <mc:Fallback xmlns="">
          <p:sp>
            <p:nvSpPr>
              <p:cNvPr id="3" name="Content Placeholder 2">
                <a:extLst>
                  <a:ext uri="{FF2B5EF4-FFF2-40B4-BE49-F238E27FC236}">
                    <a16:creationId xmlns:a16="http://schemas.microsoft.com/office/drawing/2014/main" id="{80B21BA8-B2DF-4502-9D1E-CC25A0DDDB19}"/>
                  </a:ext>
                </a:extLst>
              </p:cNvPr>
              <p:cNvSpPr>
                <a:spLocks noGrp="1" noRot="1" noChangeAspect="1" noMove="1" noResize="1" noEditPoints="1" noAdjustHandles="1" noChangeArrowheads="1" noChangeShapeType="1" noTextEdit="1"/>
              </p:cNvSpPr>
              <p:nvPr>
                <p:ph idx="1"/>
              </p:nvPr>
            </p:nvSpPr>
            <p:spPr>
              <a:blipFill>
                <a:blip r:embed="rId2"/>
                <a:stretch>
                  <a:fillRect l="-1217" t="-2241" r="-116"/>
                </a:stretch>
              </a:blipFill>
            </p:spPr>
            <p:txBody>
              <a:bodyPr/>
              <a:lstStyle/>
              <a:p>
                <a:r>
                  <a:rPr lang="en-NG">
                    <a:noFill/>
                  </a:rPr>
                  <a:t> </a:t>
                </a:r>
              </a:p>
            </p:txBody>
          </p:sp>
        </mc:Fallback>
      </mc:AlternateContent>
    </p:spTree>
    <p:extLst>
      <p:ext uri="{BB962C8B-B14F-4D97-AF65-F5344CB8AC3E}">
        <p14:creationId xmlns:p14="http://schemas.microsoft.com/office/powerpoint/2010/main" val="2747237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58EFF-6B6A-4DA9-8D29-A7EEF0A418E7}"/>
              </a:ext>
            </a:extLst>
          </p:cNvPr>
          <p:cNvSpPr>
            <a:spLocks noGrp="1"/>
          </p:cNvSpPr>
          <p:nvPr>
            <p:ph type="title"/>
          </p:nvPr>
        </p:nvSpPr>
        <p:spPr/>
        <p:txBody>
          <a:bodyPr/>
          <a:lstStyle/>
          <a:p>
            <a:r>
              <a:rPr lang="en-US" dirty="0"/>
              <a:t>Relativistic velocity addition</a:t>
            </a:r>
            <a:endParaRPr lang="en-NG" dirty="0"/>
          </a:p>
        </p:txBody>
      </p:sp>
      <p:sp>
        <p:nvSpPr>
          <p:cNvPr id="3" name="Content Placeholder 2">
            <a:extLst>
              <a:ext uri="{FF2B5EF4-FFF2-40B4-BE49-F238E27FC236}">
                <a16:creationId xmlns:a16="http://schemas.microsoft.com/office/drawing/2014/main" id="{A94CC297-5C5A-4E24-A0A5-F980928B802B}"/>
              </a:ext>
            </a:extLst>
          </p:cNvPr>
          <p:cNvSpPr>
            <a:spLocks noGrp="1"/>
          </p:cNvSpPr>
          <p:nvPr>
            <p:ph idx="1"/>
          </p:nvPr>
        </p:nvSpPr>
        <p:spPr/>
        <p:txBody>
          <a:bodyPr/>
          <a:lstStyle/>
          <a:p>
            <a:pPr marL="0" indent="0">
              <a:buNone/>
            </a:pPr>
            <a:r>
              <a:rPr lang="en-US" dirty="0"/>
              <a:t>Where we have assumed we  know the speed to 3 significant figures</a:t>
            </a:r>
          </a:p>
          <a:p>
            <a:pPr marL="0" indent="0">
              <a:buNone/>
            </a:pPr>
            <a:r>
              <a:rPr lang="en-US" dirty="0"/>
              <a:t>The result is a speed only slightly less than c. The Lorentz transformation does not allow a material object to have speed  greater than c. Only massless particles such as light can have speed c.</a:t>
            </a:r>
          </a:p>
          <a:p>
            <a:pPr marL="0" indent="0">
              <a:buNone/>
            </a:pPr>
            <a:r>
              <a:rPr lang="en-US" dirty="0"/>
              <a:t> If the crew members of the space ship spot the asteroids far enough in advance, their reaction times should allow them to shoot down the uncharacteristically swiftly moving asteroids and save both the space ship and the space station.</a:t>
            </a:r>
          </a:p>
          <a:p>
            <a:pPr marL="0" indent="0">
              <a:buNone/>
            </a:pPr>
            <a:r>
              <a:rPr lang="en-US" dirty="0"/>
              <a:t>  </a:t>
            </a:r>
            <a:endParaRPr lang="en-NG" dirty="0"/>
          </a:p>
        </p:txBody>
      </p:sp>
    </p:spTree>
    <p:extLst>
      <p:ext uri="{BB962C8B-B14F-4D97-AF65-F5344CB8AC3E}">
        <p14:creationId xmlns:p14="http://schemas.microsoft.com/office/powerpoint/2010/main" val="2388183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F6439-2B8E-4E81-8E4B-C05C493CE76E}"/>
              </a:ext>
            </a:extLst>
          </p:cNvPr>
          <p:cNvSpPr>
            <a:spLocks noGrp="1"/>
          </p:cNvSpPr>
          <p:nvPr>
            <p:ph type="title"/>
          </p:nvPr>
        </p:nvSpPr>
        <p:spPr/>
        <p:txBody>
          <a:bodyPr/>
          <a:lstStyle/>
          <a:p>
            <a:r>
              <a:rPr lang="en-US" dirty="0"/>
              <a:t>Review Questions</a:t>
            </a:r>
            <a:endParaRPr lang="en-NG" dirty="0"/>
          </a:p>
        </p:txBody>
      </p:sp>
      <p:sp>
        <p:nvSpPr>
          <p:cNvPr id="3" name="Content Placeholder 2">
            <a:extLst>
              <a:ext uri="{FF2B5EF4-FFF2-40B4-BE49-F238E27FC236}">
                <a16:creationId xmlns:a16="http://schemas.microsoft.com/office/drawing/2014/main" id="{32BC5AA2-0AB9-4BCA-B5DA-8EF70B71204D}"/>
              </a:ext>
            </a:extLst>
          </p:cNvPr>
          <p:cNvSpPr>
            <a:spLocks noGrp="1"/>
          </p:cNvSpPr>
          <p:nvPr>
            <p:ph idx="1"/>
          </p:nvPr>
        </p:nvSpPr>
        <p:spPr/>
        <p:txBody>
          <a:bodyPr/>
          <a:lstStyle/>
          <a:p>
            <a:pPr marL="0" indent="0">
              <a:buNone/>
            </a:pPr>
            <a:r>
              <a:rPr lang="en-US" dirty="0"/>
              <a:t>Write down the Lorentz transformation and it’s inverse</a:t>
            </a:r>
          </a:p>
          <a:p>
            <a:r>
              <a:rPr lang="en-US" dirty="0"/>
              <a:t>When does the Lorentz transformation reduce to the Galilean transformation?</a:t>
            </a:r>
          </a:p>
          <a:p>
            <a:r>
              <a:rPr lang="en-US" dirty="0"/>
              <a:t>Protons from a space ship are ejected with a velocity of 0.9c relative to the space ship. The velocity of the space ship relative to the space station is 0.5c. What is the velocity observed for the protons by somebody in the space station?</a:t>
            </a:r>
            <a:endParaRPr lang="en-NG" dirty="0"/>
          </a:p>
        </p:txBody>
      </p:sp>
    </p:spTree>
    <p:extLst>
      <p:ext uri="{BB962C8B-B14F-4D97-AF65-F5344CB8AC3E}">
        <p14:creationId xmlns:p14="http://schemas.microsoft.com/office/powerpoint/2010/main" val="1125375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555</TotalTime>
  <Words>1032</Words>
  <Application>Microsoft Office PowerPoint</Application>
  <PresentationFormat>Widescreen</PresentationFormat>
  <Paragraphs>97</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等线 Light</vt:lpstr>
      <vt:lpstr>Arial</vt:lpstr>
      <vt:lpstr>Calibri</vt:lpstr>
      <vt:lpstr>Calibri Light</vt:lpstr>
      <vt:lpstr>Cambria Math</vt:lpstr>
      <vt:lpstr>Times New Roman</vt:lpstr>
      <vt:lpstr>Office Theme</vt:lpstr>
      <vt:lpstr>PHY 211: ELEMENTARY MODERN PHYSICS 3units  (Relativistic Velocity addition) </vt:lpstr>
      <vt:lpstr>OBJECTIVES</vt:lpstr>
      <vt:lpstr>Relativistic Velocity Addition</vt:lpstr>
      <vt:lpstr>Velocity addition</vt:lpstr>
      <vt:lpstr>Relativistic velocity addition</vt:lpstr>
      <vt:lpstr>Velocity addition</vt:lpstr>
      <vt:lpstr>Velocity Addition</vt:lpstr>
      <vt:lpstr>Velocity Addition</vt:lpstr>
      <vt:lpstr>Velocity addition</vt:lpstr>
      <vt:lpstr>Relativistic velocity addition</vt:lpstr>
      <vt:lpstr>Relativistic velocity addition</vt:lpstr>
      <vt:lpstr>Relativistic velocity addition</vt:lpstr>
      <vt:lpstr>Relativistic velocity addition</vt:lpstr>
      <vt:lpstr>Relativistic velocity addition</vt:lpstr>
      <vt:lpstr>Relativistic velocity addition</vt:lpstr>
      <vt:lpstr>Relativistic velocity addition</vt:lpstr>
      <vt:lpstr>Relativistic velocity addition</vt:lpstr>
      <vt:lpstr>Relativistic velocity addition</vt:lpstr>
      <vt:lpstr>Review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OKAFOR PC</dc:creator>
  <cp:lastModifiedBy>DR OKAFOR PC</cp:lastModifiedBy>
  <cp:revision>34</cp:revision>
  <dcterms:created xsi:type="dcterms:W3CDTF">2025-10-11T13:16:34Z</dcterms:created>
  <dcterms:modified xsi:type="dcterms:W3CDTF">2025-10-13T10:43:58Z</dcterms:modified>
</cp:coreProperties>
</file>