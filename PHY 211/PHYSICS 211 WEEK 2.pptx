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305" r:id="rId2"/>
    <p:sldId id="306" r:id="rId3"/>
    <p:sldId id="307" r:id="rId4"/>
    <p:sldId id="308" r:id="rId5"/>
    <p:sldId id="309" r:id="rId6"/>
    <p:sldId id="310" r:id="rId7"/>
    <p:sldId id="311" r:id="rId8"/>
    <p:sldId id="312" r:id="rId9"/>
    <p:sldId id="313" r:id="rId10"/>
    <p:sldId id="314" r:id="rId11"/>
    <p:sldId id="315" r:id="rId12"/>
    <p:sldId id="316" r:id="rId13"/>
    <p:sldId id="317" r:id="rId14"/>
    <p:sldId id="318" r:id="rId15"/>
    <p:sldId id="319" r:id="rId16"/>
    <p:sldId id="320" r:id="rId17"/>
    <p:sldId id="321" r:id="rId18"/>
  </p:sldIdLst>
  <p:sldSz cx="12192000" cy="6858000"/>
  <p:notesSz cx="6858000" cy="9144000"/>
  <p:defaultTextStyle>
    <a:defPPr>
      <a:defRPr lang="en-N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0" d="100"/>
          <a:sy n="90" d="100"/>
        </p:scale>
        <p:origin x="57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99C992-F888-45F9-A7D3-F88995A5E995}" type="datetimeFigureOut">
              <a:rPr lang="en-NG" smtClean="0"/>
              <a:t>05/10/2025</a:t>
            </a:fld>
            <a:endParaRPr lang="en-N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6CA684-421F-40EF-A877-1EC83C02286B}" type="slidenum">
              <a:rPr lang="en-NG" smtClean="0"/>
              <a:t>‹#›</a:t>
            </a:fld>
            <a:endParaRPr lang="en-NG"/>
          </a:p>
        </p:txBody>
      </p:sp>
    </p:spTree>
    <p:extLst>
      <p:ext uri="{BB962C8B-B14F-4D97-AF65-F5344CB8AC3E}">
        <p14:creationId xmlns:p14="http://schemas.microsoft.com/office/powerpoint/2010/main" val="16685598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p>
        </p:txBody>
      </p:sp>
      <p:sp>
        <p:nvSpPr>
          <p:cNvPr id="266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2415A1AC-E190-4071-8D5A-C2B1D2CDEEF3}" type="slidenum">
              <a:rPr lang="en-US" smtClean="0"/>
              <a:pPr eaLnBrk="1" hangingPunct="1"/>
              <a:t>1</a:t>
            </a:fld>
            <a:endParaRPr lang="en-US"/>
          </a:p>
        </p:txBody>
      </p:sp>
    </p:spTree>
    <p:extLst>
      <p:ext uri="{BB962C8B-B14F-4D97-AF65-F5344CB8AC3E}">
        <p14:creationId xmlns:p14="http://schemas.microsoft.com/office/powerpoint/2010/main" val="19518160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4C26E-57AA-446F-8F01-3E749522B2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G"/>
          </a:p>
        </p:txBody>
      </p:sp>
      <p:sp>
        <p:nvSpPr>
          <p:cNvPr id="3" name="Subtitle 2">
            <a:extLst>
              <a:ext uri="{FF2B5EF4-FFF2-40B4-BE49-F238E27FC236}">
                <a16:creationId xmlns:a16="http://schemas.microsoft.com/office/drawing/2014/main" id="{8A7E1135-E61E-42B9-B095-8DACF63A3E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G"/>
          </a:p>
        </p:txBody>
      </p:sp>
      <p:sp>
        <p:nvSpPr>
          <p:cNvPr id="4" name="Date Placeholder 3">
            <a:extLst>
              <a:ext uri="{FF2B5EF4-FFF2-40B4-BE49-F238E27FC236}">
                <a16:creationId xmlns:a16="http://schemas.microsoft.com/office/drawing/2014/main" id="{C87F767D-A3C1-4BBE-BD07-748D6A24534D}"/>
              </a:ext>
            </a:extLst>
          </p:cNvPr>
          <p:cNvSpPr>
            <a:spLocks noGrp="1"/>
          </p:cNvSpPr>
          <p:nvPr>
            <p:ph type="dt" sz="half" idx="10"/>
          </p:nvPr>
        </p:nvSpPr>
        <p:spPr/>
        <p:txBody>
          <a:bodyPr/>
          <a:lstStyle/>
          <a:p>
            <a:fld id="{8B33722E-0180-4864-AC53-0AF36BE6FA2E}" type="datetimeFigureOut">
              <a:rPr lang="en-NG" smtClean="0"/>
              <a:t>05/10/2025</a:t>
            </a:fld>
            <a:endParaRPr lang="en-NG"/>
          </a:p>
        </p:txBody>
      </p:sp>
      <p:sp>
        <p:nvSpPr>
          <p:cNvPr id="5" name="Footer Placeholder 4">
            <a:extLst>
              <a:ext uri="{FF2B5EF4-FFF2-40B4-BE49-F238E27FC236}">
                <a16:creationId xmlns:a16="http://schemas.microsoft.com/office/drawing/2014/main" id="{FBAC943D-416C-480B-A30A-6FAD1742C893}"/>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C8070C24-9FD2-4BE4-B587-A57A2FE7650F}"/>
              </a:ext>
            </a:extLst>
          </p:cNvPr>
          <p:cNvSpPr>
            <a:spLocks noGrp="1"/>
          </p:cNvSpPr>
          <p:nvPr>
            <p:ph type="sldNum" sz="quarter" idx="12"/>
          </p:nvPr>
        </p:nvSpPr>
        <p:spPr/>
        <p:txBody>
          <a:bodyPr/>
          <a:lstStyle/>
          <a:p>
            <a:fld id="{0E1F5336-19D9-476D-A113-8F6F8BC1702A}" type="slidenum">
              <a:rPr lang="en-NG" smtClean="0"/>
              <a:t>‹#›</a:t>
            </a:fld>
            <a:endParaRPr lang="en-NG"/>
          </a:p>
        </p:txBody>
      </p:sp>
    </p:spTree>
    <p:extLst>
      <p:ext uri="{BB962C8B-B14F-4D97-AF65-F5344CB8AC3E}">
        <p14:creationId xmlns:p14="http://schemas.microsoft.com/office/powerpoint/2010/main" val="719167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00B2CB-01D9-48DB-85D5-EDAE3C71B815}"/>
              </a:ext>
            </a:extLst>
          </p:cNvPr>
          <p:cNvSpPr>
            <a:spLocks noGrp="1"/>
          </p:cNvSpPr>
          <p:nvPr>
            <p:ph type="title"/>
          </p:nvPr>
        </p:nvSpPr>
        <p:spPr/>
        <p:txBody>
          <a:bodyPr/>
          <a:lstStyle/>
          <a:p>
            <a:r>
              <a:rPr lang="en-US"/>
              <a:t>Click to edit Master title style</a:t>
            </a:r>
            <a:endParaRPr lang="en-NG"/>
          </a:p>
        </p:txBody>
      </p:sp>
      <p:sp>
        <p:nvSpPr>
          <p:cNvPr id="3" name="Content Placeholder 2">
            <a:extLst>
              <a:ext uri="{FF2B5EF4-FFF2-40B4-BE49-F238E27FC236}">
                <a16:creationId xmlns:a16="http://schemas.microsoft.com/office/drawing/2014/main" id="{76D96CC8-3883-4CA3-B9BE-8538F2AF499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EB9F897D-6065-417D-9349-AFDB05F193CF}"/>
              </a:ext>
            </a:extLst>
          </p:cNvPr>
          <p:cNvSpPr>
            <a:spLocks noGrp="1"/>
          </p:cNvSpPr>
          <p:nvPr>
            <p:ph type="dt" sz="half" idx="10"/>
          </p:nvPr>
        </p:nvSpPr>
        <p:spPr/>
        <p:txBody>
          <a:bodyPr/>
          <a:lstStyle/>
          <a:p>
            <a:fld id="{8B33722E-0180-4864-AC53-0AF36BE6FA2E}" type="datetimeFigureOut">
              <a:rPr lang="en-NG" smtClean="0"/>
              <a:t>05/10/2025</a:t>
            </a:fld>
            <a:endParaRPr lang="en-NG"/>
          </a:p>
        </p:txBody>
      </p:sp>
      <p:sp>
        <p:nvSpPr>
          <p:cNvPr id="5" name="Footer Placeholder 4">
            <a:extLst>
              <a:ext uri="{FF2B5EF4-FFF2-40B4-BE49-F238E27FC236}">
                <a16:creationId xmlns:a16="http://schemas.microsoft.com/office/drawing/2014/main" id="{C5A8BE69-F0E3-4A11-8406-4ED5BAADFE5B}"/>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8BB3289A-84B9-4F93-B9E8-29DAB0198E49}"/>
              </a:ext>
            </a:extLst>
          </p:cNvPr>
          <p:cNvSpPr>
            <a:spLocks noGrp="1"/>
          </p:cNvSpPr>
          <p:nvPr>
            <p:ph type="sldNum" sz="quarter" idx="12"/>
          </p:nvPr>
        </p:nvSpPr>
        <p:spPr/>
        <p:txBody>
          <a:bodyPr/>
          <a:lstStyle/>
          <a:p>
            <a:fld id="{0E1F5336-19D9-476D-A113-8F6F8BC1702A}" type="slidenum">
              <a:rPr lang="en-NG" smtClean="0"/>
              <a:t>‹#›</a:t>
            </a:fld>
            <a:endParaRPr lang="en-NG"/>
          </a:p>
        </p:txBody>
      </p:sp>
    </p:spTree>
    <p:extLst>
      <p:ext uri="{BB962C8B-B14F-4D97-AF65-F5344CB8AC3E}">
        <p14:creationId xmlns:p14="http://schemas.microsoft.com/office/powerpoint/2010/main" val="38175714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A716A-E04D-4F4A-BFB2-B03BE8467D9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G"/>
          </a:p>
        </p:txBody>
      </p:sp>
      <p:sp>
        <p:nvSpPr>
          <p:cNvPr id="3" name="Text Placeholder 2">
            <a:extLst>
              <a:ext uri="{FF2B5EF4-FFF2-40B4-BE49-F238E27FC236}">
                <a16:creationId xmlns:a16="http://schemas.microsoft.com/office/drawing/2014/main" id="{714048A1-E1CD-4441-8C04-7027A32B471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AF8F4326-D2BF-4A0D-B1C7-961C1F4F2992}"/>
              </a:ext>
            </a:extLst>
          </p:cNvPr>
          <p:cNvSpPr>
            <a:spLocks noGrp="1"/>
          </p:cNvSpPr>
          <p:nvPr>
            <p:ph type="dt" sz="half" idx="10"/>
          </p:nvPr>
        </p:nvSpPr>
        <p:spPr/>
        <p:txBody>
          <a:bodyPr/>
          <a:lstStyle/>
          <a:p>
            <a:fld id="{8B33722E-0180-4864-AC53-0AF36BE6FA2E}" type="datetimeFigureOut">
              <a:rPr lang="en-NG" smtClean="0"/>
              <a:t>05/10/2025</a:t>
            </a:fld>
            <a:endParaRPr lang="en-NG"/>
          </a:p>
        </p:txBody>
      </p:sp>
      <p:sp>
        <p:nvSpPr>
          <p:cNvPr id="5" name="Footer Placeholder 4">
            <a:extLst>
              <a:ext uri="{FF2B5EF4-FFF2-40B4-BE49-F238E27FC236}">
                <a16:creationId xmlns:a16="http://schemas.microsoft.com/office/drawing/2014/main" id="{815955E6-E650-4C3D-A184-91DE94E6597C}"/>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4D02ED97-F23D-46C7-8199-878BC7D0E16B}"/>
              </a:ext>
            </a:extLst>
          </p:cNvPr>
          <p:cNvSpPr>
            <a:spLocks noGrp="1"/>
          </p:cNvSpPr>
          <p:nvPr>
            <p:ph type="sldNum" sz="quarter" idx="12"/>
          </p:nvPr>
        </p:nvSpPr>
        <p:spPr/>
        <p:txBody>
          <a:bodyPr/>
          <a:lstStyle/>
          <a:p>
            <a:fld id="{0E1F5336-19D9-476D-A113-8F6F8BC1702A}" type="slidenum">
              <a:rPr lang="en-NG" smtClean="0"/>
              <a:t>‹#›</a:t>
            </a:fld>
            <a:endParaRPr lang="en-NG"/>
          </a:p>
        </p:txBody>
      </p:sp>
    </p:spTree>
    <p:extLst>
      <p:ext uri="{BB962C8B-B14F-4D97-AF65-F5344CB8AC3E}">
        <p14:creationId xmlns:p14="http://schemas.microsoft.com/office/powerpoint/2010/main" val="26256646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F8DA4-9D5E-48A0-BC1C-6AD9F21992EB}"/>
              </a:ext>
            </a:extLst>
          </p:cNvPr>
          <p:cNvSpPr>
            <a:spLocks noGrp="1"/>
          </p:cNvSpPr>
          <p:nvPr>
            <p:ph type="title"/>
          </p:nvPr>
        </p:nvSpPr>
        <p:spPr/>
        <p:txBody>
          <a:bodyPr/>
          <a:lstStyle/>
          <a:p>
            <a:r>
              <a:rPr lang="en-US"/>
              <a:t>Click to edit Master title style</a:t>
            </a:r>
            <a:endParaRPr lang="en-NG"/>
          </a:p>
        </p:txBody>
      </p:sp>
      <p:sp>
        <p:nvSpPr>
          <p:cNvPr id="3" name="Content Placeholder 2">
            <a:extLst>
              <a:ext uri="{FF2B5EF4-FFF2-40B4-BE49-F238E27FC236}">
                <a16:creationId xmlns:a16="http://schemas.microsoft.com/office/drawing/2014/main" id="{9893F4B5-5EC9-4219-9189-94E38414AF4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Content Placeholder 3">
            <a:extLst>
              <a:ext uri="{FF2B5EF4-FFF2-40B4-BE49-F238E27FC236}">
                <a16:creationId xmlns:a16="http://schemas.microsoft.com/office/drawing/2014/main" id="{B6D30ED6-72F0-4BFD-8E2B-8CCBB8AD774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5" name="Date Placeholder 4">
            <a:extLst>
              <a:ext uri="{FF2B5EF4-FFF2-40B4-BE49-F238E27FC236}">
                <a16:creationId xmlns:a16="http://schemas.microsoft.com/office/drawing/2014/main" id="{916A391E-B707-446A-821F-9BC7B29E0B81}"/>
              </a:ext>
            </a:extLst>
          </p:cNvPr>
          <p:cNvSpPr>
            <a:spLocks noGrp="1"/>
          </p:cNvSpPr>
          <p:nvPr>
            <p:ph type="dt" sz="half" idx="10"/>
          </p:nvPr>
        </p:nvSpPr>
        <p:spPr/>
        <p:txBody>
          <a:bodyPr/>
          <a:lstStyle/>
          <a:p>
            <a:fld id="{8B33722E-0180-4864-AC53-0AF36BE6FA2E}" type="datetimeFigureOut">
              <a:rPr lang="en-NG" smtClean="0"/>
              <a:t>05/10/2025</a:t>
            </a:fld>
            <a:endParaRPr lang="en-NG"/>
          </a:p>
        </p:txBody>
      </p:sp>
      <p:sp>
        <p:nvSpPr>
          <p:cNvPr id="6" name="Footer Placeholder 5">
            <a:extLst>
              <a:ext uri="{FF2B5EF4-FFF2-40B4-BE49-F238E27FC236}">
                <a16:creationId xmlns:a16="http://schemas.microsoft.com/office/drawing/2014/main" id="{253E862D-BD08-4A68-A68E-3B47C0C14EAC}"/>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A21ED707-986F-43B6-B06C-DC2F5D3ECAFD}"/>
              </a:ext>
            </a:extLst>
          </p:cNvPr>
          <p:cNvSpPr>
            <a:spLocks noGrp="1"/>
          </p:cNvSpPr>
          <p:nvPr>
            <p:ph type="sldNum" sz="quarter" idx="12"/>
          </p:nvPr>
        </p:nvSpPr>
        <p:spPr/>
        <p:txBody>
          <a:bodyPr/>
          <a:lstStyle/>
          <a:p>
            <a:fld id="{0E1F5336-19D9-476D-A113-8F6F8BC1702A}" type="slidenum">
              <a:rPr lang="en-NG" smtClean="0"/>
              <a:t>‹#›</a:t>
            </a:fld>
            <a:endParaRPr lang="en-NG"/>
          </a:p>
        </p:txBody>
      </p:sp>
    </p:spTree>
    <p:extLst>
      <p:ext uri="{BB962C8B-B14F-4D97-AF65-F5344CB8AC3E}">
        <p14:creationId xmlns:p14="http://schemas.microsoft.com/office/powerpoint/2010/main" val="10184639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FE058-3AB9-4A14-A8CC-E65197A5AF96}"/>
              </a:ext>
            </a:extLst>
          </p:cNvPr>
          <p:cNvSpPr>
            <a:spLocks noGrp="1"/>
          </p:cNvSpPr>
          <p:nvPr>
            <p:ph type="title"/>
          </p:nvPr>
        </p:nvSpPr>
        <p:spPr>
          <a:xfrm>
            <a:off x="839788" y="365125"/>
            <a:ext cx="10515600" cy="1325563"/>
          </a:xfrm>
        </p:spPr>
        <p:txBody>
          <a:bodyPr/>
          <a:lstStyle/>
          <a:p>
            <a:r>
              <a:rPr lang="en-US"/>
              <a:t>Click to edit Master title style</a:t>
            </a:r>
            <a:endParaRPr lang="en-NG"/>
          </a:p>
        </p:txBody>
      </p:sp>
      <p:sp>
        <p:nvSpPr>
          <p:cNvPr id="3" name="Text Placeholder 2">
            <a:extLst>
              <a:ext uri="{FF2B5EF4-FFF2-40B4-BE49-F238E27FC236}">
                <a16:creationId xmlns:a16="http://schemas.microsoft.com/office/drawing/2014/main" id="{9474FCD6-919A-4CE2-9D16-145F0ED1ED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E95204FB-300D-4C22-86DA-B0A277886C15}"/>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5" name="Text Placeholder 4">
            <a:extLst>
              <a:ext uri="{FF2B5EF4-FFF2-40B4-BE49-F238E27FC236}">
                <a16:creationId xmlns:a16="http://schemas.microsoft.com/office/drawing/2014/main" id="{C674089A-384E-49F8-837D-27776890EC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37F29E4-7B16-4785-9302-9289A83B2EB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7" name="Date Placeholder 6">
            <a:extLst>
              <a:ext uri="{FF2B5EF4-FFF2-40B4-BE49-F238E27FC236}">
                <a16:creationId xmlns:a16="http://schemas.microsoft.com/office/drawing/2014/main" id="{E4928B2A-32A0-4BA7-AE03-8FE53CDC0499}"/>
              </a:ext>
            </a:extLst>
          </p:cNvPr>
          <p:cNvSpPr>
            <a:spLocks noGrp="1"/>
          </p:cNvSpPr>
          <p:nvPr>
            <p:ph type="dt" sz="half" idx="10"/>
          </p:nvPr>
        </p:nvSpPr>
        <p:spPr/>
        <p:txBody>
          <a:bodyPr/>
          <a:lstStyle/>
          <a:p>
            <a:fld id="{8B33722E-0180-4864-AC53-0AF36BE6FA2E}" type="datetimeFigureOut">
              <a:rPr lang="en-NG" smtClean="0"/>
              <a:t>05/10/2025</a:t>
            </a:fld>
            <a:endParaRPr lang="en-NG"/>
          </a:p>
        </p:txBody>
      </p:sp>
      <p:sp>
        <p:nvSpPr>
          <p:cNvPr id="8" name="Footer Placeholder 7">
            <a:extLst>
              <a:ext uri="{FF2B5EF4-FFF2-40B4-BE49-F238E27FC236}">
                <a16:creationId xmlns:a16="http://schemas.microsoft.com/office/drawing/2014/main" id="{BE5AFD55-BACD-427B-9DF4-C0462CE2B92C}"/>
              </a:ext>
            </a:extLst>
          </p:cNvPr>
          <p:cNvSpPr>
            <a:spLocks noGrp="1"/>
          </p:cNvSpPr>
          <p:nvPr>
            <p:ph type="ftr" sz="quarter" idx="11"/>
          </p:nvPr>
        </p:nvSpPr>
        <p:spPr/>
        <p:txBody>
          <a:bodyPr/>
          <a:lstStyle/>
          <a:p>
            <a:endParaRPr lang="en-NG"/>
          </a:p>
        </p:txBody>
      </p:sp>
      <p:sp>
        <p:nvSpPr>
          <p:cNvPr id="9" name="Slide Number Placeholder 8">
            <a:extLst>
              <a:ext uri="{FF2B5EF4-FFF2-40B4-BE49-F238E27FC236}">
                <a16:creationId xmlns:a16="http://schemas.microsoft.com/office/drawing/2014/main" id="{98434A33-D3EB-424C-95E2-33DA4CACF092}"/>
              </a:ext>
            </a:extLst>
          </p:cNvPr>
          <p:cNvSpPr>
            <a:spLocks noGrp="1"/>
          </p:cNvSpPr>
          <p:nvPr>
            <p:ph type="sldNum" sz="quarter" idx="12"/>
          </p:nvPr>
        </p:nvSpPr>
        <p:spPr/>
        <p:txBody>
          <a:bodyPr/>
          <a:lstStyle/>
          <a:p>
            <a:fld id="{0E1F5336-19D9-476D-A113-8F6F8BC1702A}" type="slidenum">
              <a:rPr lang="en-NG" smtClean="0"/>
              <a:t>‹#›</a:t>
            </a:fld>
            <a:endParaRPr lang="en-NG"/>
          </a:p>
        </p:txBody>
      </p:sp>
    </p:spTree>
    <p:extLst>
      <p:ext uri="{BB962C8B-B14F-4D97-AF65-F5344CB8AC3E}">
        <p14:creationId xmlns:p14="http://schemas.microsoft.com/office/powerpoint/2010/main" val="17969263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E2636-EB9B-41A5-BE7F-86AA955F59E8}"/>
              </a:ext>
            </a:extLst>
          </p:cNvPr>
          <p:cNvSpPr>
            <a:spLocks noGrp="1"/>
          </p:cNvSpPr>
          <p:nvPr>
            <p:ph type="title"/>
          </p:nvPr>
        </p:nvSpPr>
        <p:spPr/>
        <p:txBody>
          <a:bodyPr/>
          <a:lstStyle/>
          <a:p>
            <a:r>
              <a:rPr lang="en-US"/>
              <a:t>Click to edit Master title style</a:t>
            </a:r>
            <a:endParaRPr lang="en-NG"/>
          </a:p>
        </p:txBody>
      </p:sp>
      <p:sp>
        <p:nvSpPr>
          <p:cNvPr id="3" name="Date Placeholder 2">
            <a:extLst>
              <a:ext uri="{FF2B5EF4-FFF2-40B4-BE49-F238E27FC236}">
                <a16:creationId xmlns:a16="http://schemas.microsoft.com/office/drawing/2014/main" id="{505C22E8-3936-4388-B2DC-8A184BDF2900}"/>
              </a:ext>
            </a:extLst>
          </p:cNvPr>
          <p:cNvSpPr>
            <a:spLocks noGrp="1"/>
          </p:cNvSpPr>
          <p:nvPr>
            <p:ph type="dt" sz="half" idx="10"/>
          </p:nvPr>
        </p:nvSpPr>
        <p:spPr/>
        <p:txBody>
          <a:bodyPr/>
          <a:lstStyle/>
          <a:p>
            <a:fld id="{8B33722E-0180-4864-AC53-0AF36BE6FA2E}" type="datetimeFigureOut">
              <a:rPr lang="en-NG" smtClean="0"/>
              <a:t>05/10/2025</a:t>
            </a:fld>
            <a:endParaRPr lang="en-NG"/>
          </a:p>
        </p:txBody>
      </p:sp>
      <p:sp>
        <p:nvSpPr>
          <p:cNvPr id="4" name="Footer Placeholder 3">
            <a:extLst>
              <a:ext uri="{FF2B5EF4-FFF2-40B4-BE49-F238E27FC236}">
                <a16:creationId xmlns:a16="http://schemas.microsoft.com/office/drawing/2014/main" id="{5389724F-4199-48C5-913A-F6975EBC19D0}"/>
              </a:ext>
            </a:extLst>
          </p:cNvPr>
          <p:cNvSpPr>
            <a:spLocks noGrp="1"/>
          </p:cNvSpPr>
          <p:nvPr>
            <p:ph type="ftr" sz="quarter" idx="11"/>
          </p:nvPr>
        </p:nvSpPr>
        <p:spPr/>
        <p:txBody>
          <a:bodyPr/>
          <a:lstStyle/>
          <a:p>
            <a:endParaRPr lang="en-NG"/>
          </a:p>
        </p:txBody>
      </p:sp>
      <p:sp>
        <p:nvSpPr>
          <p:cNvPr id="5" name="Slide Number Placeholder 4">
            <a:extLst>
              <a:ext uri="{FF2B5EF4-FFF2-40B4-BE49-F238E27FC236}">
                <a16:creationId xmlns:a16="http://schemas.microsoft.com/office/drawing/2014/main" id="{95320AEE-AE64-485C-82A7-A75E569B684D}"/>
              </a:ext>
            </a:extLst>
          </p:cNvPr>
          <p:cNvSpPr>
            <a:spLocks noGrp="1"/>
          </p:cNvSpPr>
          <p:nvPr>
            <p:ph type="sldNum" sz="quarter" idx="12"/>
          </p:nvPr>
        </p:nvSpPr>
        <p:spPr/>
        <p:txBody>
          <a:bodyPr/>
          <a:lstStyle/>
          <a:p>
            <a:fld id="{0E1F5336-19D9-476D-A113-8F6F8BC1702A}" type="slidenum">
              <a:rPr lang="en-NG" smtClean="0"/>
              <a:t>‹#›</a:t>
            </a:fld>
            <a:endParaRPr lang="en-NG"/>
          </a:p>
        </p:txBody>
      </p:sp>
    </p:spTree>
    <p:extLst>
      <p:ext uri="{BB962C8B-B14F-4D97-AF65-F5344CB8AC3E}">
        <p14:creationId xmlns:p14="http://schemas.microsoft.com/office/powerpoint/2010/main" val="8413762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7B35B5-9851-4F53-A893-A89C28593B61}"/>
              </a:ext>
            </a:extLst>
          </p:cNvPr>
          <p:cNvSpPr>
            <a:spLocks noGrp="1"/>
          </p:cNvSpPr>
          <p:nvPr>
            <p:ph type="dt" sz="half" idx="10"/>
          </p:nvPr>
        </p:nvSpPr>
        <p:spPr/>
        <p:txBody>
          <a:bodyPr/>
          <a:lstStyle/>
          <a:p>
            <a:fld id="{8B33722E-0180-4864-AC53-0AF36BE6FA2E}" type="datetimeFigureOut">
              <a:rPr lang="en-NG" smtClean="0"/>
              <a:t>05/10/2025</a:t>
            </a:fld>
            <a:endParaRPr lang="en-NG"/>
          </a:p>
        </p:txBody>
      </p:sp>
      <p:sp>
        <p:nvSpPr>
          <p:cNvPr id="3" name="Footer Placeholder 2">
            <a:extLst>
              <a:ext uri="{FF2B5EF4-FFF2-40B4-BE49-F238E27FC236}">
                <a16:creationId xmlns:a16="http://schemas.microsoft.com/office/drawing/2014/main" id="{03A4DF89-4293-4C00-A265-C17117623AC1}"/>
              </a:ext>
            </a:extLst>
          </p:cNvPr>
          <p:cNvSpPr>
            <a:spLocks noGrp="1"/>
          </p:cNvSpPr>
          <p:nvPr>
            <p:ph type="ftr" sz="quarter" idx="11"/>
          </p:nvPr>
        </p:nvSpPr>
        <p:spPr/>
        <p:txBody>
          <a:bodyPr/>
          <a:lstStyle/>
          <a:p>
            <a:endParaRPr lang="en-NG"/>
          </a:p>
        </p:txBody>
      </p:sp>
      <p:sp>
        <p:nvSpPr>
          <p:cNvPr id="4" name="Slide Number Placeholder 3">
            <a:extLst>
              <a:ext uri="{FF2B5EF4-FFF2-40B4-BE49-F238E27FC236}">
                <a16:creationId xmlns:a16="http://schemas.microsoft.com/office/drawing/2014/main" id="{6E95826F-91FB-41E8-969E-5D65F2E76161}"/>
              </a:ext>
            </a:extLst>
          </p:cNvPr>
          <p:cNvSpPr>
            <a:spLocks noGrp="1"/>
          </p:cNvSpPr>
          <p:nvPr>
            <p:ph type="sldNum" sz="quarter" idx="12"/>
          </p:nvPr>
        </p:nvSpPr>
        <p:spPr/>
        <p:txBody>
          <a:bodyPr/>
          <a:lstStyle/>
          <a:p>
            <a:fld id="{0E1F5336-19D9-476D-A113-8F6F8BC1702A}" type="slidenum">
              <a:rPr lang="en-NG" smtClean="0"/>
              <a:t>‹#›</a:t>
            </a:fld>
            <a:endParaRPr lang="en-NG"/>
          </a:p>
        </p:txBody>
      </p:sp>
    </p:spTree>
    <p:extLst>
      <p:ext uri="{BB962C8B-B14F-4D97-AF65-F5344CB8AC3E}">
        <p14:creationId xmlns:p14="http://schemas.microsoft.com/office/powerpoint/2010/main" val="2826347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58D5D-B24E-4FE9-BF1C-6EEE5C3A4F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G"/>
          </a:p>
        </p:txBody>
      </p:sp>
      <p:sp>
        <p:nvSpPr>
          <p:cNvPr id="3" name="Content Placeholder 2">
            <a:extLst>
              <a:ext uri="{FF2B5EF4-FFF2-40B4-BE49-F238E27FC236}">
                <a16:creationId xmlns:a16="http://schemas.microsoft.com/office/drawing/2014/main" id="{E2E14D04-A6E0-4839-BC19-0876E19B32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Text Placeholder 3">
            <a:extLst>
              <a:ext uri="{FF2B5EF4-FFF2-40B4-BE49-F238E27FC236}">
                <a16:creationId xmlns:a16="http://schemas.microsoft.com/office/drawing/2014/main" id="{73A00B49-7F0E-4D61-A30B-6C340DD0DE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04076EE-52FB-4BE6-BCF6-6DFC042AEEB4}"/>
              </a:ext>
            </a:extLst>
          </p:cNvPr>
          <p:cNvSpPr>
            <a:spLocks noGrp="1"/>
          </p:cNvSpPr>
          <p:nvPr>
            <p:ph type="dt" sz="half" idx="10"/>
          </p:nvPr>
        </p:nvSpPr>
        <p:spPr/>
        <p:txBody>
          <a:bodyPr/>
          <a:lstStyle/>
          <a:p>
            <a:fld id="{8B33722E-0180-4864-AC53-0AF36BE6FA2E}" type="datetimeFigureOut">
              <a:rPr lang="en-NG" smtClean="0"/>
              <a:t>05/10/2025</a:t>
            </a:fld>
            <a:endParaRPr lang="en-NG"/>
          </a:p>
        </p:txBody>
      </p:sp>
      <p:sp>
        <p:nvSpPr>
          <p:cNvPr id="6" name="Footer Placeholder 5">
            <a:extLst>
              <a:ext uri="{FF2B5EF4-FFF2-40B4-BE49-F238E27FC236}">
                <a16:creationId xmlns:a16="http://schemas.microsoft.com/office/drawing/2014/main" id="{B4CE764A-42B2-499F-8596-95C1A24BEFF2}"/>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612889D1-F404-44E1-8B89-AC408DD74228}"/>
              </a:ext>
            </a:extLst>
          </p:cNvPr>
          <p:cNvSpPr>
            <a:spLocks noGrp="1"/>
          </p:cNvSpPr>
          <p:nvPr>
            <p:ph type="sldNum" sz="quarter" idx="12"/>
          </p:nvPr>
        </p:nvSpPr>
        <p:spPr/>
        <p:txBody>
          <a:bodyPr/>
          <a:lstStyle/>
          <a:p>
            <a:fld id="{0E1F5336-19D9-476D-A113-8F6F8BC1702A}" type="slidenum">
              <a:rPr lang="en-NG" smtClean="0"/>
              <a:t>‹#›</a:t>
            </a:fld>
            <a:endParaRPr lang="en-NG"/>
          </a:p>
        </p:txBody>
      </p:sp>
    </p:spTree>
    <p:extLst>
      <p:ext uri="{BB962C8B-B14F-4D97-AF65-F5344CB8AC3E}">
        <p14:creationId xmlns:p14="http://schemas.microsoft.com/office/powerpoint/2010/main" val="35715471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15680-3C8F-4492-9FD8-D340F2F3BB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G"/>
          </a:p>
        </p:txBody>
      </p:sp>
      <p:sp>
        <p:nvSpPr>
          <p:cNvPr id="3" name="Picture Placeholder 2">
            <a:extLst>
              <a:ext uri="{FF2B5EF4-FFF2-40B4-BE49-F238E27FC236}">
                <a16:creationId xmlns:a16="http://schemas.microsoft.com/office/drawing/2014/main" id="{0FD8A504-184B-40DE-9622-81FF5A6E8B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G"/>
          </a:p>
        </p:txBody>
      </p:sp>
      <p:sp>
        <p:nvSpPr>
          <p:cNvPr id="4" name="Text Placeholder 3">
            <a:extLst>
              <a:ext uri="{FF2B5EF4-FFF2-40B4-BE49-F238E27FC236}">
                <a16:creationId xmlns:a16="http://schemas.microsoft.com/office/drawing/2014/main" id="{45AC0EE6-CDAF-42A8-94AD-07FC391F11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79DB63C-A6E4-4D60-AAC2-6B8F9F601531}"/>
              </a:ext>
            </a:extLst>
          </p:cNvPr>
          <p:cNvSpPr>
            <a:spLocks noGrp="1"/>
          </p:cNvSpPr>
          <p:nvPr>
            <p:ph type="dt" sz="half" idx="10"/>
          </p:nvPr>
        </p:nvSpPr>
        <p:spPr/>
        <p:txBody>
          <a:bodyPr/>
          <a:lstStyle/>
          <a:p>
            <a:fld id="{8B33722E-0180-4864-AC53-0AF36BE6FA2E}" type="datetimeFigureOut">
              <a:rPr lang="en-NG" smtClean="0"/>
              <a:t>05/10/2025</a:t>
            </a:fld>
            <a:endParaRPr lang="en-NG"/>
          </a:p>
        </p:txBody>
      </p:sp>
      <p:sp>
        <p:nvSpPr>
          <p:cNvPr id="6" name="Footer Placeholder 5">
            <a:extLst>
              <a:ext uri="{FF2B5EF4-FFF2-40B4-BE49-F238E27FC236}">
                <a16:creationId xmlns:a16="http://schemas.microsoft.com/office/drawing/2014/main" id="{468C0496-C8FA-4F45-BFAB-1B3793E91B80}"/>
              </a:ext>
            </a:extLst>
          </p:cNvPr>
          <p:cNvSpPr>
            <a:spLocks noGrp="1"/>
          </p:cNvSpPr>
          <p:nvPr>
            <p:ph type="ftr" sz="quarter" idx="11"/>
          </p:nvPr>
        </p:nvSpPr>
        <p:spPr/>
        <p:txBody>
          <a:bodyPr/>
          <a:lstStyle/>
          <a:p>
            <a:endParaRPr lang="en-NG"/>
          </a:p>
        </p:txBody>
      </p:sp>
      <p:sp>
        <p:nvSpPr>
          <p:cNvPr id="7" name="Slide Number Placeholder 6">
            <a:extLst>
              <a:ext uri="{FF2B5EF4-FFF2-40B4-BE49-F238E27FC236}">
                <a16:creationId xmlns:a16="http://schemas.microsoft.com/office/drawing/2014/main" id="{DF898958-44D9-4DB7-A735-35AE1B8ECE93}"/>
              </a:ext>
            </a:extLst>
          </p:cNvPr>
          <p:cNvSpPr>
            <a:spLocks noGrp="1"/>
          </p:cNvSpPr>
          <p:nvPr>
            <p:ph type="sldNum" sz="quarter" idx="12"/>
          </p:nvPr>
        </p:nvSpPr>
        <p:spPr/>
        <p:txBody>
          <a:bodyPr/>
          <a:lstStyle/>
          <a:p>
            <a:fld id="{0E1F5336-19D9-476D-A113-8F6F8BC1702A}" type="slidenum">
              <a:rPr lang="en-NG" smtClean="0"/>
              <a:t>‹#›</a:t>
            </a:fld>
            <a:endParaRPr lang="en-NG"/>
          </a:p>
        </p:txBody>
      </p:sp>
    </p:spTree>
    <p:extLst>
      <p:ext uri="{BB962C8B-B14F-4D97-AF65-F5344CB8AC3E}">
        <p14:creationId xmlns:p14="http://schemas.microsoft.com/office/powerpoint/2010/main" val="24060830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16D59-B8BD-4C9C-B7E7-BA0DD1AFCD78}"/>
              </a:ext>
            </a:extLst>
          </p:cNvPr>
          <p:cNvSpPr>
            <a:spLocks noGrp="1"/>
          </p:cNvSpPr>
          <p:nvPr>
            <p:ph type="title"/>
          </p:nvPr>
        </p:nvSpPr>
        <p:spPr/>
        <p:txBody>
          <a:bodyPr/>
          <a:lstStyle/>
          <a:p>
            <a:r>
              <a:rPr lang="en-US"/>
              <a:t>Click to edit Master title style</a:t>
            </a:r>
            <a:endParaRPr lang="en-NG"/>
          </a:p>
        </p:txBody>
      </p:sp>
      <p:sp>
        <p:nvSpPr>
          <p:cNvPr id="3" name="Vertical Text Placeholder 2">
            <a:extLst>
              <a:ext uri="{FF2B5EF4-FFF2-40B4-BE49-F238E27FC236}">
                <a16:creationId xmlns:a16="http://schemas.microsoft.com/office/drawing/2014/main" id="{984233D7-DC4C-43BE-82C2-D715E1D7F771}"/>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B7E7D904-48A5-4883-BFAF-0E1C17DA7660}"/>
              </a:ext>
            </a:extLst>
          </p:cNvPr>
          <p:cNvSpPr>
            <a:spLocks noGrp="1"/>
          </p:cNvSpPr>
          <p:nvPr>
            <p:ph type="dt" sz="half" idx="10"/>
          </p:nvPr>
        </p:nvSpPr>
        <p:spPr/>
        <p:txBody>
          <a:bodyPr/>
          <a:lstStyle/>
          <a:p>
            <a:fld id="{8B33722E-0180-4864-AC53-0AF36BE6FA2E}" type="datetimeFigureOut">
              <a:rPr lang="en-NG" smtClean="0"/>
              <a:t>05/10/2025</a:t>
            </a:fld>
            <a:endParaRPr lang="en-NG"/>
          </a:p>
        </p:txBody>
      </p:sp>
      <p:sp>
        <p:nvSpPr>
          <p:cNvPr id="5" name="Footer Placeholder 4">
            <a:extLst>
              <a:ext uri="{FF2B5EF4-FFF2-40B4-BE49-F238E27FC236}">
                <a16:creationId xmlns:a16="http://schemas.microsoft.com/office/drawing/2014/main" id="{894BA550-C258-4C86-B221-F29B3E721ADF}"/>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5E61A5AC-30B7-4756-A4D2-2559F4D3B3BB}"/>
              </a:ext>
            </a:extLst>
          </p:cNvPr>
          <p:cNvSpPr>
            <a:spLocks noGrp="1"/>
          </p:cNvSpPr>
          <p:nvPr>
            <p:ph type="sldNum" sz="quarter" idx="12"/>
          </p:nvPr>
        </p:nvSpPr>
        <p:spPr/>
        <p:txBody>
          <a:bodyPr/>
          <a:lstStyle/>
          <a:p>
            <a:fld id="{0E1F5336-19D9-476D-A113-8F6F8BC1702A}" type="slidenum">
              <a:rPr lang="en-NG" smtClean="0"/>
              <a:t>‹#›</a:t>
            </a:fld>
            <a:endParaRPr lang="en-NG"/>
          </a:p>
        </p:txBody>
      </p:sp>
    </p:spTree>
    <p:extLst>
      <p:ext uri="{BB962C8B-B14F-4D97-AF65-F5344CB8AC3E}">
        <p14:creationId xmlns:p14="http://schemas.microsoft.com/office/powerpoint/2010/main" val="31588011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ADB287-50B3-43F4-8668-8CA4BA96A19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G"/>
          </a:p>
        </p:txBody>
      </p:sp>
      <p:sp>
        <p:nvSpPr>
          <p:cNvPr id="3" name="Vertical Text Placeholder 2">
            <a:extLst>
              <a:ext uri="{FF2B5EF4-FFF2-40B4-BE49-F238E27FC236}">
                <a16:creationId xmlns:a16="http://schemas.microsoft.com/office/drawing/2014/main" id="{596A39E3-2982-47C7-B0BC-315627E7420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C586417A-F459-49EC-BEC2-6E9E28B30B19}"/>
              </a:ext>
            </a:extLst>
          </p:cNvPr>
          <p:cNvSpPr>
            <a:spLocks noGrp="1"/>
          </p:cNvSpPr>
          <p:nvPr>
            <p:ph type="dt" sz="half" idx="10"/>
          </p:nvPr>
        </p:nvSpPr>
        <p:spPr/>
        <p:txBody>
          <a:bodyPr/>
          <a:lstStyle/>
          <a:p>
            <a:fld id="{8B33722E-0180-4864-AC53-0AF36BE6FA2E}" type="datetimeFigureOut">
              <a:rPr lang="en-NG" smtClean="0"/>
              <a:t>05/10/2025</a:t>
            </a:fld>
            <a:endParaRPr lang="en-NG"/>
          </a:p>
        </p:txBody>
      </p:sp>
      <p:sp>
        <p:nvSpPr>
          <p:cNvPr id="5" name="Footer Placeholder 4">
            <a:extLst>
              <a:ext uri="{FF2B5EF4-FFF2-40B4-BE49-F238E27FC236}">
                <a16:creationId xmlns:a16="http://schemas.microsoft.com/office/drawing/2014/main" id="{6B9FA219-CB53-443D-AB1B-66E81E1FCBE2}"/>
              </a:ext>
            </a:extLst>
          </p:cNvPr>
          <p:cNvSpPr>
            <a:spLocks noGrp="1"/>
          </p:cNvSpPr>
          <p:nvPr>
            <p:ph type="ftr" sz="quarter" idx="11"/>
          </p:nvPr>
        </p:nvSpPr>
        <p:spPr/>
        <p:txBody>
          <a:bodyPr/>
          <a:lstStyle/>
          <a:p>
            <a:endParaRPr lang="en-NG"/>
          </a:p>
        </p:txBody>
      </p:sp>
      <p:sp>
        <p:nvSpPr>
          <p:cNvPr id="6" name="Slide Number Placeholder 5">
            <a:extLst>
              <a:ext uri="{FF2B5EF4-FFF2-40B4-BE49-F238E27FC236}">
                <a16:creationId xmlns:a16="http://schemas.microsoft.com/office/drawing/2014/main" id="{E5086FF9-0966-41BD-8BFD-8DEA95AFFE30}"/>
              </a:ext>
            </a:extLst>
          </p:cNvPr>
          <p:cNvSpPr>
            <a:spLocks noGrp="1"/>
          </p:cNvSpPr>
          <p:nvPr>
            <p:ph type="sldNum" sz="quarter" idx="12"/>
          </p:nvPr>
        </p:nvSpPr>
        <p:spPr/>
        <p:txBody>
          <a:bodyPr/>
          <a:lstStyle/>
          <a:p>
            <a:fld id="{0E1F5336-19D9-476D-A113-8F6F8BC1702A}" type="slidenum">
              <a:rPr lang="en-NG" smtClean="0"/>
              <a:t>‹#›</a:t>
            </a:fld>
            <a:endParaRPr lang="en-NG"/>
          </a:p>
        </p:txBody>
      </p:sp>
    </p:spTree>
    <p:extLst>
      <p:ext uri="{BB962C8B-B14F-4D97-AF65-F5344CB8AC3E}">
        <p14:creationId xmlns:p14="http://schemas.microsoft.com/office/powerpoint/2010/main" val="24943371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EF9DED-9CC1-4FEA-B285-0612AF9478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G"/>
          </a:p>
        </p:txBody>
      </p:sp>
      <p:sp>
        <p:nvSpPr>
          <p:cNvPr id="3" name="Text Placeholder 2">
            <a:extLst>
              <a:ext uri="{FF2B5EF4-FFF2-40B4-BE49-F238E27FC236}">
                <a16:creationId xmlns:a16="http://schemas.microsoft.com/office/drawing/2014/main" id="{D8DD406B-D2CC-4348-A381-591F41CCE6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4" name="Date Placeholder 3">
            <a:extLst>
              <a:ext uri="{FF2B5EF4-FFF2-40B4-BE49-F238E27FC236}">
                <a16:creationId xmlns:a16="http://schemas.microsoft.com/office/drawing/2014/main" id="{1DA37857-7091-43F4-86EA-0A526CF98F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33722E-0180-4864-AC53-0AF36BE6FA2E}" type="datetimeFigureOut">
              <a:rPr lang="en-NG" smtClean="0"/>
              <a:t>05/10/2025</a:t>
            </a:fld>
            <a:endParaRPr lang="en-NG"/>
          </a:p>
        </p:txBody>
      </p:sp>
      <p:sp>
        <p:nvSpPr>
          <p:cNvPr id="5" name="Footer Placeholder 4">
            <a:extLst>
              <a:ext uri="{FF2B5EF4-FFF2-40B4-BE49-F238E27FC236}">
                <a16:creationId xmlns:a16="http://schemas.microsoft.com/office/drawing/2014/main" id="{DC1E961B-4BE1-4DFA-984D-7DFD3E55F5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G"/>
          </a:p>
        </p:txBody>
      </p:sp>
      <p:sp>
        <p:nvSpPr>
          <p:cNvPr id="6" name="Slide Number Placeholder 5">
            <a:extLst>
              <a:ext uri="{FF2B5EF4-FFF2-40B4-BE49-F238E27FC236}">
                <a16:creationId xmlns:a16="http://schemas.microsoft.com/office/drawing/2014/main" id="{844A9EA6-EE48-4BD7-9308-DAB5B7E7DD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1F5336-19D9-476D-A113-8F6F8BC1702A}" type="slidenum">
              <a:rPr lang="en-NG" smtClean="0"/>
              <a:t>‹#›</a:t>
            </a:fld>
            <a:endParaRPr lang="en-NG"/>
          </a:p>
        </p:txBody>
      </p:sp>
    </p:spTree>
    <p:extLst>
      <p:ext uri="{BB962C8B-B14F-4D97-AF65-F5344CB8AC3E}">
        <p14:creationId xmlns:p14="http://schemas.microsoft.com/office/powerpoint/2010/main" val="8402955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noChangeArrowheads="1"/>
          </p:cNvSpPr>
          <p:nvPr>
            <p:ph type="ctrTitle"/>
          </p:nvPr>
        </p:nvSpPr>
        <p:spPr>
          <a:xfrm>
            <a:off x="1524000" y="797443"/>
            <a:ext cx="9144000" cy="1891784"/>
          </a:xfrm>
        </p:spPr>
        <p:txBody>
          <a:bodyPr>
            <a:normAutofit fontScale="90000"/>
          </a:bodyPr>
          <a:lstStyle/>
          <a:p>
            <a:pPr eaLnBrk="1" hangingPunct="1"/>
            <a:r>
              <a:rPr lang="en-US" altLang="zh-CN" sz="3200" dirty="0">
                <a:solidFill>
                  <a:srgbClr val="FF0000"/>
                </a:solidFill>
                <a:latin typeface="Times New Roman" pitchFamily="18" charset="0"/>
                <a:cs typeface="Times New Roman" pitchFamily="18" charset="0"/>
              </a:rPr>
              <a:t>PHY 211: Elementary modern Physics (2 Units)</a:t>
            </a:r>
            <a:br>
              <a:rPr lang="en-US" altLang="zh-CN" sz="3200" dirty="0">
                <a:solidFill>
                  <a:srgbClr val="FF0000"/>
                </a:solidFill>
                <a:latin typeface="Times New Roman" pitchFamily="18" charset="0"/>
                <a:cs typeface="Times New Roman" pitchFamily="18" charset="0"/>
              </a:rPr>
            </a:br>
            <a:r>
              <a:rPr lang="en-US" altLang="zh-CN" sz="3200" dirty="0">
                <a:solidFill>
                  <a:srgbClr val="FF0000"/>
                </a:solidFill>
                <a:latin typeface="Times New Roman" pitchFamily="18" charset="0"/>
                <a:cs typeface="Times New Roman" pitchFamily="18" charset="0"/>
              </a:rPr>
              <a:t>Work, Energy and theory of relativity (week 2)  </a:t>
            </a:r>
            <a:br>
              <a:rPr lang="en-US" altLang="zh-CN" sz="3200" dirty="0">
                <a:solidFill>
                  <a:srgbClr val="FF0000"/>
                </a:solidFill>
                <a:latin typeface="Times New Roman" pitchFamily="18" charset="0"/>
                <a:cs typeface="Times New Roman" pitchFamily="18" charset="0"/>
              </a:rPr>
            </a:br>
            <a:br>
              <a:rPr lang="en-US" altLang="zh-CN" sz="3200" dirty="0">
                <a:solidFill>
                  <a:srgbClr val="FF0000"/>
                </a:solidFill>
                <a:latin typeface="Times New Roman" pitchFamily="18" charset="0"/>
                <a:cs typeface="Times New Roman" pitchFamily="18" charset="0"/>
              </a:rPr>
            </a:br>
            <a:br>
              <a:rPr lang="en-US" altLang="zh-CN" sz="3200" dirty="0">
                <a:solidFill>
                  <a:srgbClr val="FF0000"/>
                </a:solidFill>
                <a:latin typeface="Times New Roman" pitchFamily="18" charset="0"/>
                <a:cs typeface="Times New Roman" pitchFamily="18" charset="0"/>
              </a:rPr>
            </a:br>
            <a:r>
              <a:rPr lang="en-US" altLang="zh-CN" sz="3200" dirty="0">
                <a:solidFill>
                  <a:srgbClr val="FF0000"/>
                </a:solidFill>
                <a:latin typeface="Times New Roman" pitchFamily="18" charset="0"/>
                <a:cs typeface="Times New Roman" pitchFamily="18" charset="0"/>
              </a:rPr>
              <a:t> </a:t>
            </a:r>
          </a:p>
        </p:txBody>
      </p:sp>
      <p:sp>
        <p:nvSpPr>
          <p:cNvPr id="2051" name="Subtitle 2"/>
          <p:cNvSpPr>
            <a:spLocks noGrp="1"/>
          </p:cNvSpPr>
          <p:nvPr>
            <p:ph type="subTitle" idx="1"/>
          </p:nvPr>
        </p:nvSpPr>
        <p:spPr/>
        <p:txBody>
          <a:bodyPr>
            <a:normAutofit fontScale="92500" lnSpcReduction="20000"/>
          </a:bodyPr>
          <a:lstStyle/>
          <a:p>
            <a:pPr eaLnBrk="1" hangingPunct="1"/>
            <a:r>
              <a:rPr lang="en-US" sz="2000" dirty="0">
                <a:latin typeface="Times New Roman" pitchFamily="18" charset="0"/>
                <a:cs typeface="Times New Roman" pitchFamily="18" charset="0"/>
              </a:rPr>
              <a:t>DR  OKAFOR  P.N.</a:t>
            </a:r>
          </a:p>
          <a:p>
            <a:pPr eaLnBrk="1" hangingPunct="1"/>
            <a:r>
              <a:rPr lang="en-US" sz="2000" dirty="0">
                <a:latin typeface="Times New Roman" pitchFamily="18" charset="0"/>
                <a:cs typeface="Times New Roman" pitchFamily="18" charset="0"/>
              </a:rPr>
              <a:t>DEPARTMENT  OF  PHYSICS</a:t>
            </a:r>
          </a:p>
          <a:p>
            <a:pPr eaLnBrk="1" hangingPunct="1"/>
            <a:r>
              <a:rPr lang="en-US" sz="2000" dirty="0">
                <a:latin typeface="Times New Roman" pitchFamily="18" charset="0"/>
                <a:cs typeface="Times New Roman" pitchFamily="18" charset="0"/>
              </a:rPr>
              <a:t>COLLEGE  OF  SCIENCE  AND  TECHNOLOGY</a:t>
            </a:r>
          </a:p>
          <a:p>
            <a:pPr eaLnBrk="1" hangingPunct="1"/>
            <a:r>
              <a:rPr lang="en-US" sz="2000" dirty="0">
                <a:latin typeface="Times New Roman" pitchFamily="18" charset="0"/>
                <a:cs typeface="Times New Roman" pitchFamily="18" charset="0"/>
              </a:rPr>
              <a:t>CONVENANT  UNIVERSITY</a:t>
            </a:r>
          </a:p>
          <a:p>
            <a:pPr eaLnBrk="1" hangingPunct="1"/>
            <a:r>
              <a:rPr lang="en-US" sz="2000">
                <a:latin typeface="Times New Roman" pitchFamily="18" charset="0"/>
                <a:cs typeface="Times New Roman" pitchFamily="18" charset="0"/>
              </a:rPr>
              <a:t>2025/2026</a:t>
            </a:r>
            <a:endParaRPr lang="en-US" sz="2000" dirty="0">
              <a:latin typeface="Times New Roman" pitchFamily="18" charset="0"/>
              <a:cs typeface="Times New Roman" pitchFamily="18" charset="0"/>
            </a:endParaRPr>
          </a:p>
        </p:txBody>
      </p:sp>
    </p:spTree>
    <p:extLst>
      <p:ext uri="{BB962C8B-B14F-4D97-AF65-F5344CB8AC3E}">
        <p14:creationId xmlns:p14="http://schemas.microsoft.com/office/powerpoint/2010/main" val="16934421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D9D8D-E6FF-4857-AE50-E29279D5D6AB}"/>
              </a:ext>
            </a:extLst>
          </p:cNvPr>
          <p:cNvSpPr>
            <a:spLocks noGrp="1"/>
          </p:cNvSpPr>
          <p:nvPr>
            <p:ph type="title"/>
          </p:nvPr>
        </p:nvSpPr>
        <p:spPr/>
        <p:txBody>
          <a:bodyPr/>
          <a:lstStyle/>
          <a:p>
            <a:r>
              <a:rPr lang="en-US" dirty="0">
                <a:solidFill>
                  <a:srgbClr val="FF0000"/>
                </a:solidFill>
              </a:rPr>
              <a:t>OBJECTIVES</a:t>
            </a:r>
            <a:endParaRPr lang="en-NG" dirty="0">
              <a:solidFill>
                <a:srgbClr val="FF0000"/>
              </a:solidFill>
            </a:endParaRPr>
          </a:p>
        </p:txBody>
      </p:sp>
      <p:sp>
        <p:nvSpPr>
          <p:cNvPr id="3" name="Content Placeholder 2">
            <a:extLst>
              <a:ext uri="{FF2B5EF4-FFF2-40B4-BE49-F238E27FC236}">
                <a16:creationId xmlns:a16="http://schemas.microsoft.com/office/drawing/2014/main" id="{BC66189B-ABF4-4278-A46B-DC3299FE2BBA}"/>
              </a:ext>
            </a:extLst>
          </p:cNvPr>
          <p:cNvSpPr>
            <a:spLocks noGrp="1"/>
          </p:cNvSpPr>
          <p:nvPr>
            <p:ph idx="1"/>
          </p:nvPr>
        </p:nvSpPr>
        <p:spPr/>
        <p:txBody>
          <a:bodyPr/>
          <a:lstStyle/>
          <a:p>
            <a:r>
              <a:rPr lang="en-US" dirty="0"/>
              <a:t>Students are able to calculate work, energy and momentum using relativistic principles</a:t>
            </a:r>
          </a:p>
          <a:p>
            <a:r>
              <a:rPr lang="en-US" dirty="0"/>
              <a:t>Explain the difference in relativity and Newtonian mechanics</a:t>
            </a:r>
            <a:endParaRPr lang="en-NG" dirty="0"/>
          </a:p>
        </p:txBody>
      </p:sp>
    </p:spTree>
    <p:extLst>
      <p:ext uri="{BB962C8B-B14F-4D97-AF65-F5344CB8AC3E}">
        <p14:creationId xmlns:p14="http://schemas.microsoft.com/office/powerpoint/2010/main" val="4032254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94031-803B-4BFA-BE1F-FC548A677568}"/>
              </a:ext>
            </a:extLst>
          </p:cNvPr>
          <p:cNvSpPr>
            <a:spLocks noGrp="1"/>
          </p:cNvSpPr>
          <p:nvPr>
            <p:ph type="title"/>
          </p:nvPr>
        </p:nvSpPr>
        <p:spPr/>
        <p:txBody>
          <a:bodyPr/>
          <a:lstStyle/>
          <a:p>
            <a:r>
              <a:rPr lang="en-US" dirty="0"/>
              <a:t>Work , energy and relativity</a:t>
            </a:r>
            <a:endParaRPr lang="en-N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E3354A2-C004-4012-852C-A2851BF03A96}"/>
                  </a:ext>
                </a:extLst>
              </p:cNvPr>
              <p:cNvSpPr>
                <a:spLocks noGrp="1"/>
              </p:cNvSpPr>
              <p:nvPr>
                <p:ph idx="1"/>
              </p:nvPr>
            </p:nvSpPr>
            <p:spPr/>
            <p:txBody>
              <a:bodyPr/>
              <a:lstStyle/>
              <a:p>
                <a:pPr marL="0" indent="0">
                  <a:buNone/>
                </a:pPr>
                <a:r>
                  <a:rPr lang="en-US" dirty="0"/>
                  <a:t>A constant force on a body no longer produces a constant acceleration except at very small velocities. The work done on a particle is the difference in the initial kinetic energy and it’s final kinetic energy.</a:t>
                </a:r>
              </a:p>
              <a:p>
                <a:pPr marL="0" indent="0">
                  <a:buNone/>
                </a:pPr>
                <a:r>
                  <a:rPr lang="en-US" dirty="0"/>
                  <a:t>W =</a:t>
                </a:r>
                <a14:m>
                  <m:oMath xmlns:m="http://schemas.openxmlformats.org/officeDocument/2006/math">
                    <m:f>
                      <m:fPr>
                        <m:ctrlPr>
                          <a:rPr lang="en-US" i="1" smtClean="0">
                            <a:latin typeface="Cambria Math" panose="02040503050406030204" pitchFamily="18" charset="0"/>
                          </a:rPr>
                        </m:ctrlPr>
                      </m:fPr>
                      <m:num>
                        <m:sSup>
                          <m:sSupPr>
                            <m:ctrlPr>
                              <a:rPr lang="en-US" i="1" smtClean="0">
                                <a:latin typeface="Cambria Math" panose="02040503050406030204" pitchFamily="18" charset="0"/>
                              </a:rPr>
                            </m:ctrlPr>
                          </m:sSupPr>
                          <m:e>
                            <m:r>
                              <a:rPr lang="en-US" b="0" i="1" smtClean="0">
                                <a:latin typeface="Cambria Math" panose="02040503050406030204" pitchFamily="18" charset="0"/>
                              </a:rPr>
                              <m:t>𝑚𝑐</m:t>
                            </m:r>
                          </m:e>
                          <m:sup>
                            <m:r>
                              <a:rPr lang="en-US" b="0" i="1" smtClean="0">
                                <a:latin typeface="Cambria Math" panose="02040503050406030204" pitchFamily="18" charset="0"/>
                              </a:rPr>
                              <m:t>2</m:t>
                            </m:r>
                          </m:sup>
                        </m:sSup>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 </m:t>
                        </m:r>
                        <m:f>
                          <m:fPr>
                            <m:ctrlPr>
                              <a:rPr lang="en-US" b="0" i="1" smtClean="0">
                                <a:latin typeface="Cambria Math" panose="02040503050406030204" pitchFamily="18" charset="0"/>
                                <a:ea typeface="Cambria Math" panose="02040503050406030204" pitchFamily="18" charset="0"/>
                              </a:rPr>
                            </m:ctrlPr>
                          </m:fPr>
                          <m:num>
                            <m:sSubSup>
                              <m:sSubSupPr>
                                <m:ctrlPr>
                                  <a:rPr lang="en-US" b="0" i="1" smtClean="0">
                                    <a:latin typeface="Cambria Math" panose="02040503050406030204" pitchFamily="18" charset="0"/>
                                    <a:ea typeface="Cambria Math" panose="02040503050406030204" pitchFamily="18" charset="0"/>
                                  </a:rPr>
                                </m:ctrlPr>
                              </m:sSubSupPr>
                              <m:e>
                                <m:r>
                                  <a:rPr lang="en-US" b="0" i="1" smtClean="0">
                                    <a:latin typeface="Cambria Math" panose="02040503050406030204" pitchFamily="18" charset="0"/>
                                    <a:ea typeface="Cambria Math" panose="02040503050406030204" pitchFamily="18" charset="0"/>
                                  </a:rPr>
                                  <m:t>𝑣</m:t>
                                </m:r>
                              </m:e>
                              <m:sub>
                                <m:r>
                                  <a:rPr lang="en-US" b="0" i="1" smtClean="0">
                                    <a:latin typeface="Cambria Math" panose="02040503050406030204" pitchFamily="18" charset="0"/>
                                    <a:ea typeface="Cambria Math" panose="02040503050406030204" pitchFamily="18" charset="0"/>
                                  </a:rPr>
                                  <m:t>2</m:t>
                                </m:r>
                              </m:sub>
                              <m:sup>
                                <m:r>
                                  <a:rPr lang="en-US" b="0" i="1" smtClean="0">
                                    <a:latin typeface="Cambria Math" panose="02040503050406030204" pitchFamily="18" charset="0"/>
                                    <a:ea typeface="Cambria Math" panose="02040503050406030204" pitchFamily="18" charset="0"/>
                                  </a:rPr>
                                  <m:t>2</m:t>
                                </m:r>
                              </m:sup>
                            </m:sSubSup>
                          </m:num>
                          <m:den>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𝑐</m:t>
                                </m:r>
                              </m:e>
                              <m:sup>
                                <m:r>
                                  <a:rPr lang="en-US" b="0" i="1" smtClean="0">
                                    <a:latin typeface="Cambria Math" panose="02040503050406030204" pitchFamily="18" charset="0"/>
                                    <a:ea typeface="Cambria Math" panose="02040503050406030204" pitchFamily="18" charset="0"/>
                                  </a:rPr>
                                  <m:t>2</m:t>
                                </m:r>
                              </m:sup>
                            </m:sSup>
                          </m:den>
                        </m:f>
                        <m:r>
                          <a:rPr lang="en-US" b="0" i="1" smtClean="0">
                            <a:latin typeface="Cambria Math" panose="02040503050406030204" pitchFamily="18" charset="0"/>
                            <a:ea typeface="Cambria Math" panose="02040503050406030204" pitchFamily="18" charset="0"/>
                          </a:rPr>
                          <m:t>)</m:t>
                        </m:r>
                      </m:den>
                    </m:f>
                  </m:oMath>
                </a14:m>
                <a:r>
                  <a:rPr lang="en-US" dirty="0"/>
                  <a:t>  -  </a:t>
                </a:r>
                <a14:m>
                  <m:oMath xmlns:m="http://schemas.openxmlformats.org/officeDocument/2006/math">
                    <m:f>
                      <m:fPr>
                        <m:ctrlPr>
                          <a:rPr lang="en-US" i="1" smtClean="0">
                            <a:latin typeface="Cambria Math" panose="02040503050406030204" pitchFamily="18" charset="0"/>
                          </a:rPr>
                        </m:ctrlPr>
                      </m:fPr>
                      <m:num>
                        <m:sSup>
                          <m:sSupPr>
                            <m:ctrlPr>
                              <a:rPr lang="en-US" i="1" smtClean="0">
                                <a:latin typeface="Cambria Math" panose="02040503050406030204" pitchFamily="18" charset="0"/>
                              </a:rPr>
                            </m:ctrlPr>
                          </m:sSupPr>
                          <m:e>
                            <m:r>
                              <a:rPr lang="en-US" b="0" i="1" smtClean="0">
                                <a:latin typeface="Cambria Math" panose="02040503050406030204" pitchFamily="18" charset="0"/>
                              </a:rPr>
                              <m:t>𝑚𝑐</m:t>
                            </m:r>
                          </m:e>
                          <m:sup>
                            <m:r>
                              <a:rPr lang="en-US" b="0" i="1" smtClean="0">
                                <a:latin typeface="Cambria Math" panose="02040503050406030204" pitchFamily="18" charset="0"/>
                              </a:rPr>
                              <m:t>2</m:t>
                            </m:r>
                          </m:sup>
                        </m:sSup>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𝑣</m:t>
                            </m:r>
                          </m:e>
                          <m:sub>
                            <m:r>
                              <a:rPr lang="en-US" b="0" i="1" smtClean="0">
                                <a:latin typeface="Cambria Math" panose="02040503050406030204" pitchFamily="18" charset="0"/>
                              </a:rPr>
                              <m:t>1</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den>
                    </m:f>
                    <m:r>
                      <a:rPr lang="en-US" b="0" i="1" smtClean="0">
                        <a:latin typeface="Cambria Math" panose="02040503050406030204" pitchFamily="18" charset="0"/>
                      </a:rPr>
                      <m:t>…………………………..(1)</m:t>
                    </m:r>
                  </m:oMath>
                </a14:m>
                <a:endParaRPr lang="en-US" dirty="0"/>
              </a:p>
              <a:p>
                <a:pPr marL="0" indent="0">
                  <a:buNone/>
                </a:pPr>
                <a:r>
                  <a:rPr lang="en-US" dirty="0"/>
                  <a:t>Where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r>
                      <a:rPr lang="en-US" b="0" i="1" smtClean="0">
                        <a:latin typeface="Cambria Math" panose="02040503050406030204" pitchFamily="18" charset="0"/>
                      </a:rPr>
                      <m:t> </m:t>
                    </m:r>
                    <m:r>
                      <a:rPr lang="en-US" b="0" i="1" smtClean="0">
                        <a:latin typeface="Cambria Math" panose="02040503050406030204" pitchFamily="18" charset="0"/>
                      </a:rPr>
                      <m:t>𝑎𝑛𝑑</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oMath>
                </a14:m>
                <a:r>
                  <a:rPr lang="en-US" dirty="0"/>
                  <a:t>  are the initial and final velocities of the particle</a:t>
                </a:r>
                <a:endParaRPr lang="en-NG" dirty="0"/>
              </a:p>
            </p:txBody>
          </p:sp>
        </mc:Choice>
        <mc:Fallback xmlns="">
          <p:sp>
            <p:nvSpPr>
              <p:cNvPr id="3" name="Content Placeholder 2">
                <a:extLst>
                  <a:ext uri="{FF2B5EF4-FFF2-40B4-BE49-F238E27FC236}">
                    <a16:creationId xmlns:a16="http://schemas.microsoft.com/office/drawing/2014/main" id="{1E3354A2-C004-4012-852C-A2851BF03A96}"/>
                  </a:ext>
                </a:extLst>
              </p:cNvPr>
              <p:cNvSpPr>
                <a:spLocks noGrp="1" noRot="1" noChangeAspect="1" noMove="1" noResize="1" noEditPoints="1" noAdjustHandles="1" noChangeArrowheads="1" noChangeShapeType="1" noTextEdit="1"/>
              </p:cNvSpPr>
              <p:nvPr>
                <p:ph idx="1"/>
              </p:nvPr>
            </p:nvSpPr>
            <p:spPr>
              <a:blipFill>
                <a:blip r:embed="rId2"/>
                <a:stretch>
                  <a:fillRect l="-1217" t="-2241" r="-174"/>
                </a:stretch>
              </a:blipFill>
            </p:spPr>
            <p:txBody>
              <a:bodyPr/>
              <a:lstStyle/>
              <a:p>
                <a:r>
                  <a:rPr lang="en-NG">
                    <a:noFill/>
                  </a:rPr>
                  <a:t> </a:t>
                </a:r>
              </a:p>
            </p:txBody>
          </p:sp>
        </mc:Fallback>
      </mc:AlternateContent>
    </p:spTree>
    <p:extLst>
      <p:ext uri="{BB962C8B-B14F-4D97-AF65-F5344CB8AC3E}">
        <p14:creationId xmlns:p14="http://schemas.microsoft.com/office/powerpoint/2010/main" val="10200082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45CC3-0DE8-41CF-A704-210BB45AFC55}"/>
              </a:ext>
            </a:extLst>
          </p:cNvPr>
          <p:cNvSpPr>
            <a:spLocks noGrp="1"/>
          </p:cNvSpPr>
          <p:nvPr>
            <p:ph type="title"/>
          </p:nvPr>
        </p:nvSpPr>
        <p:spPr/>
        <p:txBody>
          <a:bodyPr/>
          <a:lstStyle/>
          <a:p>
            <a:r>
              <a:rPr lang="en-US" dirty="0"/>
              <a:t>Work and energy</a:t>
            </a:r>
            <a:endParaRPr lang="en-NG"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49090B6-132D-4C39-8502-BB9EEB11AD21}"/>
                  </a:ext>
                </a:extLst>
              </p:cNvPr>
              <p:cNvSpPr>
                <a:spLocks noGrp="1"/>
              </p:cNvSpPr>
              <p:nvPr>
                <p:ph idx="1"/>
              </p:nvPr>
            </p:nvSpPr>
            <p:spPr/>
            <p:txBody>
              <a:bodyPr/>
              <a:lstStyle/>
              <a:p>
                <a:pPr marL="0" indent="0">
                  <a:buNone/>
                </a:pPr>
                <a:r>
                  <a:rPr lang="en-US" dirty="0"/>
                  <a:t>Total energy of the particle can be written as</a:t>
                </a:r>
              </a:p>
              <a:p>
                <a:pPr marL="0" indent="0">
                  <a:buNone/>
                </a:pPr>
                <a:r>
                  <a:rPr lang="en-US" dirty="0"/>
                  <a:t>E= </a:t>
                </a:r>
                <a14:m>
                  <m:oMath xmlns:m="http://schemas.openxmlformats.org/officeDocument/2006/math">
                    <m:f>
                      <m:fPr>
                        <m:ctrlPr>
                          <a:rPr lang="en-US" i="1" smtClean="0">
                            <a:latin typeface="Cambria Math" panose="02040503050406030204" pitchFamily="18" charset="0"/>
                          </a:rPr>
                        </m:ctrlPr>
                      </m:fPr>
                      <m:num>
                        <m:sSup>
                          <m:sSupPr>
                            <m:ctrlPr>
                              <a:rPr lang="en-US" i="1" smtClean="0">
                                <a:latin typeface="Cambria Math" panose="02040503050406030204" pitchFamily="18" charset="0"/>
                              </a:rPr>
                            </m:ctrlPr>
                          </m:sSupPr>
                          <m:e>
                            <m:r>
                              <a:rPr lang="en-US" b="0" i="1" smtClean="0">
                                <a:latin typeface="Cambria Math" panose="02040503050406030204" pitchFamily="18" charset="0"/>
                              </a:rPr>
                              <m:t>𝑚𝑐</m:t>
                            </m:r>
                          </m:e>
                          <m:sup>
                            <m:r>
                              <a:rPr lang="en-US" b="0" i="1" smtClean="0">
                                <a:latin typeface="Cambria Math" panose="02040503050406030204" pitchFamily="18" charset="0"/>
                              </a:rPr>
                              <m:t>2</m:t>
                            </m:r>
                          </m:sup>
                        </m:sSup>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(1 −</m:t>
                        </m:r>
                        <m:f>
                          <m:fPr>
                            <m:ctrlPr>
                              <a:rPr lang="en-US" b="0" i="1" smtClean="0">
                                <a:latin typeface="Cambria Math" panose="02040503050406030204" pitchFamily="18" charset="0"/>
                                <a:ea typeface="Cambria Math" panose="02040503050406030204" pitchFamily="18" charset="0"/>
                              </a:rPr>
                            </m:ctrlPr>
                          </m:fPr>
                          <m:num>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𝑣</m:t>
                                </m:r>
                              </m:e>
                              <m:sup>
                                <m:r>
                                  <a:rPr lang="en-US" b="0" i="1" smtClean="0">
                                    <a:latin typeface="Cambria Math" panose="02040503050406030204" pitchFamily="18" charset="0"/>
                                    <a:ea typeface="Cambria Math" panose="02040503050406030204" pitchFamily="18" charset="0"/>
                                  </a:rPr>
                                  <m:t>2</m:t>
                                </m:r>
                              </m:sup>
                            </m:sSup>
                          </m:num>
                          <m:den>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𝑐</m:t>
                                </m:r>
                              </m:e>
                              <m:sup>
                                <m:r>
                                  <a:rPr lang="en-US" b="0" i="1" smtClean="0">
                                    <a:latin typeface="Cambria Math" panose="02040503050406030204" pitchFamily="18" charset="0"/>
                                    <a:ea typeface="Cambria Math" panose="02040503050406030204" pitchFamily="18" charset="0"/>
                                  </a:rPr>
                                  <m:t>2</m:t>
                                </m:r>
                              </m:sup>
                            </m:sSup>
                          </m:den>
                        </m:f>
                        <m:r>
                          <a:rPr lang="en-US" b="0" i="1" smtClean="0">
                            <a:latin typeface="Cambria Math" panose="02040503050406030204" pitchFamily="18" charset="0"/>
                            <a:ea typeface="Cambria Math" panose="02040503050406030204" pitchFamily="18" charset="0"/>
                          </a:rPr>
                          <m:t>)</m:t>
                        </m:r>
                      </m:den>
                    </m:f>
                  </m:oMath>
                </a14:m>
                <a:r>
                  <a:rPr lang="en-US" dirty="0"/>
                  <a:t> …………………………………………….(2)</a:t>
                </a:r>
              </a:p>
              <a:p>
                <a:pPr marL="0" indent="0">
                  <a:buNone/>
                </a:pPr>
                <a:r>
                  <a:rPr lang="en-US" dirty="0"/>
                  <a:t>Equation 2 is not zero when v is zero. Instead it reduces to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𝑚𝑐</m:t>
                        </m:r>
                      </m:e>
                      <m:sup>
                        <m:r>
                          <a:rPr lang="en-US" b="0" i="1" smtClean="0">
                            <a:latin typeface="Cambria Math" panose="02040503050406030204" pitchFamily="18" charset="0"/>
                          </a:rPr>
                          <m:t>2</m:t>
                        </m:r>
                      </m:sup>
                    </m:sSup>
                  </m:oMath>
                </a14:m>
                <a:endParaRPr lang="en-US" dirty="0"/>
              </a:p>
              <a:p>
                <a:pPr marL="0" indent="0">
                  <a:buNone/>
                </a:pPr>
                <a:r>
                  <a:rPr lang="en-US" dirty="0"/>
                  <a:t>This suggests that the formula for relativistic kinetic energy of a particle</a:t>
                </a:r>
              </a:p>
              <a:p>
                <a:pPr marL="0" indent="0">
                  <a:buNone/>
                </a:pPr>
                <a:r>
                  <a:rPr lang="en-US" dirty="0"/>
                  <a:t>be written as  </a:t>
                </a:r>
              </a:p>
              <a:p>
                <a:pPr marL="0" indent="0">
                  <a:buNone/>
                </a:pPr>
                <a:r>
                  <a:rPr lang="en-US" dirty="0"/>
                  <a:t>K =</a:t>
                </a:r>
                <a14:m>
                  <m:oMath xmlns:m="http://schemas.openxmlformats.org/officeDocument/2006/math">
                    <m:f>
                      <m:fPr>
                        <m:ctrlPr>
                          <a:rPr lang="en-US" i="1" smtClean="0">
                            <a:latin typeface="Cambria Math" panose="02040503050406030204" pitchFamily="18" charset="0"/>
                          </a:rPr>
                        </m:ctrlPr>
                      </m:fPr>
                      <m:num>
                        <m:sSup>
                          <m:sSupPr>
                            <m:ctrlPr>
                              <a:rPr lang="en-US" i="1" smtClean="0">
                                <a:latin typeface="Cambria Math" panose="02040503050406030204" pitchFamily="18" charset="0"/>
                              </a:rPr>
                            </m:ctrlPr>
                          </m:sSupPr>
                          <m:e>
                            <m:r>
                              <a:rPr lang="en-US" b="0" i="1" smtClean="0">
                                <a:latin typeface="Cambria Math" panose="02040503050406030204" pitchFamily="18" charset="0"/>
                              </a:rPr>
                              <m:t>𝑚𝑐</m:t>
                            </m:r>
                          </m:e>
                          <m:sup>
                            <m:r>
                              <a:rPr lang="en-US" b="0" i="1" smtClean="0">
                                <a:latin typeface="Cambria Math" panose="02040503050406030204" pitchFamily="18" charset="0"/>
                              </a:rPr>
                              <m:t>2</m:t>
                            </m:r>
                          </m:sup>
                        </m:sSup>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f>
                          <m:fPr>
                            <m:ctrlPr>
                              <a:rPr lang="en-US" b="0" i="1" smtClean="0">
                                <a:latin typeface="Cambria Math" panose="02040503050406030204" pitchFamily="18" charset="0"/>
                                <a:ea typeface="Cambria Math" panose="02040503050406030204" pitchFamily="18" charset="0"/>
                              </a:rPr>
                            </m:ctrlPr>
                          </m:fPr>
                          <m:num>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𝑣</m:t>
                                </m:r>
                              </m:e>
                              <m:sup>
                                <m:r>
                                  <a:rPr lang="en-US" b="0" i="1" smtClean="0">
                                    <a:latin typeface="Cambria Math" panose="02040503050406030204" pitchFamily="18" charset="0"/>
                                    <a:ea typeface="Cambria Math" panose="02040503050406030204" pitchFamily="18" charset="0"/>
                                  </a:rPr>
                                  <m:t>2</m:t>
                                </m:r>
                              </m:sup>
                            </m:sSup>
                          </m:num>
                          <m:den>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𝑐</m:t>
                                </m:r>
                              </m:e>
                              <m:sup>
                                <m:r>
                                  <a:rPr lang="en-US" b="0" i="1" smtClean="0">
                                    <a:latin typeface="Cambria Math" panose="02040503050406030204" pitchFamily="18" charset="0"/>
                                    <a:ea typeface="Cambria Math" panose="02040503050406030204" pitchFamily="18" charset="0"/>
                                  </a:rPr>
                                  <m:t>2</m:t>
                                </m:r>
                              </m:sup>
                            </m:sSup>
                          </m:den>
                        </m:f>
                        <m:r>
                          <a:rPr lang="en-US" b="0" i="1" smtClean="0">
                            <a:latin typeface="Cambria Math" panose="02040503050406030204" pitchFamily="18" charset="0"/>
                            <a:ea typeface="Cambria Math" panose="02040503050406030204" pitchFamily="18" charset="0"/>
                          </a:rPr>
                          <m:t>)</m:t>
                        </m:r>
                      </m:den>
                    </m:f>
                    <m:r>
                      <a:rPr lang="en-US" b="0" i="1" smtClean="0">
                        <a:latin typeface="Cambria Math" panose="02040503050406030204" pitchFamily="18" charset="0"/>
                      </a:rPr>
                      <m:t> −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𝑚𝑐</m:t>
                        </m:r>
                      </m:e>
                      <m:sup>
                        <m:r>
                          <a:rPr lang="en-US" b="0" i="1" smtClean="0">
                            <a:latin typeface="Cambria Math" panose="02040503050406030204" pitchFamily="18" charset="0"/>
                          </a:rPr>
                          <m:t>2</m:t>
                        </m:r>
                      </m:sup>
                    </m:sSup>
                  </m:oMath>
                </a14:m>
                <a:r>
                  <a:rPr lang="en-US" dirty="0"/>
                  <a:t>………………………………….(3)</a:t>
                </a:r>
              </a:p>
              <a:p>
                <a:pPr marL="0" indent="0">
                  <a:buNone/>
                </a:pPr>
                <a:endParaRPr lang="en-US" dirty="0"/>
              </a:p>
              <a:p>
                <a:pPr marL="0" indent="0">
                  <a:buNone/>
                </a:pPr>
                <a:endParaRPr lang="en-NG" dirty="0"/>
              </a:p>
            </p:txBody>
          </p:sp>
        </mc:Choice>
        <mc:Fallback>
          <p:sp>
            <p:nvSpPr>
              <p:cNvPr id="3" name="Content Placeholder 2">
                <a:extLst>
                  <a:ext uri="{FF2B5EF4-FFF2-40B4-BE49-F238E27FC236}">
                    <a16:creationId xmlns:a16="http://schemas.microsoft.com/office/drawing/2014/main" id="{549090B6-132D-4C39-8502-BB9EEB11AD21}"/>
                  </a:ext>
                </a:extLst>
              </p:cNvPr>
              <p:cNvSpPr>
                <a:spLocks noGrp="1" noRot="1" noChangeAspect="1" noMove="1" noResize="1" noEditPoints="1" noAdjustHandles="1" noChangeArrowheads="1" noChangeShapeType="1" noTextEdit="1"/>
              </p:cNvSpPr>
              <p:nvPr>
                <p:ph idx="1"/>
              </p:nvPr>
            </p:nvSpPr>
            <p:spPr>
              <a:blipFill>
                <a:blip r:embed="rId2"/>
                <a:stretch>
                  <a:fillRect l="-1217" t="-2241" r="-638"/>
                </a:stretch>
              </a:blipFill>
            </p:spPr>
            <p:txBody>
              <a:bodyPr/>
              <a:lstStyle/>
              <a:p>
                <a:r>
                  <a:rPr lang="en-NG">
                    <a:noFill/>
                  </a:rPr>
                  <a:t> </a:t>
                </a:r>
              </a:p>
            </p:txBody>
          </p:sp>
        </mc:Fallback>
      </mc:AlternateContent>
    </p:spTree>
    <p:extLst>
      <p:ext uri="{BB962C8B-B14F-4D97-AF65-F5344CB8AC3E}">
        <p14:creationId xmlns:p14="http://schemas.microsoft.com/office/powerpoint/2010/main" val="27566415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05245-8ECB-4D21-8A39-57D5EDF7FACC}"/>
              </a:ext>
            </a:extLst>
          </p:cNvPr>
          <p:cNvSpPr>
            <a:spLocks noGrp="1"/>
          </p:cNvSpPr>
          <p:nvPr>
            <p:ph type="title"/>
          </p:nvPr>
        </p:nvSpPr>
        <p:spPr/>
        <p:txBody>
          <a:bodyPr/>
          <a:lstStyle/>
          <a:p>
            <a:r>
              <a:rPr lang="en-US" dirty="0"/>
              <a:t>Work and energy</a:t>
            </a:r>
            <a:endParaRPr lang="en-N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FF3FB25-E4EB-42C2-A471-6C94DBF52C81}"/>
                  </a:ext>
                </a:extLst>
              </p:cNvPr>
              <p:cNvSpPr>
                <a:spLocks noGrp="1"/>
              </p:cNvSpPr>
              <p:nvPr>
                <p:ph idx="1"/>
              </p:nvPr>
            </p:nvSpPr>
            <p:spPr/>
            <p:txBody>
              <a:bodyPr/>
              <a:lstStyle/>
              <a:p>
                <a:pPr marL="0" indent="0">
                  <a:buNone/>
                </a:pPr>
                <a:r>
                  <a:rPr lang="en-US" dirty="0"/>
                  <a:t>Equation 3 reduces to the Newtonian expression k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oMath>
                </a14:m>
                <a:r>
                  <a:rPr lang="en-US" dirty="0"/>
                  <a:t>m</a:t>
                </a:r>
                <a14:m>
                  <m:oMath xmlns:m="http://schemas.openxmlformats.org/officeDocument/2006/math">
                    <m:sSup>
                      <m:sSupPr>
                        <m:ctrlPr>
                          <a:rPr lang="en-US" i="1" dirty="0" smtClean="0">
                            <a:latin typeface="Cambria Math" panose="02040503050406030204" pitchFamily="18" charset="0"/>
                          </a:rPr>
                        </m:ctrlPr>
                      </m:sSupPr>
                      <m:e>
                        <m:r>
                          <a:rPr lang="en-US" b="0" i="1" dirty="0" smtClean="0">
                            <a:latin typeface="Cambria Math" panose="02040503050406030204" pitchFamily="18" charset="0"/>
                          </a:rPr>
                          <m:t>𝑣</m:t>
                        </m:r>
                      </m:e>
                      <m:sup>
                        <m:r>
                          <a:rPr lang="en-US" b="0" i="1" dirty="0" smtClean="0">
                            <a:latin typeface="Cambria Math" panose="02040503050406030204" pitchFamily="18" charset="0"/>
                          </a:rPr>
                          <m:t>2</m:t>
                        </m:r>
                      </m:sup>
                    </m:sSup>
                  </m:oMath>
                </a14:m>
                <a:endParaRPr lang="en-US" dirty="0"/>
              </a:p>
              <a:p>
                <a:pPr marL="0" indent="0">
                  <a:buNone/>
                </a:pPr>
                <a:r>
                  <a:rPr lang="en-US" dirty="0"/>
                  <a:t>when v is much smaller than c. T o see this, we expand the radical</a:t>
                </a:r>
              </a:p>
              <a:p>
                <a:pPr marL="0" indent="0">
                  <a:buNone/>
                </a:pPr>
                <a:r>
                  <a:rPr lang="en-US" dirty="0"/>
                  <a:t>(</a:t>
                </a:r>
                <a:r>
                  <a:rPr lang="en-US" dirty="0" err="1"/>
                  <a:t>ie</a:t>
                </a:r>
                <a:r>
                  <a:rPr lang="en-US" dirty="0"/>
                  <a:t> the denominator in (3) under the root sign, binomially. We have</a:t>
                </a:r>
              </a:p>
              <a:p>
                <a:pPr marL="0" indent="0">
                  <a:buNone/>
                </a:pPr>
                <a14:m>
                  <m:oMath xmlns:m="http://schemas.openxmlformats.org/officeDocument/2006/math">
                    <m:sSup>
                      <m:sSupPr>
                        <m:ctrlPr>
                          <a:rPr lang="en-NG" i="1" smtClean="0">
                            <a:latin typeface="Cambria Math" panose="02040503050406030204" pitchFamily="18" charset="0"/>
                          </a:rPr>
                        </m:ctrlPr>
                      </m:sSupPr>
                      <m:e>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f>
                              <m:fPr>
                                <m:ctrlPr>
                                  <a:rPr lang="en-US" b="0" i="1" smtClean="0">
                                    <a:latin typeface="Cambria Math" panose="02040503050406030204" pitchFamily="18" charset="0"/>
                                  </a:rPr>
                                </m:ctrlPr>
                              </m:fPr>
                              <m:num>
                                <m:r>
                                  <a:rPr lang="en-US" b="0" i="1" smtClean="0">
                                    <a:latin typeface="Cambria Math" panose="02040503050406030204" pitchFamily="18" charset="0"/>
                                  </a:rPr>
                                  <m:t>𝑣</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den>
                            </m:f>
                          </m:e>
                          <m:sup>
                            <m:r>
                              <a:rPr lang="en-US" b="0" i="1" smtClean="0">
                                <a:latin typeface="Cambria Math" panose="02040503050406030204" pitchFamily="18" charset="0"/>
                              </a:rPr>
                              <m:t>2</m:t>
                            </m:r>
                          </m:sup>
                        </m:sSup>
                        <m:r>
                          <a:rPr lang="en-US" b="0" i="1" smtClean="0">
                            <a:latin typeface="Cambria Math" panose="02040503050406030204" pitchFamily="18" charset="0"/>
                          </a:rPr>
                          <m:t>)</m:t>
                        </m:r>
                      </m:e>
                      <m:sup>
                        <m:r>
                          <a:rPr lang="en-US" b="0" i="1" smtClean="0">
                            <a:latin typeface="Cambria Math" panose="02040503050406030204" pitchFamily="18" charset="0"/>
                          </a:rPr>
                          <m:t>−1/2</m:t>
                        </m:r>
                      </m:sup>
                    </m:sSup>
                    <m:r>
                      <a:rPr lang="en-US" b="0" i="1" smtClean="0">
                        <a:latin typeface="Cambria Math" panose="02040503050406030204" pitchFamily="18" charset="0"/>
                      </a:rPr>
                      <m:t>=  1+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𝑣</m:t>
                            </m:r>
                          </m:e>
                          <m:sup>
                            <m:r>
                              <a:rPr lang="en-US" b="0" i="1" smtClean="0">
                                <a:latin typeface="Cambria Math" panose="02040503050406030204" pitchFamily="18" charset="0"/>
                              </a:rPr>
                              <m:t>2</m:t>
                            </m:r>
                          </m:sup>
                        </m:sSup>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den>
                    </m:f>
                    <m:r>
                      <a:rPr lang="en-US" b="0" i="1" smtClean="0">
                        <a:latin typeface="Cambria Math" panose="02040503050406030204" pitchFamily="18" charset="0"/>
                      </a:rPr>
                      <m:t> +</m:t>
                    </m:r>
                  </m:oMath>
                </a14:m>
                <a:r>
                  <a:rPr lang="en-US" dirty="0"/>
                  <a:t> </a:t>
                </a:r>
                <a14:m>
                  <m:oMath xmlns:m="http://schemas.openxmlformats.org/officeDocument/2006/math">
                    <m:f>
                      <m:fPr>
                        <m:ctrlPr>
                          <a:rPr lang="en-US" i="1" dirty="0" smtClean="0">
                            <a:latin typeface="Cambria Math" panose="02040503050406030204" pitchFamily="18" charset="0"/>
                          </a:rPr>
                        </m:ctrlPr>
                      </m:fPr>
                      <m:num>
                        <m:r>
                          <a:rPr lang="en-US" b="0" i="1" dirty="0" smtClean="0">
                            <a:latin typeface="Cambria Math" panose="02040503050406030204" pitchFamily="18" charset="0"/>
                          </a:rPr>
                          <m:t>3</m:t>
                        </m:r>
                      </m:num>
                      <m:den>
                        <m:r>
                          <a:rPr lang="en-US" b="0" i="1" dirty="0" smtClean="0">
                            <a:latin typeface="Cambria Math" panose="02040503050406030204" pitchFamily="18" charset="0"/>
                          </a:rPr>
                          <m:t>8</m:t>
                        </m:r>
                      </m:den>
                    </m:f>
                    <m:f>
                      <m:fPr>
                        <m:ctrlPr>
                          <a:rPr lang="en-US" i="1" dirty="0" smtClean="0">
                            <a:latin typeface="Cambria Math" panose="02040503050406030204" pitchFamily="18" charset="0"/>
                          </a:rPr>
                        </m:ctrlPr>
                      </m:fPr>
                      <m:num>
                        <m:sSup>
                          <m:sSupPr>
                            <m:ctrlPr>
                              <a:rPr lang="en-US" i="1" dirty="0" smtClean="0">
                                <a:latin typeface="Cambria Math" panose="02040503050406030204" pitchFamily="18" charset="0"/>
                              </a:rPr>
                            </m:ctrlPr>
                          </m:sSupPr>
                          <m:e>
                            <m:r>
                              <a:rPr lang="en-US" b="0" i="1" dirty="0" smtClean="0">
                                <a:latin typeface="Cambria Math" panose="02040503050406030204" pitchFamily="18" charset="0"/>
                              </a:rPr>
                              <m:t>𝑣</m:t>
                            </m:r>
                          </m:e>
                          <m:sup>
                            <m:r>
                              <a:rPr lang="en-US" b="0" i="1" dirty="0" smtClean="0">
                                <a:latin typeface="Cambria Math" panose="02040503050406030204" pitchFamily="18" charset="0"/>
                              </a:rPr>
                              <m:t>4</m:t>
                            </m:r>
                          </m:sup>
                        </m:sSup>
                      </m:num>
                      <m:den>
                        <m:sSup>
                          <m:sSupPr>
                            <m:ctrlPr>
                              <a:rPr lang="en-US" i="1" dirty="0" smtClean="0">
                                <a:latin typeface="Cambria Math" panose="02040503050406030204" pitchFamily="18" charset="0"/>
                              </a:rPr>
                            </m:ctrlPr>
                          </m:sSupPr>
                          <m:e>
                            <m:r>
                              <a:rPr lang="en-US" b="0" i="1" dirty="0" smtClean="0">
                                <a:latin typeface="Cambria Math" panose="02040503050406030204" pitchFamily="18" charset="0"/>
                              </a:rPr>
                              <m:t>𝑐</m:t>
                            </m:r>
                          </m:e>
                          <m:sup>
                            <m:r>
                              <a:rPr lang="en-US" b="0" i="1" dirty="0" smtClean="0">
                                <a:latin typeface="Cambria Math" panose="02040503050406030204" pitchFamily="18" charset="0"/>
                              </a:rPr>
                              <m:t>4</m:t>
                            </m:r>
                          </m:sup>
                        </m:sSup>
                      </m:den>
                    </m:f>
                    <m:r>
                      <a:rPr lang="en-US" b="0" i="1" dirty="0" smtClean="0">
                        <a:latin typeface="Cambria Math" panose="02040503050406030204" pitchFamily="18" charset="0"/>
                      </a:rPr>
                      <m:t>+ </m:t>
                    </m:r>
                    <m:f>
                      <m:fPr>
                        <m:ctrlPr>
                          <a:rPr lang="en-US" b="0" i="1" dirty="0" smtClean="0">
                            <a:latin typeface="Cambria Math" panose="02040503050406030204" pitchFamily="18" charset="0"/>
                          </a:rPr>
                        </m:ctrlPr>
                      </m:fPr>
                      <m:num>
                        <m:r>
                          <a:rPr lang="en-US" b="0" i="1" dirty="0" smtClean="0">
                            <a:latin typeface="Cambria Math" panose="02040503050406030204" pitchFamily="18" charset="0"/>
                          </a:rPr>
                          <m:t>5</m:t>
                        </m:r>
                      </m:num>
                      <m:den>
                        <m:r>
                          <a:rPr lang="en-US" b="0" i="1" dirty="0" smtClean="0">
                            <a:latin typeface="Cambria Math" panose="02040503050406030204" pitchFamily="18" charset="0"/>
                          </a:rPr>
                          <m:t>16</m:t>
                        </m:r>
                      </m:den>
                    </m:f>
                    <m:f>
                      <m:fPr>
                        <m:ctrlPr>
                          <a:rPr lang="en-US" b="0" i="1" dirty="0" smtClean="0">
                            <a:latin typeface="Cambria Math" panose="02040503050406030204" pitchFamily="18" charset="0"/>
                          </a:rPr>
                        </m:ctrlPr>
                      </m:fPr>
                      <m:num>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𝑣</m:t>
                            </m:r>
                          </m:e>
                          <m:sup>
                            <m:r>
                              <a:rPr lang="en-US" b="0" i="1" dirty="0" smtClean="0">
                                <a:latin typeface="Cambria Math" panose="02040503050406030204" pitchFamily="18" charset="0"/>
                              </a:rPr>
                              <m:t>6</m:t>
                            </m:r>
                          </m:sup>
                        </m:sSup>
                      </m:num>
                      <m:den>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𝑐</m:t>
                            </m:r>
                          </m:e>
                          <m:sup>
                            <m:r>
                              <a:rPr lang="en-US" b="0" i="1" dirty="0" smtClean="0">
                                <a:latin typeface="Cambria Math" panose="02040503050406030204" pitchFamily="18" charset="0"/>
                              </a:rPr>
                              <m:t>6</m:t>
                            </m:r>
                          </m:sup>
                        </m:sSup>
                      </m:den>
                    </m:f>
                    <m:r>
                      <a:rPr lang="en-US" b="0" i="1" dirty="0" smtClean="0">
                        <a:latin typeface="Cambria Math" panose="02040503050406030204" pitchFamily="18" charset="0"/>
                      </a:rPr>
                      <m:t> </m:t>
                    </m:r>
                  </m:oMath>
                </a14:m>
                <a:r>
                  <a:rPr lang="en-US" dirty="0"/>
                  <a:t>………………(4)</a:t>
                </a:r>
              </a:p>
              <a:p>
                <a:pPr marL="0" indent="0">
                  <a:buNone/>
                </a:pPr>
                <a:r>
                  <a:rPr lang="en-US" dirty="0"/>
                  <a:t>Hence we write k as</a:t>
                </a:r>
                <a:endParaRPr lang="en-NG" dirty="0"/>
              </a:p>
            </p:txBody>
          </p:sp>
        </mc:Choice>
        <mc:Fallback xmlns="">
          <p:sp>
            <p:nvSpPr>
              <p:cNvPr id="3" name="Content Placeholder 2">
                <a:extLst>
                  <a:ext uri="{FF2B5EF4-FFF2-40B4-BE49-F238E27FC236}">
                    <a16:creationId xmlns:a16="http://schemas.microsoft.com/office/drawing/2014/main" id="{6FF3FB25-E4EB-42C2-A471-6C94DBF52C81}"/>
                  </a:ext>
                </a:extLst>
              </p:cNvPr>
              <p:cNvSpPr>
                <a:spLocks noGrp="1" noRot="1" noChangeAspect="1" noMove="1" noResize="1" noEditPoints="1" noAdjustHandles="1" noChangeArrowheads="1" noChangeShapeType="1" noTextEdit="1"/>
              </p:cNvSpPr>
              <p:nvPr>
                <p:ph idx="1"/>
              </p:nvPr>
            </p:nvSpPr>
            <p:spPr>
              <a:blipFill>
                <a:blip r:embed="rId2"/>
                <a:stretch>
                  <a:fillRect l="-1217" t="-280"/>
                </a:stretch>
              </a:blipFill>
            </p:spPr>
            <p:txBody>
              <a:bodyPr/>
              <a:lstStyle/>
              <a:p>
                <a:r>
                  <a:rPr lang="en-NG">
                    <a:noFill/>
                  </a:rPr>
                  <a:t> </a:t>
                </a:r>
              </a:p>
            </p:txBody>
          </p:sp>
        </mc:Fallback>
      </mc:AlternateContent>
    </p:spTree>
    <p:extLst>
      <p:ext uri="{BB962C8B-B14F-4D97-AF65-F5344CB8AC3E}">
        <p14:creationId xmlns:p14="http://schemas.microsoft.com/office/powerpoint/2010/main" val="36897665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87677C-573D-4933-AE3A-5C5C96DE1521}"/>
              </a:ext>
            </a:extLst>
          </p:cNvPr>
          <p:cNvSpPr>
            <a:spLocks noGrp="1"/>
          </p:cNvSpPr>
          <p:nvPr>
            <p:ph type="title"/>
          </p:nvPr>
        </p:nvSpPr>
        <p:spPr/>
        <p:txBody>
          <a:bodyPr/>
          <a:lstStyle/>
          <a:p>
            <a:r>
              <a:rPr lang="en-US" dirty="0"/>
              <a:t>Work and energy</a:t>
            </a:r>
            <a:endParaRPr lang="en-N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8BDA277-0D72-4D9C-AC6E-C08B7A9072E4}"/>
                  </a:ext>
                </a:extLst>
              </p:cNvPr>
              <p:cNvSpPr>
                <a:spLocks noGrp="1"/>
              </p:cNvSpPr>
              <p:nvPr>
                <p:ph idx="1"/>
              </p:nvPr>
            </p:nvSpPr>
            <p:spPr/>
            <p:txBody>
              <a:bodyPr/>
              <a:lstStyle/>
              <a:p>
                <a:pPr marL="0" indent="0">
                  <a:buNone/>
                </a:pPr>
                <a:r>
                  <a:rPr lang="en-US" dirty="0"/>
                  <a:t>K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𝑚𝑐</m:t>
                        </m:r>
                      </m:e>
                      <m:sup>
                        <m:r>
                          <a:rPr lang="en-US" b="0" i="1" smtClean="0">
                            <a:latin typeface="Cambria Math" panose="02040503050406030204" pitchFamily="18" charset="0"/>
                          </a:rPr>
                          <m:t>2</m:t>
                        </m:r>
                      </m:sup>
                    </m:sSup>
                    <m:r>
                      <a:rPr lang="en-US" b="0" i="1" smtClean="0">
                        <a:latin typeface="Cambria Math" panose="02040503050406030204" pitchFamily="18" charset="0"/>
                      </a:rPr>
                      <m:t>[ 1+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𝑣</m:t>
                            </m:r>
                          </m:e>
                          <m:sup>
                            <m:r>
                              <a:rPr lang="en-US" b="0" i="1" smtClean="0">
                                <a:latin typeface="Cambria Math" panose="02040503050406030204" pitchFamily="18" charset="0"/>
                              </a:rPr>
                              <m:t>2</m:t>
                            </m:r>
                          </m:sup>
                        </m:sSup>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den>
                    </m:f>
                  </m:oMath>
                </a14:m>
                <a:r>
                  <a:rPr lang="en-US" dirty="0"/>
                  <a:t>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8</m:t>
                        </m:r>
                      </m:den>
                    </m:f>
                    <m:f>
                      <m:fPr>
                        <m:ctrlPr>
                          <a:rPr lang="en-US" i="1" smtClean="0">
                            <a:latin typeface="Cambria Math" panose="02040503050406030204" pitchFamily="18" charset="0"/>
                          </a:rPr>
                        </m:ctrlPr>
                      </m:fPr>
                      <m:num>
                        <m:sSup>
                          <m:sSupPr>
                            <m:ctrlPr>
                              <a:rPr lang="en-US" i="1" smtClean="0">
                                <a:latin typeface="Cambria Math" panose="02040503050406030204" pitchFamily="18" charset="0"/>
                              </a:rPr>
                            </m:ctrlPr>
                          </m:sSupPr>
                          <m:e>
                            <m:r>
                              <a:rPr lang="en-US" b="0" i="1" smtClean="0">
                                <a:latin typeface="Cambria Math" panose="02040503050406030204" pitchFamily="18" charset="0"/>
                              </a:rPr>
                              <m:t>𝑣</m:t>
                            </m:r>
                          </m:e>
                          <m:sup>
                            <m:r>
                              <a:rPr lang="en-US" b="0" i="1" smtClean="0">
                                <a:latin typeface="Cambria Math" panose="02040503050406030204" pitchFamily="18" charset="0"/>
                              </a:rPr>
                              <m:t>4</m:t>
                            </m:r>
                          </m:sup>
                        </m:sSup>
                      </m:num>
                      <m:den>
                        <m:sSup>
                          <m:sSupPr>
                            <m:ctrlPr>
                              <a:rPr lang="en-US"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4</m:t>
                            </m:r>
                          </m:sup>
                        </m:sSup>
                      </m:den>
                    </m:f>
                  </m:oMath>
                </a14:m>
                <a:r>
                  <a:rPr lang="en-US" dirty="0"/>
                  <a:t>  …....]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𝑚𝑐</m:t>
                        </m:r>
                      </m:e>
                      <m:sup>
                        <m:r>
                          <a:rPr lang="en-US" b="0" i="1" smtClean="0">
                            <a:latin typeface="Cambria Math" panose="02040503050406030204" pitchFamily="18" charset="0"/>
                          </a:rPr>
                          <m:t>2</m:t>
                        </m:r>
                      </m:sup>
                    </m:sSup>
                  </m:oMath>
                </a14:m>
                <a:r>
                  <a:rPr lang="en-US" dirty="0"/>
                  <a:t>……………..(5)</a:t>
                </a:r>
              </a:p>
              <a:p>
                <a:pPr marL="0" indent="0">
                  <a:buNone/>
                </a:pPr>
                <a:r>
                  <a:rPr lang="en-US" dirty="0"/>
                  <a:t>When v is much smaller than c, all the terms in the series except the first term are negligibly small and almost equal to zero. So we obtain the classical expression,  k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𝑚</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𝑣</m:t>
                        </m:r>
                      </m:e>
                      <m:sup>
                        <m:r>
                          <a:rPr lang="en-US" b="0" i="1" smtClean="0">
                            <a:latin typeface="Cambria Math" panose="02040503050406030204" pitchFamily="18" charset="0"/>
                          </a:rPr>
                          <m:t>2</m:t>
                        </m:r>
                      </m:sup>
                    </m:sSup>
                  </m:oMath>
                </a14:m>
                <a:endParaRPr lang="en-US" dirty="0"/>
              </a:p>
              <a:p>
                <a:pPr marL="0" indent="0">
                  <a:buNone/>
                </a:pPr>
                <a:endParaRPr lang="en-US" dirty="0"/>
              </a:p>
              <a:p>
                <a:pPr marL="0" indent="0">
                  <a:buNone/>
                </a:pPr>
                <a:r>
                  <a:rPr lang="en-US" dirty="0"/>
                  <a:t>The term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𝑚𝑐</m:t>
                        </m:r>
                      </m:e>
                      <m:sup>
                        <m:r>
                          <a:rPr lang="en-US" b="0" i="1" smtClean="0">
                            <a:latin typeface="Cambria Math" panose="02040503050406030204" pitchFamily="18" charset="0"/>
                          </a:rPr>
                          <m:t>2</m:t>
                        </m:r>
                      </m:sup>
                    </m:sSup>
                    <m:r>
                      <a:rPr lang="en-US" b="0" i="1" smtClean="0">
                        <a:latin typeface="Cambria Math" panose="02040503050406030204" pitchFamily="18" charset="0"/>
                      </a:rPr>
                      <m:t> </m:t>
                    </m:r>
                    <m:r>
                      <a:rPr lang="en-US" b="0" i="1" smtClean="0">
                        <a:latin typeface="Cambria Math" panose="02040503050406030204" pitchFamily="18" charset="0"/>
                      </a:rPr>
                      <m:t>𝑖𝑛</m:t>
                    </m:r>
                    <m:r>
                      <a:rPr lang="en-US" b="0" i="1" smtClean="0">
                        <a:latin typeface="Cambria Math" panose="02040503050406030204" pitchFamily="18" charset="0"/>
                      </a:rPr>
                      <m:t> </m:t>
                    </m:r>
                    <m:d>
                      <m:dPr>
                        <m:ctrlPr>
                          <a:rPr lang="en-US" b="0" i="1" smtClean="0">
                            <a:latin typeface="Cambria Math" panose="02040503050406030204" pitchFamily="18" charset="0"/>
                          </a:rPr>
                        </m:ctrlPr>
                      </m:dPr>
                      <m:e>
                        <m:r>
                          <a:rPr lang="en-US" b="0" i="1" smtClean="0">
                            <a:latin typeface="Cambria Math" panose="02040503050406030204" pitchFamily="18" charset="0"/>
                          </a:rPr>
                          <m:t>5</m:t>
                        </m:r>
                      </m:e>
                    </m:d>
                    <m:r>
                      <a:rPr lang="en-US" b="0" i="1" smtClean="0">
                        <a:latin typeface="Cambria Math" panose="02040503050406030204" pitchFamily="18" charset="0"/>
                      </a:rPr>
                      <m:t> </m:t>
                    </m:r>
                  </m:oMath>
                </a14:m>
                <a:r>
                  <a:rPr lang="en-US" dirty="0"/>
                  <a:t> is the rest mass energy of the particle</a:t>
                </a:r>
              </a:p>
              <a:p>
                <a:endParaRPr lang="en-NG" dirty="0"/>
              </a:p>
            </p:txBody>
          </p:sp>
        </mc:Choice>
        <mc:Fallback xmlns="">
          <p:sp>
            <p:nvSpPr>
              <p:cNvPr id="3" name="Content Placeholder 2">
                <a:extLst>
                  <a:ext uri="{FF2B5EF4-FFF2-40B4-BE49-F238E27FC236}">
                    <a16:creationId xmlns:a16="http://schemas.microsoft.com/office/drawing/2014/main" id="{68BDA277-0D72-4D9C-AC6E-C08B7A9072E4}"/>
                  </a:ext>
                </a:extLst>
              </p:cNvPr>
              <p:cNvSpPr>
                <a:spLocks noGrp="1" noRot="1" noChangeAspect="1" noMove="1" noResize="1" noEditPoints="1" noAdjustHandles="1" noChangeArrowheads="1" noChangeShapeType="1" noTextEdit="1"/>
              </p:cNvSpPr>
              <p:nvPr>
                <p:ph idx="1"/>
              </p:nvPr>
            </p:nvSpPr>
            <p:spPr>
              <a:blipFill>
                <a:blip r:embed="rId2"/>
                <a:stretch>
                  <a:fillRect l="-1217"/>
                </a:stretch>
              </a:blipFill>
            </p:spPr>
            <p:txBody>
              <a:bodyPr/>
              <a:lstStyle/>
              <a:p>
                <a:r>
                  <a:rPr lang="en-NG">
                    <a:noFill/>
                  </a:rPr>
                  <a:t> </a:t>
                </a:r>
              </a:p>
            </p:txBody>
          </p:sp>
        </mc:Fallback>
      </mc:AlternateContent>
    </p:spTree>
    <p:extLst>
      <p:ext uri="{BB962C8B-B14F-4D97-AF65-F5344CB8AC3E}">
        <p14:creationId xmlns:p14="http://schemas.microsoft.com/office/powerpoint/2010/main" val="16188497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2D5D5-0138-4C77-AD9E-3465396BDF7D}"/>
              </a:ext>
            </a:extLst>
          </p:cNvPr>
          <p:cNvSpPr>
            <a:spLocks noGrp="1"/>
          </p:cNvSpPr>
          <p:nvPr>
            <p:ph type="title"/>
          </p:nvPr>
        </p:nvSpPr>
        <p:spPr/>
        <p:txBody>
          <a:bodyPr/>
          <a:lstStyle/>
          <a:p>
            <a:r>
              <a:rPr lang="en-US" dirty="0"/>
              <a:t>Work and energy</a:t>
            </a:r>
            <a:endParaRPr lang="en-NG" dirty="0"/>
          </a:p>
        </p:txBody>
      </p:sp>
      <p:sp>
        <p:nvSpPr>
          <p:cNvPr id="3" name="Content Placeholder 2">
            <a:extLst>
              <a:ext uri="{FF2B5EF4-FFF2-40B4-BE49-F238E27FC236}">
                <a16:creationId xmlns:a16="http://schemas.microsoft.com/office/drawing/2014/main" id="{359B4544-3979-42A6-B34A-0ACBEB894C7A}"/>
              </a:ext>
            </a:extLst>
          </p:cNvPr>
          <p:cNvSpPr>
            <a:spLocks noGrp="1"/>
          </p:cNvSpPr>
          <p:nvPr>
            <p:ph idx="1"/>
          </p:nvPr>
        </p:nvSpPr>
        <p:spPr/>
        <p:txBody>
          <a:bodyPr/>
          <a:lstStyle/>
          <a:p>
            <a:pPr marL="0" indent="0">
              <a:buNone/>
            </a:pPr>
            <a:r>
              <a:rPr lang="en-US" dirty="0"/>
              <a:t>In atomic fission, the uranium nucleus undergoes fission such that the mass of the products is less than the mass of the reactants. The mass deficit is converted to energy. This energy can be used to produce steam used to power turbines to produce electricity in nuclear reactors</a:t>
            </a:r>
          </a:p>
          <a:p>
            <a:pPr marL="0" indent="0">
              <a:buNone/>
            </a:pPr>
            <a:endParaRPr lang="en-NG" dirty="0"/>
          </a:p>
        </p:txBody>
      </p:sp>
    </p:spTree>
    <p:extLst>
      <p:ext uri="{BB962C8B-B14F-4D97-AF65-F5344CB8AC3E}">
        <p14:creationId xmlns:p14="http://schemas.microsoft.com/office/powerpoint/2010/main" val="23107330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1FA8E-3CAF-41C5-B4BF-3D67E44D59E3}"/>
              </a:ext>
            </a:extLst>
          </p:cNvPr>
          <p:cNvSpPr>
            <a:spLocks noGrp="1"/>
          </p:cNvSpPr>
          <p:nvPr>
            <p:ph type="title"/>
          </p:nvPr>
        </p:nvSpPr>
        <p:spPr/>
        <p:txBody>
          <a:bodyPr/>
          <a:lstStyle/>
          <a:p>
            <a:r>
              <a:rPr lang="en-US" dirty="0"/>
              <a:t>Total  Energy and rest Energy</a:t>
            </a:r>
            <a:endParaRPr lang="en-N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608A258-F936-4F2F-9AFF-75545A75948C}"/>
                  </a:ext>
                </a:extLst>
              </p:cNvPr>
              <p:cNvSpPr>
                <a:spLocks noGrp="1"/>
              </p:cNvSpPr>
              <p:nvPr>
                <p:ph idx="1"/>
              </p:nvPr>
            </p:nvSpPr>
            <p:spPr/>
            <p:txBody>
              <a:bodyPr/>
              <a:lstStyle/>
              <a:p>
                <a:pPr marL="0" indent="0">
                  <a:buNone/>
                </a:pPr>
                <a:r>
                  <a:rPr lang="en-US" dirty="0"/>
                  <a:t>Equation 3 above is the relativistic kinetic energy. </a:t>
                </a:r>
              </a:p>
              <a:p>
                <a:pPr marL="0" indent="0">
                  <a:buNone/>
                </a:pPr>
                <a:r>
                  <a:rPr lang="en-US" dirty="0"/>
                  <a:t>We have  K =ϒ</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𝑚𝑐</m:t>
                        </m:r>
                      </m:e>
                      <m:sup>
                        <m:r>
                          <a:rPr lang="en-US" b="0" i="1" smtClean="0">
                            <a:latin typeface="Cambria Math" panose="02040503050406030204" pitchFamily="18" charset="0"/>
                          </a:rPr>
                          <m:t>2</m:t>
                        </m:r>
                      </m:sup>
                    </m:sSup>
                    <m:r>
                      <a:rPr lang="en-US" b="0" i="1" smtClean="0">
                        <a:latin typeface="Cambria Math" panose="02040503050406030204" pitchFamily="18" charset="0"/>
                      </a:rPr>
                      <m:t>  −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𝑚𝑐</m:t>
                        </m:r>
                      </m:e>
                      <m:sup>
                        <m:r>
                          <a:rPr lang="en-US" b="0" i="1" smtClean="0">
                            <a:latin typeface="Cambria Math" panose="02040503050406030204" pitchFamily="18" charset="0"/>
                          </a:rPr>
                          <m:t>2</m:t>
                        </m:r>
                      </m:sup>
                    </m:sSup>
                  </m:oMath>
                </a14:m>
                <a:r>
                  <a:rPr lang="en-US" dirty="0"/>
                  <a:t>…………………………….(7)</a:t>
                </a:r>
              </a:p>
              <a:p>
                <a:pPr marL="0" indent="0">
                  <a:buNone/>
                </a:pPr>
                <a:endParaRPr lang="en-US" dirty="0"/>
              </a:p>
              <a:p>
                <a:pPr marL="0" indent="0">
                  <a:buNone/>
                </a:pPr>
                <a:r>
                  <a:rPr lang="en-US" dirty="0"/>
                  <a:t>=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𝑚𝑐</m:t>
                        </m:r>
                      </m:e>
                      <m:sup>
                        <m:r>
                          <a:rPr lang="en-US" b="0" i="1" smtClean="0">
                            <a:latin typeface="Cambria Math" panose="02040503050406030204" pitchFamily="18" charset="0"/>
                          </a:rPr>
                          <m:t>2</m:t>
                        </m:r>
                      </m:sup>
                    </m:sSup>
                    <m:r>
                      <a:rPr lang="en-US" b="0" i="1" smtClean="0">
                        <a:latin typeface="Cambria Math" panose="02040503050406030204" pitchFamily="18" charset="0"/>
                      </a:rPr>
                      <m:t>(</m:t>
                    </m:r>
                    <m:r>
                      <m:rPr>
                        <m:sty m:val="p"/>
                      </m:rPr>
                      <a:rPr lang="el-GR" b="0" i="1" smtClean="0">
                        <a:latin typeface="Cambria Math" panose="02040503050406030204" pitchFamily="18" charset="0"/>
                      </a:rPr>
                      <m:t>ϒ</m:t>
                    </m:r>
                  </m:oMath>
                </a14:m>
                <a:r>
                  <a:rPr lang="en-US" dirty="0"/>
                  <a:t> – 1)……………………………………………………(8)</a:t>
                </a:r>
              </a:p>
              <a:p>
                <a:pPr marL="0" indent="0">
                  <a:buNone/>
                </a:pPr>
                <a:endParaRPr lang="en-US" dirty="0"/>
              </a:p>
              <a:p>
                <a:pPr marL="0" indent="0">
                  <a:buNone/>
                </a:pPr>
                <a:r>
                  <a:rPr lang="en-US" dirty="0"/>
                  <a:t>ϒ</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𝑚𝑐</m:t>
                        </m:r>
                      </m:e>
                      <m:sup>
                        <m:r>
                          <a:rPr lang="en-US" b="0" i="1" smtClean="0">
                            <a:latin typeface="Cambria Math" panose="02040503050406030204" pitchFamily="18" charset="0"/>
                          </a:rPr>
                          <m:t>2</m:t>
                        </m:r>
                      </m:sup>
                    </m:sSup>
                    <m:r>
                      <a:rPr lang="en-US" b="0" i="1" smtClean="0">
                        <a:latin typeface="Cambria Math" panose="02040503050406030204" pitchFamily="18" charset="0"/>
                      </a:rPr>
                      <m:t>  =   </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𝑚𝑐</m:t>
                            </m:r>
                          </m:e>
                          <m:sup>
                            <m:r>
                              <a:rPr lang="en-US" b="0" i="1" smtClean="0">
                                <a:latin typeface="Cambria Math" panose="02040503050406030204" pitchFamily="18" charset="0"/>
                              </a:rPr>
                              <m:t>2</m:t>
                            </m:r>
                          </m:sup>
                        </m:sSup>
                      </m:num>
                      <m:den>
                        <m:r>
                          <a:rPr lang="en-US" b="0" i="1" smtClean="0">
                            <a:latin typeface="Cambria Math" panose="02040503050406030204" pitchFamily="18" charset="0"/>
                            <a:ea typeface="Cambria Math" panose="02040503050406030204" pitchFamily="18" charset="0"/>
                          </a:rPr>
                          <m:t>√( 1 − </m:t>
                        </m:r>
                        <m:f>
                          <m:fPr>
                            <m:ctrlPr>
                              <a:rPr lang="en-US" b="0" i="1" smtClean="0">
                                <a:latin typeface="Cambria Math" panose="02040503050406030204" pitchFamily="18" charset="0"/>
                                <a:ea typeface="Cambria Math" panose="02040503050406030204" pitchFamily="18" charset="0"/>
                              </a:rPr>
                            </m:ctrlPr>
                          </m:fPr>
                          <m:num>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𝑢</m:t>
                                </m:r>
                              </m:e>
                              <m:sup>
                                <m:r>
                                  <a:rPr lang="en-US" b="0" i="1" smtClean="0">
                                    <a:latin typeface="Cambria Math" panose="02040503050406030204" pitchFamily="18" charset="0"/>
                                    <a:ea typeface="Cambria Math" panose="02040503050406030204" pitchFamily="18" charset="0"/>
                                  </a:rPr>
                                  <m:t>2</m:t>
                                </m:r>
                              </m:sup>
                            </m:sSup>
                          </m:num>
                          <m:den>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𝑐</m:t>
                                </m:r>
                              </m:e>
                              <m:sup>
                                <m:r>
                                  <a:rPr lang="en-US" b="0" i="1" smtClean="0">
                                    <a:latin typeface="Cambria Math" panose="02040503050406030204" pitchFamily="18" charset="0"/>
                                    <a:ea typeface="Cambria Math" panose="02040503050406030204" pitchFamily="18" charset="0"/>
                                  </a:rPr>
                                  <m:t>2</m:t>
                                </m:r>
                              </m:sup>
                            </m:sSup>
                          </m:den>
                        </m:f>
                        <m:r>
                          <a:rPr lang="en-US" b="0" i="1" smtClean="0">
                            <a:latin typeface="Cambria Math" panose="02040503050406030204" pitchFamily="18" charset="0"/>
                            <a:ea typeface="Cambria Math" panose="02040503050406030204" pitchFamily="18" charset="0"/>
                          </a:rPr>
                          <m:t>)</m:t>
                        </m:r>
                      </m:den>
                    </m:f>
                    <m:r>
                      <a:rPr lang="en-US" b="0" i="1" smtClean="0">
                        <a:latin typeface="Cambria Math" panose="02040503050406030204" pitchFamily="18" charset="0"/>
                      </a:rPr>
                      <m:t>=    </m:t>
                    </m:r>
                    <m:r>
                      <a:rPr lang="en-US" b="0" i="1" smtClean="0">
                        <a:latin typeface="Cambria Math" panose="02040503050406030204" pitchFamily="18" charset="0"/>
                      </a:rPr>
                      <m:t>𝐾</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𝑚𝑐</m:t>
                        </m:r>
                      </m:e>
                      <m:sup>
                        <m:r>
                          <a:rPr lang="en-US" b="0" i="1" smtClean="0">
                            <a:latin typeface="Cambria Math" panose="02040503050406030204" pitchFamily="18" charset="0"/>
                          </a:rPr>
                          <m:t>2</m:t>
                        </m:r>
                      </m:sup>
                    </m:sSup>
                  </m:oMath>
                </a14:m>
                <a:r>
                  <a:rPr lang="en-US" dirty="0"/>
                  <a:t>………………….(9)</a:t>
                </a:r>
                <a:endParaRPr lang="en-NG" dirty="0"/>
              </a:p>
            </p:txBody>
          </p:sp>
        </mc:Choice>
        <mc:Fallback xmlns="">
          <p:sp>
            <p:nvSpPr>
              <p:cNvPr id="3" name="Content Placeholder 2">
                <a:extLst>
                  <a:ext uri="{FF2B5EF4-FFF2-40B4-BE49-F238E27FC236}">
                    <a16:creationId xmlns:a16="http://schemas.microsoft.com/office/drawing/2014/main" id="{0608A258-F936-4F2F-9AFF-75545A75948C}"/>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NG">
                    <a:noFill/>
                  </a:rPr>
                  <a:t> </a:t>
                </a:r>
              </a:p>
            </p:txBody>
          </p:sp>
        </mc:Fallback>
      </mc:AlternateContent>
    </p:spTree>
    <p:extLst>
      <p:ext uri="{BB962C8B-B14F-4D97-AF65-F5344CB8AC3E}">
        <p14:creationId xmlns:p14="http://schemas.microsoft.com/office/powerpoint/2010/main" val="16046767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DFFAA-8215-4D6E-97EC-C4990A2A3FD6}"/>
              </a:ext>
            </a:extLst>
          </p:cNvPr>
          <p:cNvSpPr>
            <a:spLocks noGrp="1"/>
          </p:cNvSpPr>
          <p:nvPr>
            <p:ph type="title"/>
          </p:nvPr>
        </p:nvSpPr>
        <p:spPr/>
        <p:txBody>
          <a:bodyPr/>
          <a:lstStyle/>
          <a:p>
            <a:r>
              <a:rPr lang="en-US" dirty="0"/>
              <a:t>Rest energy and total energy</a:t>
            </a:r>
            <a:endParaRPr lang="en-N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E2665D7-8013-4DAB-B1FF-84FB92CE9801}"/>
                  </a:ext>
                </a:extLst>
              </p:cNvPr>
              <p:cNvSpPr>
                <a:spLocks noGrp="1"/>
              </p:cNvSpPr>
              <p:nvPr>
                <p:ph idx="1"/>
              </p:nvPr>
            </p:nvSpPr>
            <p:spPr/>
            <p:txBody>
              <a:bodyPr/>
              <a:lstStyle/>
              <a:p>
                <a:pPr marL="0" indent="0">
                  <a:buNone/>
                </a:pPr>
                <a:r>
                  <a:rPr lang="en-US" dirty="0"/>
                  <a:t>The term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𝑚𝑐</m:t>
                        </m:r>
                      </m:e>
                      <m:sup>
                        <m:r>
                          <a:rPr lang="en-US" b="0" i="1" smtClean="0">
                            <a:latin typeface="Cambria Math" panose="02040503050406030204" pitchFamily="18" charset="0"/>
                          </a:rPr>
                          <m:t>2</m:t>
                        </m:r>
                      </m:sup>
                    </m:sSup>
                    <m:r>
                      <a:rPr lang="en-US" b="0" i="1" smtClean="0">
                        <a:latin typeface="Cambria Math" panose="02040503050406030204" pitchFamily="18" charset="0"/>
                      </a:rPr>
                      <m:t> </m:t>
                    </m:r>
                    <m:r>
                      <a:rPr lang="en-US" b="0" i="1" smtClean="0">
                        <a:latin typeface="Cambria Math" panose="02040503050406030204" pitchFamily="18" charset="0"/>
                      </a:rPr>
                      <m:t>𝑖𝑠</m:t>
                    </m:r>
                    <m:r>
                      <a:rPr lang="en-US" b="0" i="1" smtClean="0">
                        <a:latin typeface="Cambria Math" panose="02040503050406030204" pitchFamily="18" charset="0"/>
                      </a:rPr>
                      <m:t> </m:t>
                    </m:r>
                    <m:r>
                      <a:rPr lang="en-US" b="0" i="1" smtClean="0">
                        <a:latin typeface="Cambria Math" panose="02040503050406030204" pitchFamily="18" charset="0"/>
                      </a:rPr>
                      <m:t>𝑡h𝑒</m:t>
                    </m:r>
                  </m:oMath>
                </a14:m>
                <a:r>
                  <a:rPr lang="en-US" dirty="0"/>
                  <a:t> rest energy of the particle</a:t>
                </a:r>
              </a:p>
              <a:p>
                <a:pPr marL="0" indent="0">
                  <a:buNone/>
                </a:pPr>
                <a:r>
                  <a:rPr lang="en-US" dirty="0"/>
                  <a:t>ϒ</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𝑚𝑐</m:t>
                        </m:r>
                      </m:e>
                      <m:sup>
                        <m:r>
                          <a:rPr lang="en-US" b="0" i="1" smtClean="0">
                            <a:latin typeface="Cambria Math" panose="02040503050406030204" pitchFamily="18" charset="0"/>
                          </a:rPr>
                          <m:t>2</m:t>
                        </m:r>
                      </m:sup>
                    </m:sSup>
                    <m:r>
                      <a:rPr lang="en-US" b="0" i="1" smtClean="0">
                        <a:latin typeface="Cambria Math" panose="02040503050406030204" pitchFamily="18" charset="0"/>
                      </a:rPr>
                      <m:t> </m:t>
                    </m:r>
                    <m:r>
                      <a:rPr lang="en-US" b="0" i="1" smtClean="0">
                        <a:latin typeface="Cambria Math" panose="02040503050406030204" pitchFamily="18" charset="0"/>
                      </a:rPr>
                      <m:t>𝑖𝑠</m:t>
                    </m:r>
                    <m:r>
                      <a:rPr lang="en-US" b="0" i="1" smtClean="0">
                        <a:latin typeface="Cambria Math" panose="02040503050406030204" pitchFamily="18" charset="0"/>
                      </a:rPr>
                      <m:t> </m:t>
                    </m:r>
                    <m:r>
                      <a:rPr lang="en-US" b="0" i="1" smtClean="0">
                        <a:latin typeface="Cambria Math" panose="02040503050406030204" pitchFamily="18" charset="0"/>
                      </a:rPr>
                      <m:t>𝑡h𝑒</m:t>
                    </m:r>
                    <m:r>
                      <a:rPr lang="en-US" b="0" i="1" smtClean="0">
                        <a:latin typeface="Cambria Math" panose="02040503050406030204" pitchFamily="18" charset="0"/>
                      </a:rPr>
                      <m:t> </m:t>
                    </m:r>
                    <m:r>
                      <a:rPr lang="en-US" b="0" i="1" smtClean="0">
                        <a:latin typeface="Cambria Math" panose="02040503050406030204" pitchFamily="18" charset="0"/>
                      </a:rPr>
                      <m:t>𝑡𝑜𝑡𝑎𝑙</m:t>
                    </m:r>
                    <m:r>
                      <a:rPr lang="en-US" b="0" i="1" smtClean="0">
                        <a:latin typeface="Cambria Math" panose="02040503050406030204" pitchFamily="18" charset="0"/>
                      </a:rPr>
                      <m:t> </m:t>
                    </m:r>
                    <m:r>
                      <a:rPr lang="en-US" b="0" i="1" smtClean="0">
                        <a:latin typeface="Cambria Math" panose="02040503050406030204" pitchFamily="18" charset="0"/>
                      </a:rPr>
                      <m:t>𝑒𝑛𝑒𝑟𝑔𝑦</m:t>
                    </m:r>
                  </m:oMath>
                </a14:m>
                <a:r>
                  <a:rPr lang="en-US" dirty="0"/>
                  <a:t> of the particle . It is denoted by E.</a:t>
                </a:r>
              </a:p>
              <a:p>
                <a:pPr marL="0" indent="0">
                  <a:buNone/>
                </a:pPr>
                <a:r>
                  <a:rPr lang="en-US" dirty="0"/>
                  <a:t>K  is the relativistic kinetic energy. The rest energy is denoted by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𝑂</m:t>
                        </m:r>
                      </m:sub>
                    </m:sSub>
                    <m:r>
                      <a:rPr lang="en-US" b="0" i="1" smtClean="0">
                        <a:latin typeface="Cambria Math" panose="02040503050406030204" pitchFamily="18" charset="0"/>
                      </a:rPr>
                      <m:t>.</m:t>
                    </m:r>
                  </m:oMath>
                </a14:m>
                <a:endParaRPr lang="en-US" b="0" dirty="0"/>
              </a:p>
              <a:p>
                <a:pPr marL="0" indent="0">
                  <a:buNone/>
                </a:pPr>
                <a:r>
                  <a:rPr lang="en-US" dirty="0"/>
                  <a:t>In conclusion , total energy = ϒ</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𝑚𝑐</m:t>
                        </m:r>
                      </m:e>
                      <m:sup>
                        <m:r>
                          <a:rPr lang="en-US" b="0" i="1" smtClean="0">
                            <a:latin typeface="Cambria Math" panose="02040503050406030204" pitchFamily="18" charset="0"/>
                          </a:rPr>
                          <m:t>2</m:t>
                        </m:r>
                      </m:sup>
                    </m:sSup>
                    <m:r>
                      <a:rPr lang="en-US" b="0" i="1" smtClean="0">
                        <a:latin typeface="Cambria Math" panose="02040503050406030204" pitchFamily="18" charset="0"/>
                      </a:rPr>
                      <m:t> = </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𝑚𝑐</m:t>
                            </m:r>
                          </m:e>
                          <m:sup>
                            <m:r>
                              <a:rPr lang="en-US" b="0" i="1" smtClean="0">
                                <a:latin typeface="Cambria Math" panose="02040503050406030204" pitchFamily="18" charset="0"/>
                              </a:rPr>
                              <m:t>2</m:t>
                            </m:r>
                          </m:sup>
                        </m:sSup>
                      </m:num>
                      <m:den>
                        <m:r>
                          <a:rPr lang="en-US" b="0" i="1" smtClean="0">
                            <a:latin typeface="Cambria Math" panose="02040503050406030204" pitchFamily="18" charset="0"/>
                            <a:ea typeface="Cambria Math" panose="02040503050406030204" pitchFamily="18" charset="0"/>
                          </a:rPr>
                          <m:t>√(1 − </m:t>
                        </m:r>
                        <m:f>
                          <m:fPr>
                            <m:ctrlPr>
                              <a:rPr lang="en-US" b="0" i="1" smtClean="0">
                                <a:latin typeface="Cambria Math" panose="02040503050406030204" pitchFamily="18" charset="0"/>
                                <a:ea typeface="Cambria Math" panose="02040503050406030204" pitchFamily="18" charset="0"/>
                              </a:rPr>
                            </m:ctrlPr>
                          </m:fPr>
                          <m:num>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𝑢</m:t>
                                </m:r>
                              </m:e>
                              <m:sup>
                                <m:r>
                                  <a:rPr lang="en-US" b="0" i="1" smtClean="0">
                                    <a:latin typeface="Cambria Math" panose="02040503050406030204" pitchFamily="18" charset="0"/>
                                    <a:ea typeface="Cambria Math" panose="02040503050406030204" pitchFamily="18" charset="0"/>
                                  </a:rPr>
                                  <m:t>2</m:t>
                                </m:r>
                              </m:sup>
                            </m:sSup>
                          </m:num>
                          <m:den>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𝑐</m:t>
                                </m:r>
                              </m:e>
                              <m:sup>
                                <m:r>
                                  <a:rPr lang="en-US" b="0" i="1" smtClean="0">
                                    <a:latin typeface="Cambria Math" panose="02040503050406030204" pitchFamily="18" charset="0"/>
                                    <a:ea typeface="Cambria Math" panose="02040503050406030204" pitchFamily="18" charset="0"/>
                                  </a:rPr>
                                  <m:t>2</m:t>
                                </m:r>
                              </m:sup>
                            </m:sSup>
                          </m:den>
                        </m:f>
                        <m:r>
                          <a:rPr lang="en-US" b="0" i="1" smtClean="0">
                            <a:latin typeface="Cambria Math" panose="02040503050406030204" pitchFamily="18" charset="0"/>
                            <a:ea typeface="Cambria Math" panose="02040503050406030204" pitchFamily="18" charset="0"/>
                          </a:rPr>
                          <m:t>)</m:t>
                        </m:r>
                      </m:den>
                    </m:f>
                    <m:r>
                      <a:rPr lang="en-US" b="0" i="1" smtClean="0">
                        <a:latin typeface="Cambria Math" panose="02040503050406030204" pitchFamily="18" charset="0"/>
                      </a:rPr>
                      <m:t> </m:t>
                    </m:r>
                  </m:oMath>
                </a14:m>
                <a:r>
                  <a:rPr lang="en-US" b="0" dirty="0"/>
                  <a:t> =  </a:t>
                </a:r>
                <a14:m>
                  <m:oMath xmlns:m="http://schemas.openxmlformats.org/officeDocument/2006/math">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𝑜</m:t>
                            </m:r>
                          </m:sub>
                        </m:sSub>
                      </m:num>
                      <m:den>
                        <m:r>
                          <a:rPr lang="en-US" b="0" i="1" smtClean="0">
                            <a:latin typeface="Cambria Math" panose="02040503050406030204" pitchFamily="18" charset="0"/>
                            <a:ea typeface="Cambria Math" panose="02040503050406030204" pitchFamily="18" charset="0"/>
                          </a:rPr>
                          <m:t>√( 1 − </m:t>
                        </m:r>
                        <m:f>
                          <m:fPr>
                            <m:ctrlPr>
                              <a:rPr lang="en-US" b="0" i="1" smtClean="0">
                                <a:latin typeface="Cambria Math" panose="02040503050406030204" pitchFamily="18" charset="0"/>
                                <a:ea typeface="Cambria Math" panose="02040503050406030204" pitchFamily="18" charset="0"/>
                              </a:rPr>
                            </m:ctrlPr>
                          </m:fPr>
                          <m:num>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𝑢</m:t>
                                </m:r>
                              </m:e>
                              <m:sup>
                                <m:r>
                                  <a:rPr lang="en-US" b="0" i="1" smtClean="0">
                                    <a:latin typeface="Cambria Math" panose="02040503050406030204" pitchFamily="18" charset="0"/>
                                    <a:ea typeface="Cambria Math" panose="02040503050406030204" pitchFamily="18" charset="0"/>
                                  </a:rPr>
                                  <m:t>2</m:t>
                                </m:r>
                              </m:sup>
                            </m:sSup>
                          </m:num>
                          <m:den>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𝑐</m:t>
                                </m:r>
                              </m:e>
                              <m:sup>
                                <m:r>
                                  <a:rPr lang="en-US" b="0" i="1" smtClean="0">
                                    <a:latin typeface="Cambria Math" panose="02040503050406030204" pitchFamily="18" charset="0"/>
                                    <a:ea typeface="Cambria Math" panose="02040503050406030204" pitchFamily="18" charset="0"/>
                                  </a:rPr>
                                  <m:t>2</m:t>
                                </m:r>
                              </m:sup>
                            </m:sSup>
                          </m:den>
                        </m:f>
                        <m:r>
                          <a:rPr lang="en-US" b="0" i="1" smtClean="0">
                            <a:latin typeface="Cambria Math" panose="02040503050406030204" pitchFamily="18" charset="0"/>
                            <a:ea typeface="Cambria Math" panose="02040503050406030204" pitchFamily="18" charset="0"/>
                          </a:rPr>
                          <m:t>)</m:t>
                        </m:r>
                      </m:den>
                    </m:f>
                    <m:r>
                      <a:rPr lang="en-US" b="0" i="1" smtClean="0">
                        <a:latin typeface="Cambria Math" panose="02040503050406030204" pitchFamily="18" charset="0"/>
                      </a:rPr>
                      <m:t> </m:t>
                    </m:r>
                  </m:oMath>
                </a14:m>
                <a:r>
                  <a:rPr lang="en-US" b="0" dirty="0"/>
                  <a:t> = </a:t>
                </a:r>
              </a:p>
              <a:p>
                <a:pPr marL="0" indent="0">
                  <a:buNone/>
                </a:pPr>
                <a:r>
                  <a:rPr lang="en-US" b="0" dirty="0"/>
                  <a:t>K +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𝑜</m:t>
                        </m:r>
                      </m:sub>
                    </m:sSub>
                    <m:r>
                      <a:rPr lang="en-US" b="0" i="1" smtClean="0">
                        <a:latin typeface="Cambria Math" panose="02040503050406030204" pitchFamily="18" charset="0"/>
                      </a:rPr>
                      <m:t>………………………………………………………………….(10)</m:t>
                    </m:r>
                  </m:oMath>
                </a14:m>
                <a:endParaRPr lang="en-US" b="0" dirty="0"/>
              </a:p>
              <a:p>
                <a:pPr marL="0" indent="0">
                  <a:buNone/>
                </a:pPr>
                <a:endParaRPr lang="en-NG" dirty="0"/>
              </a:p>
            </p:txBody>
          </p:sp>
        </mc:Choice>
        <mc:Fallback xmlns="">
          <p:sp>
            <p:nvSpPr>
              <p:cNvPr id="3" name="Content Placeholder 2">
                <a:extLst>
                  <a:ext uri="{FF2B5EF4-FFF2-40B4-BE49-F238E27FC236}">
                    <a16:creationId xmlns:a16="http://schemas.microsoft.com/office/drawing/2014/main" id="{0E2665D7-8013-4DAB-B1FF-84FB92CE9801}"/>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NG">
                    <a:noFill/>
                  </a:rPr>
                  <a:t> </a:t>
                </a:r>
              </a:p>
            </p:txBody>
          </p:sp>
        </mc:Fallback>
      </mc:AlternateContent>
    </p:spTree>
    <p:extLst>
      <p:ext uri="{BB962C8B-B14F-4D97-AF65-F5344CB8AC3E}">
        <p14:creationId xmlns:p14="http://schemas.microsoft.com/office/powerpoint/2010/main" val="27222311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48224-9639-436F-98D8-FCE372A4017E}"/>
              </a:ext>
            </a:extLst>
          </p:cNvPr>
          <p:cNvSpPr>
            <a:spLocks noGrp="1"/>
          </p:cNvSpPr>
          <p:nvPr>
            <p:ph type="title"/>
          </p:nvPr>
        </p:nvSpPr>
        <p:spPr/>
        <p:txBody>
          <a:bodyPr/>
          <a:lstStyle/>
          <a:p>
            <a:r>
              <a:rPr lang="en-US" dirty="0"/>
              <a:t>Worked example</a:t>
            </a:r>
            <a:endParaRPr lang="en-N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F4E6C44-5998-4607-A957-BF2F429338D6}"/>
                  </a:ext>
                </a:extLst>
              </p:cNvPr>
              <p:cNvSpPr>
                <a:spLocks noGrp="1"/>
              </p:cNvSpPr>
              <p:nvPr>
                <p:ph idx="1"/>
              </p:nvPr>
            </p:nvSpPr>
            <p:spPr/>
            <p:txBody>
              <a:bodyPr/>
              <a:lstStyle/>
              <a:p>
                <a:pPr marL="0" indent="0">
                  <a:buNone/>
                </a:pPr>
                <a:r>
                  <a:rPr lang="en-US" dirty="0"/>
                  <a:t>Protons  from  a space ship have mass 938.27MeV/</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a14:m>
                <a:endParaRPr lang="en-US" b="0" dirty="0"/>
              </a:p>
              <a:p>
                <a:pPr marL="0" indent="0">
                  <a:buNone/>
                </a:pPr>
                <a:r>
                  <a:rPr lang="en-US" dirty="0"/>
                  <a:t>Calculate the following:</a:t>
                </a:r>
              </a:p>
              <a:p>
                <a:pPr marL="514350" indent="-514350">
                  <a:buAutoNum type="alphaLcParenBoth"/>
                </a:pPr>
                <a:r>
                  <a:rPr lang="en-US" dirty="0"/>
                  <a:t>The rest energy</a:t>
                </a:r>
              </a:p>
              <a:p>
                <a:pPr marL="514350" indent="-514350">
                  <a:buAutoNum type="alphaLcParenBoth"/>
                </a:pPr>
                <a:r>
                  <a:rPr lang="en-US" dirty="0"/>
                  <a:t>It’ relativistic kinetic energy if the velocity is 0.9c</a:t>
                </a:r>
              </a:p>
              <a:p>
                <a:pPr marL="514350" indent="-514350">
                  <a:buAutoNum type="alphaLcParenBoth"/>
                </a:pPr>
                <a:r>
                  <a:rPr lang="en-US" dirty="0"/>
                  <a:t>The total energy</a:t>
                </a:r>
                <a:endParaRPr lang="en-NG" dirty="0"/>
              </a:p>
            </p:txBody>
          </p:sp>
        </mc:Choice>
        <mc:Fallback xmlns="">
          <p:sp>
            <p:nvSpPr>
              <p:cNvPr id="3" name="Content Placeholder 2">
                <a:extLst>
                  <a:ext uri="{FF2B5EF4-FFF2-40B4-BE49-F238E27FC236}">
                    <a16:creationId xmlns:a16="http://schemas.microsoft.com/office/drawing/2014/main" id="{DF4E6C44-5998-4607-A957-BF2F429338D6}"/>
                  </a:ext>
                </a:extLst>
              </p:cNvPr>
              <p:cNvSpPr>
                <a:spLocks noGrp="1" noRot="1" noChangeAspect="1" noMove="1" noResize="1" noEditPoints="1" noAdjustHandles="1" noChangeArrowheads="1" noChangeShapeType="1" noTextEdit="1"/>
              </p:cNvSpPr>
              <p:nvPr>
                <p:ph idx="1"/>
              </p:nvPr>
            </p:nvSpPr>
            <p:spPr>
              <a:blipFill>
                <a:blip r:embed="rId2"/>
                <a:stretch>
                  <a:fillRect l="-1217" t="-2241"/>
                </a:stretch>
              </a:blipFill>
            </p:spPr>
            <p:txBody>
              <a:bodyPr/>
              <a:lstStyle/>
              <a:p>
                <a:r>
                  <a:rPr lang="en-NG">
                    <a:noFill/>
                  </a:rPr>
                  <a:t> </a:t>
                </a:r>
              </a:p>
            </p:txBody>
          </p:sp>
        </mc:Fallback>
      </mc:AlternateContent>
    </p:spTree>
    <p:extLst>
      <p:ext uri="{BB962C8B-B14F-4D97-AF65-F5344CB8AC3E}">
        <p14:creationId xmlns:p14="http://schemas.microsoft.com/office/powerpoint/2010/main" val="14719845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7FDB3-ACE1-4A05-9A69-84A883C79D39}"/>
              </a:ext>
            </a:extLst>
          </p:cNvPr>
          <p:cNvSpPr>
            <a:spLocks noGrp="1"/>
          </p:cNvSpPr>
          <p:nvPr>
            <p:ph type="title"/>
          </p:nvPr>
        </p:nvSpPr>
        <p:spPr/>
        <p:txBody>
          <a:bodyPr/>
          <a:lstStyle/>
          <a:p>
            <a:r>
              <a:rPr lang="en-US" dirty="0"/>
              <a:t>Solution </a:t>
            </a:r>
            <a:endParaRPr lang="en-N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B79D6EE-17E9-4D00-9B50-A44628F921F9}"/>
                  </a:ext>
                </a:extLst>
              </p:cNvPr>
              <p:cNvSpPr>
                <a:spLocks noGrp="1"/>
              </p:cNvSpPr>
              <p:nvPr>
                <p:ph idx="1"/>
              </p:nvPr>
            </p:nvSpPr>
            <p:spPr/>
            <p:txBody>
              <a:bodyPr/>
              <a:lstStyle/>
              <a:p>
                <a:pPr marL="514350" indent="-514350">
                  <a:buAutoNum type="alphaLcParenBoth"/>
                </a:pPr>
                <a:r>
                  <a:rPr lang="en-US" dirty="0"/>
                  <a:t>Rest energy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𝑚𝑐</m:t>
                        </m:r>
                      </m:e>
                      <m:sup>
                        <m:r>
                          <a:rPr lang="en-US" b="0" i="1" smtClean="0">
                            <a:latin typeface="Cambria Math" panose="02040503050406030204" pitchFamily="18" charset="0"/>
                          </a:rPr>
                          <m:t>2</m:t>
                        </m:r>
                      </m:sup>
                    </m:sSup>
                    <m:r>
                      <a:rPr lang="en-US" b="0" i="1" smtClean="0">
                        <a:latin typeface="Cambria Math" panose="02040503050406030204" pitchFamily="18" charset="0"/>
                      </a:rPr>
                      <m:t>   </m:t>
                    </m:r>
                  </m:oMath>
                </a14:m>
                <a:r>
                  <a:rPr lang="en-US" dirty="0"/>
                  <a:t>where m is the mass of the particle</a:t>
                </a:r>
              </a:p>
              <a:p>
                <a:pPr marL="0" indent="0">
                  <a:buNone/>
                </a:pPr>
                <a:r>
                  <a:rPr lang="en-US" dirty="0"/>
                  <a:t>Here m=938.27MeV/</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oMath>
                </a14:m>
                <a:endParaRPr lang="en-US" dirty="0"/>
              </a:p>
              <a:p>
                <a:pPr marL="0" indent="0">
                  <a:buNone/>
                </a:pPr>
                <a:r>
                  <a:rPr lang="en-US" dirty="0"/>
                  <a:t>Hence  rest energy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938.27</m:t>
                        </m:r>
                        <m:r>
                          <a:rPr lang="en-US" b="0" i="1" smtClean="0">
                            <a:latin typeface="Cambria Math" panose="02040503050406030204" pitchFamily="18" charset="0"/>
                          </a:rPr>
                          <m:t>𝑀𝑒𝑉</m:t>
                        </m:r>
                      </m:num>
                      <m:den>
                        <m:sSup>
                          <m:sSupPr>
                            <m:ctrlPr>
                              <a:rPr lang="en-US"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den>
                    </m:f>
                  </m:oMath>
                </a14:m>
                <a:r>
                  <a:rPr lang="en-US" dirty="0"/>
                  <a:t> x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r>
                      <a:rPr lang="en-US" b="0" i="1" smtClean="0">
                        <a:latin typeface="Cambria Math" panose="02040503050406030204" pitchFamily="18" charset="0"/>
                      </a:rPr>
                      <m:t>=938.27</m:t>
                    </m:r>
                    <m:r>
                      <a:rPr lang="en-US" b="0" i="1" smtClean="0">
                        <a:latin typeface="Cambria Math" panose="02040503050406030204" pitchFamily="18" charset="0"/>
                      </a:rPr>
                      <m:t>𝑀𝑒𝑉</m:t>
                    </m:r>
                  </m:oMath>
                </a14:m>
                <a:endParaRPr lang="en-NG" dirty="0"/>
              </a:p>
            </p:txBody>
          </p:sp>
        </mc:Choice>
        <mc:Fallback xmlns="">
          <p:sp>
            <p:nvSpPr>
              <p:cNvPr id="3" name="Content Placeholder 2">
                <a:extLst>
                  <a:ext uri="{FF2B5EF4-FFF2-40B4-BE49-F238E27FC236}">
                    <a16:creationId xmlns:a16="http://schemas.microsoft.com/office/drawing/2014/main" id="{6B79D6EE-17E9-4D00-9B50-A44628F921F9}"/>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NG">
                    <a:noFill/>
                  </a:rPr>
                  <a:t> </a:t>
                </a:r>
              </a:p>
            </p:txBody>
          </p:sp>
        </mc:Fallback>
      </mc:AlternateContent>
    </p:spTree>
    <p:extLst>
      <p:ext uri="{BB962C8B-B14F-4D97-AF65-F5344CB8AC3E}">
        <p14:creationId xmlns:p14="http://schemas.microsoft.com/office/powerpoint/2010/main" val="23515647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C6AEF-8944-4A9B-9BCA-7AA3DBD51200}"/>
              </a:ext>
            </a:extLst>
          </p:cNvPr>
          <p:cNvSpPr>
            <a:spLocks noGrp="1"/>
          </p:cNvSpPr>
          <p:nvPr>
            <p:ph type="title"/>
          </p:nvPr>
        </p:nvSpPr>
        <p:spPr/>
        <p:txBody>
          <a:bodyPr/>
          <a:lstStyle/>
          <a:p>
            <a:r>
              <a:rPr lang="en-US" dirty="0"/>
              <a:t>Solution to worked example</a:t>
            </a:r>
            <a:endParaRPr lang="en-NG"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4C382A6-A557-4CD1-9C84-59FE85ADC8E9}"/>
                  </a:ext>
                </a:extLst>
              </p:cNvPr>
              <p:cNvSpPr>
                <a:spLocks noGrp="1"/>
              </p:cNvSpPr>
              <p:nvPr>
                <p:ph idx="1"/>
              </p:nvPr>
            </p:nvSpPr>
            <p:spPr/>
            <p:txBody>
              <a:bodyPr/>
              <a:lstStyle/>
              <a:p>
                <a:pPr marL="514350" indent="-514350">
                  <a:buAutoNum type="alphaLcParenBoth" startAt="2"/>
                </a:pPr>
                <a:r>
                  <a:rPr lang="en-US" dirty="0"/>
                  <a:t>Relativistic kinetic energy K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𝑚𝑐</m:t>
                        </m:r>
                      </m:e>
                      <m:sup>
                        <m:r>
                          <a:rPr lang="en-US" b="0" i="1" smtClean="0">
                            <a:latin typeface="Cambria Math" panose="02040503050406030204" pitchFamily="18" charset="0"/>
                          </a:rPr>
                          <m:t>2</m:t>
                        </m:r>
                      </m:sup>
                    </m:sSup>
                    <m:r>
                      <a:rPr lang="en-US" b="0" i="1" smtClean="0">
                        <a:latin typeface="Cambria Math" panose="02040503050406030204" pitchFamily="18" charset="0"/>
                      </a:rPr>
                      <m:t>(</m:t>
                    </m:r>
                    <m:r>
                      <m:rPr>
                        <m:sty m:val="p"/>
                      </m:rPr>
                      <a:rPr lang="el-GR" b="0" i="1" smtClean="0">
                        <a:latin typeface="Cambria Math" panose="02040503050406030204" pitchFamily="18" charset="0"/>
                      </a:rPr>
                      <m:t>ϒ</m:t>
                    </m:r>
                  </m:oMath>
                </a14:m>
                <a:r>
                  <a:rPr lang="en-US" dirty="0"/>
                  <a:t> – 1)</a:t>
                </a:r>
              </a:p>
              <a:p>
                <a:pPr marL="0" indent="0">
                  <a:buNone/>
                </a:pPr>
                <a:r>
                  <a:rPr lang="en-US" dirty="0"/>
                  <a:t>ϒ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(1 − </m:t>
                        </m:r>
                        <m:f>
                          <m:fPr>
                            <m:ctrlPr>
                              <a:rPr lang="en-US" b="0" i="1" smtClean="0">
                                <a:latin typeface="Cambria Math" panose="02040503050406030204" pitchFamily="18" charset="0"/>
                                <a:ea typeface="Cambria Math" panose="02040503050406030204" pitchFamily="18" charset="0"/>
                              </a:rPr>
                            </m:ctrlPr>
                          </m:fPr>
                          <m:num>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0.9</m:t>
                                </m:r>
                              </m:e>
                              <m:sup>
                                <m:r>
                                  <a:rPr lang="en-US" b="0" i="1" smtClean="0">
                                    <a:latin typeface="Cambria Math" panose="02040503050406030204" pitchFamily="18" charset="0"/>
                                    <a:ea typeface="Cambria Math" panose="02040503050406030204" pitchFamily="18" charset="0"/>
                                  </a:rPr>
                                  <m:t>2</m:t>
                                </m:r>
                              </m:sup>
                            </m:sSup>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𝑐</m:t>
                                </m:r>
                              </m:e>
                              <m:sup>
                                <m:r>
                                  <a:rPr lang="en-US" b="0" i="1" smtClean="0">
                                    <a:latin typeface="Cambria Math" panose="02040503050406030204" pitchFamily="18" charset="0"/>
                                    <a:ea typeface="Cambria Math" panose="02040503050406030204" pitchFamily="18" charset="0"/>
                                  </a:rPr>
                                  <m:t>2</m:t>
                                </m:r>
                              </m:sup>
                            </m:sSup>
                          </m:num>
                          <m:den>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𝑐</m:t>
                                </m:r>
                              </m:e>
                              <m:sup>
                                <m:r>
                                  <a:rPr lang="en-US" b="0" i="1" smtClean="0">
                                    <a:latin typeface="Cambria Math" panose="02040503050406030204" pitchFamily="18" charset="0"/>
                                    <a:ea typeface="Cambria Math" panose="02040503050406030204" pitchFamily="18" charset="0"/>
                                  </a:rPr>
                                  <m:t>2</m:t>
                                </m:r>
                              </m:sup>
                            </m:sSup>
                          </m:den>
                        </m:f>
                        <m:r>
                          <a:rPr lang="en-US" b="0" i="1" smtClean="0">
                            <a:latin typeface="Cambria Math" panose="02040503050406030204" pitchFamily="18" charset="0"/>
                            <a:ea typeface="Cambria Math" panose="02040503050406030204" pitchFamily="18" charset="0"/>
                          </a:rPr>
                          <m:t>)</m:t>
                        </m:r>
                      </m:den>
                    </m:f>
                    <m:r>
                      <a:rPr lang="en-US" b="0" i="1" smtClean="0">
                        <a:latin typeface="Cambria Math" panose="02040503050406030204" pitchFamily="18" charset="0"/>
                      </a:rPr>
                      <m:t>  =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√( 1 −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0.9</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den>
                    </m:f>
                    <m:r>
                      <a:rPr lang="en-US" b="0" i="1" smtClean="0">
                        <a:latin typeface="Cambria Math" panose="02040503050406030204" pitchFamily="18" charset="0"/>
                      </a:rPr>
                      <m:t>=2.2941</m:t>
                    </m:r>
                  </m:oMath>
                </a14:m>
                <a:endParaRPr lang="en-US" b="0" dirty="0"/>
              </a:p>
              <a:p>
                <a:pPr marL="0" indent="0">
                  <a:buNone/>
                </a:pPr>
                <a:r>
                  <a:rPr lang="el-GR" dirty="0"/>
                  <a:t>ϒ</a:t>
                </a:r>
                <a:r>
                  <a:rPr lang="en-US" dirty="0"/>
                  <a:t> – 1 = 1.2941.</a:t>
                </a:r>
              </a:p>
              <a:p>
                <a:pPr marL="0" indent="0">
                  <a:buNone/>
                </a:pPr>
                <a:r>
                  <a:rPr lang="en-US" dirty="0"/>
                  <a:t>Relativistic kinetic energy = rest energy times (ϒ – 1)</a:t>
                </a:r>
              </a:p>
              <a:p>
                <a:pPr marL="0" indent="0">
                  <a:buNone/>
                </a:pPr>
                <a:r>
                  <a:rPr lang="en-US" dirty="0"/>
                  <a:t>= 938.27 x  1.2941 = 1214.2 MeV</a:t>
                </a:r>
                <a:endParaRPr lang="en-NG" dirty="0"/>
              </a:p>
            </p:txBody>
          </p:sp>
        </mc:Choice>
        <mc:Fallback xmlns="">
          <p:sp>
            <p:nvSpPr>
              <p:cNvPr id="3" name="Content Placeholder 2">
                <a:extLst>
                  <a:ext uri="{FF2B5EF4-FFF2-40B4-BE49-F238E27FC236}">
                    <a16:creationId xmlns:a16="http://schemas.microsoft.com/office/drawing/2014/main" id="{B4C382A6-A557-4CD1-9C84-59FE85ADC8E9}"/>
                  </a:ext>
                </a:extLst>
              </p:cNvPr>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NG">
                    <a:noFill/>
                  </a:rPr>
                  <a:t> </a:t>
                </a:r>
              </a:p>
            </p:txBody>
          </p:sp>
        </mc:Fallback>
      </mc:AlternateContent>
    </p:spTree>
    <p:extLst>
      <p:ext uri="{BB962C8B-B14F-4D97-AF65-F5344CB8AC3E}">
        <p14:creationId xmlns:p14="http://schemas.microsoft.com/office/powerpoint/2010/main" val="15203753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F1BE0-E802-4306-B577-E56828BC6970}"/>
              </a:ext>
            </a:extLst>
          </p:cNvPr>
          <p:cNvSpPr>
            <a:spLocks noGrp="1"/>
          </p:cNvSpPr>
          <p:nvPr>
            <p:ph type="title"/>
          </p:nvPr>
        </p:nvSpPr>
        <p:spPr/>
        <p:txBody>
          <a:bodyPr/>
          <a:lstStyle/>
          <a:p>
            <a:r>
              <a:rPr lang="en-US" dirty="0"/>
              <a:t>Solution to worked example</a:t>
            </a:r>
            <a:endParaRPr lang="en-NG" dirty="0"/>
          </a:p>
        </p:txBody>
      </p:sp>
      <p:sp>
        <p:nvSpPr>
          <p:cNvPr id="3" name="Content Placeholder 2">
            <a:extLst>
              <a:ext uri="{FF2B5EF4-FFF2-40B4-BE49-F238E27FC236}">
                <a16:creationId xmlns:a16="http://schemas.microsoft.com/office/drawing/2014/main" id="{A2044CA1-D6F3-40CD-9777-D7E5D4F85282}"/>
              </a:ext>
            </a:extLst>
          </p:cNvPr>
          <p:cNvSpPr>
            <a:spLocks noGrp="1"/>
          </p:cNvSpPr>
          <p:nvPr>
            <p:ph idx="1"/>
          </p:nvPr>
        </p:nvSpPr>
        <p:spPr/>
        <p:txBody>
          <a:bodyPr/>
          <a:lstStyle/>
          <a:p>
            <a:pPr marL="0" indent="0">
              <a:buNone/>
            </a:pPr>
            <a:r>
              <a:rPr lang="en-US" dirty="0"/>
              <a:t>( c) Total energy = rest energy + kinetic energy</a:t>
            </a:r>
          </a:p>
          <a:p>
            <a:pPr marL="0" indent="0">
              <a:buNone/>
            </a:pPr>
            <a:r>
              <a:rPr lang="en-US" dirty="0"/>
              <a:t>= 1214 + 938.27  = 2152.27MeV</a:t>
            </a:r>
            <a:endParaRPr lang="en-NG" dirty="0"/>
          </a:p>
        </p:txBody>
      </p:sp>
    </p:spTree>
    <p:extLst>
      <p:ext uri="{BB962C8B-B14F-4D97-AF65-F5344CB8AC3E}">
        <p14:creationId xmlns:p14="http://schemas.microsoft.com/office/powerpoint/2010/main" val="24106719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7F3BC-3958-4BAB-9365-D017A426132A}"/>
              </a:ext>
            </a:extLst>
          </p:cNvPr>
          <p:cNvSpPr>
            <a:spLocks noGrp="1"/>
          </p:cNvSpPr>
          <p:nvPr>
            <p:ph type="title"/>
          </p:nvPr>
        </p:nvSpPr>
        <p:spPr/>
        <p:txBody>
          <a:bodyPr/>
          <a:lstStyle/>
          <a:p>
            <a:r>
              <a:rPr lang="en-US" dirty="0"/>
              <a:t>Relativity and Newtonian mechanics</a:t>
            </a:r>
            <a:endParaRPr lang="en-NG" dirty="0"/>
          </a:p>
        </p:txBody>
      </p:sp>
      <p:sp>
        <p:nvSpPr>
          <p:cNvPr id="3" name="Content Placeholder 2">
            <a:extLst>
              <a:ext uri="{FF2B5EF4-FFF2-40B4-BE49-F238E27FC236}">
                <a16:creationId xmlns:a16="http://schemas.microsoft.com/office/drawing/2014/main" id="{FE7BAEB8-A6F4-40AF-A69B-0FF8BF6A4BB1}"/>
              </a:ext>
            </a:extLst>
          </p:cNvPr>
          <p:cNvSpPr>
            <a:spLocks noGrp="1"/>
          </p:cNvSpPr>
          <p:nvPr>
            <p:ph idx="1"/>
          </p:nvPr>
        </p:nvSpPr>
        <p:spPr/>
        <p:txBody>
          <a:bodyPr/>
          <a:lstStyle/>
          <a:p>
            <a:pPr marL="0" indent="0">
              <a:buNone/>
            </a:pPr>
            <a:r>
              <a:rPr lang="en-US" dirty="0"/>
              <a:t>It may appear that the foundations in which Newtonian mechanics are built have been destroyed. While this is true, in one sense, it is essential to know that the formulations of Newtonian mechanics still</a:t>
            </a:r>
          </a:p>
          <a:p>
            <a:pPr marL="0" indent="0">
              <a:buNone/>
            </a:pPr>
            <a:r>
              <a:rPr lang="en-US" dirty="0"/>
              <a:t>retains it’s validity at small speeds.</a:t>
            </a:r>
          </a:p>
          <a:p>
            <a:pPr marL="0" indent="0">
              <a:buNone/>
            </a:pPr>
            <a:r>
              <a:rPr lang="en-US" dirty="0"/>
              <a:t>Relativity does not contradict Newtonian mechanics, but generalizes it.</a:t>
            </a:r>
          </a:p>
          <a:p>
            <a:pPr marL="0" indent="0">
              <a:buNone/>
            </a:pPr>
            <a:r>
              <a:rPr lang="en-US" dirty="0"/>
              <a:t>Newtonian mechanics is based on experimental evidence. Every new theory must pass this test, called the correspondence principle</a:t>
            </a:r>
            <a:endParaRPr lang="en-NG" dirty="0"/>
          </a:p>
        </p:txBody>
      </p:sp>
    </p:spTree>
    <p:extLst>
      <p:ext uri="{BB962C8B-B14F-4D97-AF65-F5344CB8AC3E}">
        <p14:creationId xmlns:p14="http://schemas.microsoft.com/office/powerpoint/2010/main" val="40674426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E4A21-6BE0-420D-B1CF-0F96FFDEDE55}"/>
              </a:ext>
            </a:extLst>
          </p:cNvPr>
          <p:cNvSpPr>
            <a:spLocks noGrp="1"/>
          </p:cNvSpPr>
          <p:nvPr>
            <p:ph type="title"/>
          </p:nvPr>
        </p:nvSpPr>
        <p:spPr/>
        <p:txBody>
          <a:bodyPr/>
          <a:lstStyle/>
          <a:p>
            <a:r>
              <a:rPr lang="en-US" dirty="0"/>
              <a:t>Relativity and Newtonian mechanics</a:t>
            </a:r>
            <a:endParaRPr lang="en-NG" dirty="0"/>
          </a:p>
        </p:txBody>
      </p:sp>
      <p:sp>
        <p:nvSpPr>
          <p:cNvPr id="3" name="Content Placeholder 2">
            <a:extLst>
              <a:ext uri="{FF2B5EF4-FFF2-40B4-BE49-F238E27FC236}">
                <a16:creationId xmlns:a16="http://schemas.microsoft.com/office/drawing/2014/main" id="{DC0CE321-9A5F-4E05-8032-8C07501120D5}"/>
              </a:ext>
            </a:extLst>
          </p:cNvPr>
          <p:cNvSpPr>
            <a:spLocks noGrp="1"/>
          </p:cNvSpPr>
          <p:nvPr>
            <p:ph idx="1"/>
          </p:nvPr>
        </p:nvSpPr>
        <p:spPr/>
        <p:txBody>
          <a:bodyPr/>
          <a:lstStyle/>
          <a:p>
            <a:pPr marL="0" indent="0">
              <a:buNone/>
            </a:pPr>
            <a:r>
              <a:rPr lang="en-US" dirty="0"/>
              <a:t>There are many  problems for which Newtonian mechanics is clearly inadequate. This includes all situations where the particle’s speed approaches that of light or where there is conversion of mass to energy.</a:t>
            </a:r>
          </a:p>
          <a:p>
            <a:pPr marL="0" indent="0">
              <a:buNone/>
            </a:pPr>
            <a:r>
              <a:rPr lang="en-US" dirty="0"/>
              <a:t>But there is still a large area in which Newtonian mechanics is still adequate </a:t>
            </a:r>
            <a:r>
              <a:rPr lang="en-US" dirty="0" err="1"/>
              <a:t>eg</a:t>
            </a:r>
            <a:r>
              <a:rPr lang="en-US" dirty="0"/>
              <a:t> in the behavior of macroscopic bodies. The basic ideas of the general theory of relativity are now well established, but some of the details remain speculative in nature.</a:t>
            </a:r>
            <a:endParaRPr lang="en-NG" dirty="0"/>
          </a:p>
        </p:txBody>
      </p:sp>
    </p:spTree>
    <p:extLst>
      <p:ext uri="{BB962C8B-B14F-4D97-AF65-F5344CB8AC3E}">
        <p14:creationId xmlns:p14="http://schemas.microsoft.com/office/powerpoint/2010/main" val="26616699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10744-643C-43B7-A66F-5D5D203A7CCA}"/>
              </a:ext>
            </a:extLst>
          </p:cNvPr>
          <p:cNvSpPr>
            <a:spLocks noGrp="1"/>
          </p:cNvSpPr>
          <p:nvPr>
            <p:ph type="title"/>
          </p:nvPr>
        </p:nvSpPr>
        <p:spPr/>
        <p:txBody>
          <a:bodyPr/>
          <a:lstStyle/>
          <a:p>
            <a:r>
              <a:rPr lang="en-US" dirty="0"/>
              <a:t>Relativity and Newtonian mechanics</a:t>
            </a:r>
            <a:endParaRPr lang="en-NG" dirty="0"/>
          </a:p>
        </p:txBody>
      </p:sp>
      <p:sp>
        <p:nvSpPr>
          <p:cNvPr id="3" name="Content Placeholder 2">
            <a:extLst>
              <a:ext uri="{FF2B5EF4-FFF2-40B4-BE49-F238E27FC236}">
                <a16:creationId xmlns:a16="http://schemas.microsoft.com/office/drawing/2014/main" id="{6BC210A3-68C6-4BA0-9957-C2B544E067EC}"/>
              </a:ext>
            </a:extLst>
          </p:cNvPr>
          <p:cNvSpPr>
            <a:spLocks noGrp="1"/>
          </p:cNvSpPr>
          <p:nvPr>
            <p:ph idx="1"/>
          </p:nvPr>
        </p:nvSpPr>
        <p:spPr/>
        <p:txBody>
          <a:bodyPr/>
          <a:lstStyle/>
          <a:p>
            <a:pPr marL="0" indent="0">
              <a:buNone/>
            </a:pPr>
            <a:r>
              <a:rPr lang="en-US" dirty="0"/>
              <a:t>Its chief application is in the cosmological investigations of the structure of the universe, the formation and evolution of the stars.</a:t>
            </a:r>
          </a:p>
          <a:p>
            <a:pPr marL="0" indent="0">
              <a:buNone/>
            </a:pPr>
            <a:r>
              <a:rPr lang="en-US" dirty="0"/>
              <a:t>It is not believed to have any relevance for atomic or nuclear phenomena or macroscopic mechanical problems of less than astronomical phenomena</a:t>
            </a:r>
            <a:endParaRPr lang="en-NG" dirty="0"/>
          </a:p>
        </p:txBody>
      </p:sp>
    </p:spTree>
    <p:extLst>
      <p:ext uri="{BB962C8B-B14F-4D97-AF65-F5344CB8AC3E}">
        <p14:creationId xmlns:p14="http://schemas.microsoft.com/office/powerpoint/2010/main" val="42665815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360FC-2873-419D-BFE7-D6785A56F24E}"/>
              </a:ext>
            </a:extLst>
          </p:cNvPr>
          <p:cNvSpPr>
            <a:spLocks noGrp="1"/>
          </p:cNvSpPr>
          <p:nvPr>
            <p:ph type="title"/>
          </p:nvPr>
        </p:nvSpPr>
        <p:spPr/>
        <p:txBody>
          <a:bodyPr/>
          <a:lstStyle/>
          <a:p>
            <a:r>
              <a:rPr lang="en-US"/>
              <a:t>Review Questions</a:t>
            </a:r>
            <a:endParaRPr lang="en-NG"/>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D1A6D8C-FF40-4560-B666-D936948BD0AE}"/>
                  </a:ext>
                </a:extLst>
              </p:cNvPr>
              <p:cNvSpPr>
                <a:spLocks noGrp="1"/>
              </p:cNvSpPr>
              <p:nvPr>
                <p:ph idx="1"/>
              </p:nvPr>
            </p:nvSpPr>
            <p:spPr/>
            <p:txBody>
              <a:bodyPr>
                <a:normAutofit lnSpcReduction="10000"/>
              </a:bodyPr>
              <a:lstStyle/>
              <a:p>
                <a:pPr marL="0" indent="0">
                  <a:buNone/>
                </a:pPr>
                <a:r>
                  <a:rPr lang="en-US" dirty="0"/>
                  <a:t>Compare relativistic mechanics and Newtonian mechanics. Mention the areas to which each can be appropriately applied</a:t>
                </a:r>
              </a:p>
              <a:p>
                <a:pPr marL="0" indent="0">
                  <a:buNone/>
                </a:pPr>
                <a:r>
                  <a:rPr lang="en-US" dirty="0"/>
                  <a:t>2 A particle has mass 1700MeV/</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𝑐</m:t>
                        </m:r>
                      </m:e>
                      <m:sup>
                        <m:r>
                          <a:rPr lang="en-US" b="0" i="1" smtClean="0">
                            <a:latin typeface="Cambria Math" panose="02040503050406030204" pitchFamily="18" charset="0"/>
                          </a:rPr>
                          <m:t>2</m:t>
                        </m:r>
                      </m:sup>
                    </m:sSup>
                  </m:oMath>
                </a14:m>
                <a:r>
                  <a:rPr lang="en-US" dirty="0"/>
                  <a:t> and moves with velocity 0.8c</a:t>
                </a:r>
              </a:p>
              <a:p>
                <a:pPr marL="0" indent="0">
                  <a:buNone/>
                </a:pPr>
                <a:r>
                  <a:rPr lang="en-US" dirty="0"/>
                  <a:t>Calculate its relativistic kinetic energy. What is the equivalent of this</a:t>
                </a:r>
              </a:p>
              <a:p>
                <a:pPr marL="0" indent="0">
                  <a:buNone/>
                </a:pPr>
                <a:r>
                  <a:rPr lang="en-US" dirty="0"/>
                  <a:t>energy in joules?</a:t>
                </a:r>
              </a:p>
              <a:p>
                <a:pPr marL="0" indent="0">
                  <a:buNone/>
                </a:pPr>
                <a14:m>
                  <m:oMath xmlns:m="http://schemas.openxmlformats.org/officeDocument/2006/math">
                    <m:r>
                      <a:rPr lang="en-NG"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𝑝𝑎𝑟𝑡𝑖𝑐𝑙𝑒𝑠</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h𝑎𝑣𝑒</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𝑚𝑎𝑠𝑠</m:t>
                    </m:r>
                    <m:r>
                      <a:rPr lang="en-US" b="0" i="1" smtClean="0">
                        <a:latin typeface="Cambria Math" panose="02040503050406030204" pitchFamily="18" charset="0"/>
                        <a:ea typeface="Cambria Math" panose="02040503050406030204" pitchFamily="18" charset="0"/>
                      </a:rPr>
                      <m:t>3727.38</m:t>
                    </m:r>
                    <m:r>
                      <a:rPr lang="en-US" b="0" i="1" smtClean="0">
                        <a:latin typeface="Cambria Math" panose="02040503050406030204" pitchFamily="18" charset="0"/>
                        <a:ea typeface="Cambria Math" panose="02040503050406030204" pitchFamily="18" charset="0"/>
                      </a:rPr>
                      <m:t>𝑀𝑒𝑉</m:t>
                    </m:r>
                  </m:oMath>
                </a14:m>
                <a:r>
                  <a:rPr lang="en-US" dirty="0"/>
                  <a:t>/</a:t>
                </a:r>
                <a14:m>
                  <m:oMath xmlns:m="http://schemas.openxmlformats.org/officeDocument/2006/math">
                    <m:sSup>
                      <m:sSupPr>
                        <m:ctrlPr>
                          <a:rPr lang="en-US" i="1" dirty="0" smtClean="0">
                            <a:latin typeface="Cambria Math" panose="02040503050406030204" pitchFamily="18" charset="0"/>
                          </a:rPr>
                        </m:ctrlPr>
                      </m:sSupPr>
                      <m:e>
                        <m:r>
                          <a:rPr lang="en-US" b="0" i="1" dirty="0" smtClean="0">
                            <a:latin typeface="Cambria Math" panose="02040503050406030204" pitchFamily="18" charset="0"/>
                          </a:rPr>
                          <m:t>𝑐</m:t>
                        </m:r>
                      </m:e>
                      <m:sup>
                        <m:r>
                          <a:rPr lang="en-US" b="0" i="1" dirty="0" smtClean="0">
                            <a:latin typeface="Cambria Math" panose="02040503050406030204" pitchFamily="18" charset="0"/>
                          </a:rPr>
                          <m:t>2</m:t>
                        </m:r>
                      </m:sup>
                    </m:sSup>
                  </m:oMath>
                </a14:m>
                <a:endParaRPr lang="en-US" dirty="0"/>
              </a:p>
              <a:p>
                <a:pPr marL="0" indent="0">
                  <a:buNone/>
                </a:pPr>
                <a:r>
                  <a:rPr lang="en-US" dirty="0"/>
                  <a:t>Calculate the rest energy</a:t>
                </a:r>
              </a:p>
              <a:p>
                <a:pPr marL="0" indent="0">
                  <a:buNone/>
                </a:pPr>
                <a:r>
                  <a:rPr lang="en-US" dirty="0"/>
                  <a:t>Its kinetic energy if it moves with a velocity of 0.9c</a:t>
                </a:r>
              </a:p>
              <a:p>
                <a:pPr marL="0" indent="0">
                  <a:buNone/>
                </a:pPr>
                <a:r>
                  <a:rPr lang="en-US" dirty="0"/>
                  <a:t>It’s total energy</a:t>
                </a:r>
                <a:endParaRPr lang="en-NG" dirty="0"/>
              </a:p>
            </p:txBody>
          </p:sp>
        </mc:Choice>
        <mc:Fallback>
          <p:sp>
            <p:nvSpPr>
              <p:cNvPr id="3" name="Content Placeholder 2">
                <a:extLst>
                  <a:ext uri="{FF2B5EF4-FFF2-40B4-BE49-F238E27FC236}">
                    <a16:creationId xmlns:a16="http://schemas.microsoft.com/office/drawing/2014/main" id="{1D1A6D8C-FF40-4560-B666-D936948BD0AE}"/>
                  </a:ext>
                </a:extLst>
              </p:cNvPr>
              <p:cNvSpPr>
                <a:spLocks noGrp="1" noRot="1" noChangeAspect="1" noMove="1" noResize="1" noEditPoints="1" noAdjustHandles="1" noChangeArrowheads="1" noChangeShapeType="1" noTextEdit="1"/>
              </p:cNvSpPr>
              <p:nvPr>
                <p:ph idx="1"/>
              </p:nvPr>
            </p:nvSpPr>
            <p:spPr>
              <a:blipFill>
                <a:blip r:embed="rId2"/>
                <a:stretch>
                  <a:fillRect l="-1217" t="-3081"/>
                </a:stretch>
              </a:blipFill>
            </p:spPr>
            <p:txBody>
              <a:bodyPr/>
              <a:lstStyle/>
              <a:p>
                <a:r>
                  <a:rPr lang="en-NG">
                    <a:noFill/>
                  </a:rPr>
                  <a:t> </a:t>
                </a:r>
              </a:p>
            </p:txBody>
          </p:sp>
        </mc:Fallback>
      </mc:AlternateContent>
    </p:spTree>
    <p:extLst>
      <p:ext uri="{BB962C8B-B14F-4D97-AF65-F5344CB8AC3E}">
        <p14:creationId xmlns:p14="http://schemas.microsoft.com/office/powerpoint/2010/main" val="918701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309</TotalTime>
  <Words>912</Words>
  <Application>Microsoft Office PowerPoint</Application>
  <PresentationFormat>Widescreen</PresentationFormat>
  <Paragraphs>86</Paragraphs>
  <Slides>17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等线 Light</vt:lpstr>
      <vt:lpstr>Arial</vt:lpstr>
      <vt:lpstr>Calibri</vt:lpstr>
      <vt:lpstr>Calibri Light</vt:lpstr>
      <vt:lpstr>Cambria Math</vt:lpstr>
      <vt:lpstr>Times New Roman</vt:lpstr>
      <vt:lpstr>Office Theme</vt:lpstr>
      <vt:lpstr>PHY 211: Elementary modern Physics (2 Units) Work, Energy and theory of relativity (week 2)      </vt:lpstr>
      <vt:lpstr>OBJECTIVES</vt:lpstr>
      <vt:lpstr>Work , energy and relativity</vt:lpstr>
      <vt:lpstr>Work and energy</vt:lpstr>
      <vt:lpstr>Work and energy</vt:lpstr>
      <vt:lpstr>Work and energy</vt:lpstr>
      <vt:lpstr>Work and energy</vt:lpstr>
      <vt:lpstr>Total  Energy and rest Energy</vt:lpstr>
      <vt:lpstr>Rest energy and total energy</vt:lpstr>
      <vt:lpstr>Worked example</vt:lpstr>
      <vt:lpstr>Solution </vt:lpstr>
      <vt:lpstr>Solution to worked example</vt:lpstr>
      <vt:lpstr>Solution to worked example</vt:lpstr>
      <vt:lpstr>Relativity and Newtonian mechanics</vt:lpstr>
      <vt:lpstr>Relativity and Newtonian mechanics</vt:lpstr>
      <vt:lpstr>Relativity and Newtonian mechanics</vt:lpstr>
      <vt:lpstr>Review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OKAFOR PC</dc:creator>
  <cp:lastModifiedBy>DR OKAFOR PC</cp:lastModifiedBy>
  <cp:revision>26</cp:revision>
  <dcterms:created xsi:type="dcterms:W3CDTF">2025-09-25T07:51:24Z</dcterms:created>
  <dcterms:modified xsi:type="dcterms:W3CDTF">2025-10-05T22:40:12Z</dcterms:modified>
</cp:coreProperties>
</file>