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305" r:id="rId2"/>
    <p:sldId id="257" r:id="rId3"/>
    <p:sldId id="258" r:id="rId4"/>
    <p:sldId id="259" r:id="rId5"/>
    <p:sldId id="260" r:id="rId6"/>
    <p:sldId id="263" r:id="rId7"/>
    <p:sldId id="261" r:id="rId8"/>
    <p:sldId id="262" r:id="rId9"/>
    <p:sldId id="264" r:id="rId10"/>
    <p:sldId id="265" r:id="rId11"/>
    <p:sldId id="267" r:id="rId12"/>
    <p:sldId id="268" r:id="rId13"/>
    <p:sldId id="266" r:id="rId14"/>
    <p:sldId id="270" r:id="rId15"/>
    <p:sldId id="269" r:id="rId16"/>
    <p:sldId id="271" r:id="rId17"/>
    <p:sldId id="272" r:id="rId18"/>
    <p:sldId id="273" r:id="rId19"/>
    <p:sldId id="274" r:id="rId20"/>
    <p:sldId id="275" r:id="rId21"/>
    <p:sldId id="276" r:id="rId22"/>
    <p:sldId id="306" r:id="rId23"/>
    <p:sldId id="307" r:id="rId24"/>
    <p:sldId id="308" r:id="rId25"/>
    <p:sldId id="309" r:id="rId26"/>
    <p:sldId id="310" r:id="rId27"/>
    <p:sldId id="311" r:id="rId28"/>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44C6-6AAE-46BF-AA44-5C20DE5B67AF}" type="datetimeFigureOut">
              <a:rPr lang="en-NG" smtClean="0"/>
              <a:t>29/09/2025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E1081-8307-4F2E-BA4D-C265A8467D4F}" type="slidenum">
              <a:rPr lang="en-NG" smtClean="0"/>
              <a:t>‹#›</a:t>
            </a:fld>
            <a:endParaRPr lang="en-NG"/>
          </a:p>
        </p:txBody>
      </p:sp>
    </p:spTree>
    <p:extLst>
      <p:ext uri="{BB962C8B-B14F-4D97-AF65-F5344CB8AC3E}">
        <p14:creationId xmlns:p14="http://schemas.microsoft.com/office/powerpoint/2010/main" val="29860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415A1AC-E190-4071-8D5A-C2B1D2CDEEF3}" type="slidenum">
              <a:rPr lang="en-US" smtClean="0"/>
              <a:pPr eaLnBrk="1" hangingPunct="1"/>
              <a:t>1</a:t>
            </a:fld>
            <a:endParaRPr lang="en-US"/>
          </a:p>
        </p:txBody>
      </p:sp>
    </p:spTree>
    <p:extLst>
      <p:ext uri="{BB962C8B-B14F-4D97-AF65-F5344CB8AC3E}">
        <p14:creationId xmlns:p14="http://schemas.microsoft.com/office/powerpoint/2010/main" val="1951816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FC554-B62C-4AB0-A0A4-0C14694A28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B6A3C1AA-D003-4150-B6B5-8592C69BD4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25C2848A-1CE8-4D7B-A2B2-26ED7CB3170E}"/>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5" name="Footer Placeholder 4">
            <a:extLst>
              <a:ext uri="{FF2B5EF4-FFF2-40B4-BE49-F238E27FC236}">
                <a16:creationId xmlns:a16="http://schemas.microsoft.com/office/drawing/2014/main" id="{D4E6BDD5-5E63-4254-A896-1E6C3D3D379B}"/>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13D029B0-7FA9-4479-907B-DFAC4151CE27}"/>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2743025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C829C-3D82-4B05-863C-F0B93863F1A2}"/>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40ED79CF-13B1-468E-9C2C-44351043FD4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7850191E-4A10-4C19-9024-300E8655CE90}"/>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5" name="Footer Placeholder 4">
            <a:extLst>
              <a:ext uri="{FF2B5EF4-FFF2-40B4-BE49-F238E27FC236}">
                <a16:creationId xmlns:a16="http://schemas.microsoft.com/office/drawing/2014/main" id="{9BE597FF-C739-4636-B502-9D9BB0EE093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448504CD-6FDD-4A4A-AB16-45440AD0549C}"/>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326867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029B3-149B-4F9E-89A3-28C2B450B7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BABA4E35-9280-4489-AA31-0154675169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C0A27AB-26A3-4DF0-BEEB-D8ED22F5B76F}"/>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5" name="Footer Placeholder 4">
            <a:extLst>
              <a:ext uri="{FF2B5EF4-FFF2-40B4-BE49-F238E27FC236}">
                <a16:creationId xmlns:a16="http://schemas.microsoft.com/office/drawing/2014/main" id="{06C151B6-B42A-449D-BABC-7D8AB3BDF62C}"/>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57CB8935-C725-4EE4-B6EE-15701AC9C0DC}"/>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508108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D6261-5F0B-4C53-9A28-AA375371E257}"/>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886A3475-19D3-4E23-B4B3-710BCE3936D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4F860575-925A-4DE8-B181-7975AD53B5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377132AE-1F61-47E3-AD49-E9CADC04A307}"/>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6" name="Footer Placeholder 5">
            <a:extLst>
              <a:ext uri="{FF2B5EF4-FFF2-40B4-BE49-F238E27FC236}">
                <a16:creationId xmlns:a16="http://schemas.microsoft.com/office/drawing/2014/main" id="{085F27D5-CD66-47EC-B375-0DE80CB32FD0}"/>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1948B855-9DDA-44A3-BA2D-895542EAEF98}"/>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314119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3F093-5B94-40DE-A99D-AC4A546E5633}"/>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1576E84E-899D-49A6-8535-EF05871265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6CA5379-D333-47D3-A917-A19EDD9AC52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A19A4F50-085D-4D19-8B2A-60B0E3B157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1D1E4A9-7388-46FD-A5FD-D7CFC30C822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10CFC094-6A0D-48A7-865C-FB4CB25CDBE4}"/>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8" name="Footer Placeholder 7">
            <a:extLst>
              <a:ext uri="{FF2B5EF4-FFF2-40B4-BE49-F238E27FC236}">
                <a16:creationId xmlns:a16="http://schemas.microsoft.com/office/drawing/2014/main" id="{B956522B-1AE0-4882-97E8-7A59E36EC9DC}"/>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C7C70B10-C16D-4C60-85F5-BC4C6E547ADE}"/>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2923035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655CC-99FA-48CA-9791-E496177E1A04}"/>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39E3EEB6-7715-4E8F-8206-9469540F10BB}"/>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4" name="Footer Placeholder 3">
            <a:extLst>
              <a:ext uri="{FF2B5EF4-FFF2-40B4-BE49-F238E27FC236}">
                <a16:creationId xmlns:a16="http://schemas.microsoft.com/office/drawing/2014/main" id="{48DE7CFA-B007-48E2-A130-1774EBAF9E51}"/>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EB805026-2A88-4A32-8F99-C1FF2F27B8CB}"/>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3191559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AA981F-2F6B-4A79-8842-19F0D4612092}"/>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3" name="Footer Placeholder 2">
            <a:extLst>
              <a:ext uri="{FF2B5EF4-FFF2-40B4-BE49-F238E27FC236}">
                <a16:creationId xmlns:a16="http://schemas.microsoft.com/office/drawing/2014/main" id="{0E7C1445-A2CC-4385-BB9B-DE5CF8D8118C}"/>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C01BA894-4898-4573-9188-9115EE3ECBD4}"/>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3310159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38C09-B4B9-4B09-AF1F-6352330EF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EE7939E7-57E2-4815-B1CC-EDEE3C9C56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3F879959-662E-4BA2-A004-D5FACE674B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E89A2BB-B9E6-4791-AFE1-50903EF8625F}"/>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6" name="Footer Placeholder 5">
            <a:extLst>
              <a:ext uri="{FF2B5EF4-FFF2-40B4-BE49-F238E27FC236}">
                <a16:creationId xmlns:a16="http://schemas.microsoft.com/office/drawing/2014/main" id="{9C1EDE2E-A2AA-45C3-AFDD-9E0F72CF9B1E}"/>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AC374290-D35A-49EA-A1D0-E57F52496763}"/>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3917478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70E6-CE76-44B8-B8EC-473737B572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BA8BC0F5-59D3-4414-B38A-8EB338E161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F1531FDC-0EA1-4EE2-8DBE-40EDE6946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2D1D37-EB1F-4332-BB11-A0CCDDCC83E6}"/>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6" name="Footer Placeholder 5">
            <a:extLst>
              <a:ext uri="{FF2B5EF4-FFF2-40B4-BE49-F238E27FC236}">
                <a16:creationId xmlns:a16="http://schemas.microsoft.com/office/drawing/2014/main" id="{E2F2C6FF-EEBA-4CA9-B040-7220F149D9FC}"/>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945DAFA4-7038-443C-B62B-6A45DD080A9F}"/>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109713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9B49-BF4C-4D0D-8948-7162D7D0EB9E}"/>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C35503AB-BC52-472B-8E20-134B866F080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06A5D9D8-7D4C-41F3-BD0E-2A2244A128F3}"/>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5" name="Footer Placeholder 4">
            <a:extLst>
              <a:ext uri="{FF2B5EF4-FFF2-40B4-BE49-F238E27FC236}">
                <a16:creationId xmlns:a16="http://schemas.microsoft.com/office/drawing/2014/main" id="{202AF244-A6DF-43C4-812D-4A3C55282F18}"/>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BBE3C3FB-8EE4-47D6-A1E6-CBAFBA709B7D}"/>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408665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B93274-0933-4A67-8C87-DB2996569B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D0CE9005-0384-45D8-9590-441AFE27D5D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17FCF18D-94AC-4B95-A3BC-8C5B1773198E}"/>
              </a:ext>
            </a:extLst>
          </p:cNvPr>
          <p:cNvSpPr>
            <a:spLocks noGrp="1"/>
          </p:cNvSpPr>
          <p:nvPr>
            <p:ph type="dt" sz="half" idx="10"/>
          </p:nvPr>
        </p:nvSpPr>
        <p:spPr/>
        <p:txBody>
          <a:bodyPr/>
          <a:lstStyle/>
          <a:p>
            <a:fld id="{BEB9A61D-0C96-4BFC-8500-EB0208B01DC2}" type="datetimeFigureOut">
              <a:rPr lang="en-NG" smtClean="0"/>
              <a:t>29/09/2025</a:t>
            </a:fld>
            <a:endParaRPr lang="en-NG"/>
          </a:p>
        </p:txBody>
      </p:sp>
      <p:sp>
        <p:nvSpPr>
          <p:cNvPr id="5" name="Footer Placeholder 4">
            <a:extLst>
              <a:ext uri="{FF2B5EF4-FFF2-40B4-BE49-F238E27FC236}">
                <a16:creationId xmlns:a16="http://schemas.microsoft.com/office/drawing/2014/main" id="{38E02108-A3FD-4A17-B131-82FC5441ADDB}"/>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8989FA8E-FB48-4638-9E6D-E52709AAE096}"/>
              </a:ext>
            </a:extLst>
          </p:cNvPr>
          <p:cNvSpPr>
            <a:spLocks noGrp="1"/>
          </p:cNvSpPr>
          <p:nvPr>
            <p:ph type="sldNum" sz="quarter" idx="12"/>
          </p:nvPr>
        </p:nvSpPr>
        <p:spPr/>
        <p:txBody>
          <a:bodyPr/>
          <a:lstStyle/>
          <a:p>
            <a:fld id="{68A2F1C7-0272-4413-8F3A-84EEE0D1E686}" type="slidenum">
              <a:rPr lang="en-NG" smtClean="0"/>
              <a:t>‹#›</a:t>
            </a:fld>
            <a:endParaRPr lang="en-NG"/>
          </a:p>
        </p:txBody>
      </p:sp>
    </p:spTree>
    <p:extLst>
      <p:ext uri="{BB962C8B-B14F-4D97-AF65-F5344CB8AC3E}">
        <p14:creationId xmlns:p14="http://schemas.microsoft.com/office/powerpoint/2010/main" val="3970358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04D12F-7FF8-4027-91A9-8284F347C3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93192722-1DEE-4021-9A13-B78715A258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2E18B74-7B62-4DE0-A1E5-D0491E46B9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B9A61D-0C96-4BFC-8500-EB0208B01DC2}" type="datetimeFigureOut">
              <a:rPr lang="en-NG" smtClean="0"/>
              <a:t>29/09/2025</a:t>
            </a:fld>
            <a:endParaRPr lang="en-NG"/>
          </a:p>
        </p:txBody>
      </p:sp>
      <p:sp>
        <p:nvSpPr>
          <p:cNvPr id="5" name="Footer Placeholder 4">
            <a:extLst>
              <a:ext uri="{FF2B5EF4-FFF2-40B4-BE49-F238E27FC236}">
                <a16:creationId xmlns:a16="http://schemas.microsoft.com/office/drawing/2014/main" id="{47EF818B-45F4-46BA-9069-FF1BC9E830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40B49AC4-0869-4186-B501-A7FED380B9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A2F1C7-0272-4413-8F3A-84EEE0D1E686}" type="slidenum">
              <a:rPr lang="en-NG" smtClean="0"/>
              <a:t>‹#›</a:t>
            </a:fld>
            <a:endParaRPr lang="en-NG"/>
          </a:p>
        </p:txBody>
      </p:sp>
    </p:spTree>
    <p:extLst>
      <p:ext uri="{BB962C8B-B14F-4D97-AF65-F5344CB8AC3E}">
        <p14:creationId xmlns:p14="http://schemas.microsoft.com/office/powerpoint/2010/main" val="2537474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noChangeArrowheads="1"/>
          </p:cNvSpPr>
          <p:nvPr>
            <p:ph type="ctrTitle"/>
          </p:nvPr>
        </p:nvSpPr>
        <p:spPr>
          <a:xfrm>
            <a:off x="1524000" y="797443"/>
            <a:ext cx="9144000" cy="1891784"/>
          </a:xfrm>
        </p:spPr>
        <p:txBody>
          <a:bodyPr>
            <a:normAutofit fontScale="90000"/>
          </a:bodyPr>
          <a:lstStyle/>
          <a:p>
            <a:pPr eaLnBrk="1" hangingPunct="1"/>
            <a:r>
              <a:rPr lang="en-US" altLang="zh-CN" sz="3200" dirty="0">
                <a:solidFill>
                  <a:srgbClr val="FF0000"/>
                </a:solidFill>
                <a:latin typeface="Times New Roman" pitchFamily="18" charset="0"/>
                <a:cs typeface="Times New Roman" pitchFamily="18" charset="0"/>
              </a:rPr>
              <a:t>PHY 211: Elementary modern Physics (2 Units)</a:t>
            </a:r>
            <a:br>
              <a:rPr lang="en-US" altLang="zh-CN" sz="3200" dirty="0">
                <a:solidFill>
                  <a:srgbClr val="FF0000"/>
                </a:solidFill>
                <a:latin typeface="Times New Roman" pitchFamily="18" charset="0"/>
                <a:cs typeface="Times New Roman" pitchFamily="18" charset="0"/>
              </a:rPr>
            </a:br>
            <a:r>
              <a:rPr lang="en-US" altLang="zh-CN" sz="3200" dirty="0">
                <a:solidFill>
                  <a:srgbClr val="FF0000"/>
                </a:solidFill>
                <a:latin typeface="Times New Roman" pitchFamily="18" charset="0"/>
                <a:cs typeface="Times New Roman" pitchFamily="18" charset="0"/>
              </a:rPr>
              <a:t>Special theory of relativity  (week 1)  </a:t>
            </a:r>
            <a:br>
              <a:rPr lang="en-US" altLang="zh-CN" sz="3200" dirty="0">
                <a:solidFill>
                  <a:srgbClr val="FF0000"/>
                </a:solidFill>
                <a:latin typeface="Times New Roman" pitchFamily="18" charset="0"/>
                <a:cs typeface="Times New Roman" pitchFamily="18" charset="0"/>
              </a:rPr>
            </a:br>
            <a:br>
              <a:rPr lang="en-US" altLang="zh-CN" sz="3200" dirty="0">
                <a:solidFill>
                  <a:srgbClr val="FF0000"/>
                </a:solidFill>
                <a:latin typeface="Times New Roman" pitchFamily="18" charset="0"/>
                <a:cs typeface="Times New Roman" pitchFamily="18" charset="0"/>
              </a:rPr>
            </a:br>
            <a:br>
              <a:rPr lang="en-US" altLang="zh-CN" sz="3200" dirty="0">
                <a:solidFill>
                  <a:srgbClr val="FF0000"/>
                </a:solidFill>
                <a:latin typeface="Times New Roman" pitchFamily="18" charset="0"/>
                <a:cs typeface="Times New Roman" pitchFamily="18" charset="0"/>
              </a:rPr>
            </a:br>
            <a:r>
              <a:rPr lang="en-US" altLang="zh-CN" sz="3200" dirty="0">
                <a:solidFill>
                  <a:srgbClr val="FF0000"/>
                </a:solidFill>
                <a:latin typeface="Times New Roman" pitchFamily="18" charset="0"/>
                <a:cs typeface="Times New Roman" pitchFamily="18" charset="0"/>
              </a:rPr>
              <a:t> </a:t>
            </a:r>
          </a:p>
        </p:txBody>
      </p:sp>
      <p:sp>
        <p:nvSpPr>
          <p:cNvPr id="2051" name="Subtitle 2"/>
          <p:cNvSpPr>
            <a:spLocks noGrp="1"/>
          </p:cNvSpPr>
          <p:nvPr>
            <p:ph type="subTitle" idx="1"/>
          </p:nvPr>
        </p:nvSpPr>
        <p:spPr/>
        <p:txBody>
          <a:bodyPr>
            <a:normAutofit fontScale="92500" lnSpcReduction="20000"/>
          </a:bodyPr>
          <a:lstStyle/>
          <a:p>
            <a:pPr eaLnBrk="1" hangingPunct="1"/>
            <a:r>
              <a:rPr lang="en-US" sz="2000" dirty="0">
                <a:latin typeface="Times New Roman" pitchFamily="18" charset="0"/>
                <a:cs typeface="Times New Roman" pitchFamily="18" charset="0"/>
              </a:rPr>
              <a:t>DR  OKAFOR  P.N.</a:t>
            </a:r>
          </a:p>
          <a:p>
            <a:pPr eaLnBrk="1" hangingPunct="1"/>
            <a:r>
              <a:rPr lang="en-US" sz="2000" dirty="0">
                <a:latin typeface="Times New Roman" pitchFamily="18" charset="0"/>
                <a:cs typeface="Times New Roman" pitchFamily="18" charset="0"/>
              </a:rPr>
              <a:t>DEPARTMENT  OF  PHYSICS</a:t>
            </a:r>
          </a:p>
          <a:p>
            <a:pPr eaLnBrk="1" hangingPunct="1"/>
            <a:r>
              <a:rPr lang="en-US" sz="2000" dirty="0">
                <a:latin typeface="Times New Roman" pitchFamily="18" charset="0"/>
                <a:cs typeface="Times New Roman" pitchFamily="18" charset="0"/>
              </a:rPr>
              <a:t>COLLEGE  OF  SCIENCE  AND  TECHNOLOGY</a:t>
            </a:r>
          </a:p>
          <a:p>
            <a:pPr eaLnBrk="1" hangingPunct="1"/>
            <a:r>
              <a:rPr lang="en-US" sz="2000" dirty="0">
                <a:latin typeface="Times New Roman" pitchFamily="18" charset="0"/>
                <a:cs typeface="Times New Roman" pitchFamily="18" charset="0"/>
              </a:rPr>
              <a:t>CONVENANT  UNIVERSITY</a:t>
            </a:r>
          </a:p>
          <a:p>
            <a:pPr eaLnBrk="1" hangingPunct="1"/>
            <a:r>
              <a:rPr lang="en-US" sz="2000">
                <a:latin typeface="Times New Roman" pitchFamily="18" charset="0"/>
                <a:cs typeface="Times New Roman" pitchFamily="18" charset="0"/>
              </a:rPr>
              <a:t>2025/2026</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69344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E6CE7-4EE9-43F7-A176-4694BBBA56E1}"/>
              </a:ext>
            </a:extLst>
          </p:cNvPr>
          <p:cNvSpPr>
            <a:spLocks noGrp="1"/>
          </p:cNvSpPr>
          <p:nvPr>
            <p:ph type="title"/>
          </p:nvPr>
        </p:nvSpPr>
        <p:spPr/>
        <p:txBody>
          <a:bodyPr/>
          <a:lstStyle/>
          <a:p>
            <a:r>
              <a:rPr lang="en-US" dirty="0">
                <a:solidFill>
                  <a:srgbClr val="FF0000"/>
                </a:solidFill>
              </a:rPr>
              <a:t>OBJECTIVES</a:t>
            </a:r>
            <a:endParaRPr lang="en-NG" dirty="0">
              <a:solidFill>
                <a:srgbClr val="FF0000"/>
              </a:solidFill>
            </a:endParaRPr>
          </a:p>
        </p:txBody>
      </p:sp>
      <p:sp>
        <p:nvSpPr>
          <p:cNvPr id="3" name="Content Placeholder 2">
            <a:extLst>
              <a:ext uri="{FF2B5EF4-FFF2-40B4-BE49-F238E27FC236}">
                <a16:creationId xmlns:a16="http://schemas.microsoft.com/office/drawing/2014/main" id="{8A5D8468-3F92-4E05-8CFD-8A14E0B9680B}"/>
              </a:ext>
            </a:extLst>
          </p:cNvPr>
          <p:cNvSpPr>
            <a:spLocks noGrp="1"/>
          </p:cNvSpPr>
          <p:nvPr>
            <p:ph idx="1"/>
          </p:nvPr>
        </p:nvSpPr>
        <p:spPr/>
        <p:txBody>
          <a:bodyPr/>
          <a:lstStyle/>
          <a:p>
            <a:pPr marL="0" indent="0">
              <a:buNone/>
            </a:pPr>
            <a:r>
              <a:rPr lang="en-US" dirty="0"/>
              <a:t>At the end of the lecture, the students are able to</a:t>
            </a:r>
          </a:p>
          <a:p>
            <a:pPr>
              <a:buFont typeface="Wingdings" panose="05000000000000000000" pitchFamily="2" charset="2"/>
              <a:buChar char="Ø"/>
            </a:pPr>
            <a:r>
              <a:rPr lang="en-US" dirty="0"/>
              <a:t>Explain special theory of relativity</a:t>
            </a:r>
          </a:p>
          <a:p>
            <a:pPr>
              <a:buFont typeface="Wingdings" panose="05000000000000000000" pitchFamily="2" charset="2"/>
              <a:buChar char="Ø"/>
            </a:pPr>
            <a:r>
              <a:rPr lang="en-US" dirty="0"/>
              <a:t>Explain “inertial frame of reference”</a:t>
            </a:r>
          </a:p>
          <a:p>
            <a:pPr>
              <a:buFont typeface="Wingdings" panose="05000000000000000000" pitchFamily="2" charset="2"/>
              <a:buChar char="Ø"/>
            </a:pPr>
            <a:r>
              <a:rPr lang="en-US" dirty="0"/>
              <a:t>Explain the Galilean transformation</a:t>
            </a:r>
          </a:p>
          <a:p>
            <a:pPr>
              <a:buFont typeface="Wingdings" panose="05000000000000000000" pitchFamily="2" charset="2"/>
              <a:buChar char="Ø"/>
            </a:pPr>
            <a:r>
              <a:rPr lang="en-US" dirty="0"/>
              <a:t>Explain the Lorentz transformation</a:t>
            </a:r>
            <a:endParaRPr lang="en-NG" dirty="0"/>
          </a:p>
        </p:txBody>
      </p:sp>
    </p:spTree>
    <p:extLst>
      <p:ext uri="{BB962C8B-B14F-4D97-AF65-F5344CB8AC3E}">
        <p14:creationId xmlns:p14="http://schemas.microsoft.com/office/powerpoint/2010/main" val="3771417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C73D8-E60C-41DB-A9D6-7A98BB699DE5}"/>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577DAEB8-BA2F-49A0-954A-AA895D5ED422}"/>
              </a:ext>
            </a:extLst>
          </p:cNvPr>
          <p:cNvSpPr>
            <a:spLocks noGrp="1"/>
          </p:cNvSpPr>
          <p:nvPr>
            <p:ph idx="1"/>
          </p:nvPr>
        </p:nvSpPr>
        <p:spPr/>
        <p:txBody>
          <a:bodyPr/>
          <a:lstStyle/>
          <a:p>
            <a:pPr marL="0" indent="0">
              <a:buNone/>
            </a:pPr>
            <a:r>
              <a:rPr lang="en-US" dirty="0"/>
              <a:t>One of the great theories of physics  appeared  in the 20</a:t>
            </a:r>
            <a:r>
              <a:rPr lang="en-US" baseline="30000" dirty="0"/>
              <a:t>th</a:t>
            </a:r>
            <a:r>
              <a:rPr lang="en-US" dirty="0"/>
              <a:t> century when Albert Einstein presented  his  special theory of relativity in 1905.</a:t>
            </a:r>
          </a:p>
          <a:p>
            <a:pPr marL="0" indent="0">
              <a:buNone/>
            </a:pPr>
            <a:r>
              <a:rPr lang="en-US" dirty="0"/>
              <a:t>We learned in introductory physics that Newton’s laws of motion must be measured relative to some reference frame. A reference frame is called an inertial reference frame, if Newton’s laws are valid in that frame.</a:t>
            </a:r>
          </a:p>
          <a:p>
            <a:pPr marL="0" indent="0">
              <a:buNone/>
            </a:pPr>
            <a:r>
              <a:rPr lang="en-US" dirty="0"/>
              <a:t>If a body is subjected to no external force, and moves in a straight line</a:t>
            </a:r>
          </a:p>
          <a:p>
            <a:pPr marL="0" indent="0">
              <a:buNone/>
            </a:pPr>
            <a:r>
              <a:rPr lang="en-US" dirty="0"/>
              <a:t>with constant velocity, then the coordinate system attached to that body defines an inertial reference frame.</a:t>
            </a:r>
            <a:endParaRPr lang="en-NG" dirty="0"/>
          </a:p>
        </p:txBody>
      </p:sp>
    </p:spTree>
    <p:extLst>
      <p:ext uri="{BB962C8B-B14F-4D97-AF65-F5344CB8AC3E}">
        <p14:creationId xmlns:p14="http://schemas.microsoft.com/office/powerpoint/2010/main" val="1884152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63D3-1197-4D19-A6CC-C84E6F021EC6}"/>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BEA1B397-BD03-4126-98C7-0888A8D4874A}"/>
              </a:ext>
            </a:extLst>
          </p:cNvPr>
          <p:cNvSpPr>
            <a:spLocks noGrp="1"/>
          </p:cNvSpPr>
          <p:nvPr>
            <p:ph idx="1"/>
          </p:nvPr>
        </p:nvSpPr>
        <p:spPr/>
        <p:txBody>
          <a:bodyPr/>
          <a:lstStyle/>
          <a:p>
            <a:pPr marL="0" indent="0">
              <a:buNone/>
            </a:pPr>
            <a:r>
              <a:rPr lang="en-US" dirty="0"/>
              <a:t>If Newton’s laws are  valid in one reference frame, then they are also valid in another reference frame moving with a uniform velocity relative to the first system. This is known as the Newtonian principle of relativity, or Galilean invariance.</a:t>
            </a:r>
          </a:p>
          <a:p>
            <a:pPr marL="0" indent="0">
              <a:buNone/>
            </a:pPr>
            <a:r>
              <a:rPr lang="en-US" dirty="0"/>
              <a:t>Newton showed that it was not possible to determine  absolute motion</a:t>
            </a:r>
          </a:p>
          <a:p>
            <a:pPr marL="0" indent="0">
              <a:buNone/>
            </a:pPr>
            <a:r>
              <a:rPr lang="en-US" dirty="0"/>
              <a:t>in space by any experiment, so he decided to use relative motion.</a:t>
            </a:r>
          </a:p>
          <a:p>
            <a:pPr marL="0" indent="0">
              <a:buNone/>
            </a:pPr>
            <a:r>
              <a:rPr lang="en-US" dirty="0"/>
              <a:t>In addition, the Newtonian concept of time and space are completely</a:t>
            </a:r>
          </a:p>
          <a:p>
            <a:pPr marL="0" indent="0">
              <a:buNone/>
            </a:pPr>
            <a:r>
              <a:rPr lang="en-US" dirty="0"/>
              <a:t>separable. </a:t>
            </a:r>
            <a:endParaRPr lang="en-NG" dirty="0"/>
          </a:p>
        </p:txBody>
      </p:sp>
    </p:spTree>
    <p:extLst>
      <p:ext uri="{BB962C8B-B14F-4D97-AF65-F5344CB8AC3E}">
        <p14:creationId xmlns:p14="http://schemas.microsoft.com/office/powerpoint/2010/main" val="3230149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70CE-4400-402D-8CBB-5B4C74C2D829}"/>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391991F0-391C-40AA-A219-A12B27E3BC08}"/>
              </a:ext>
            </a:extLst>
          </p:cNvPr>
          <p:cNvSpPr>
            <a:spLocks noGrp="1"/>
          </p:cNvSpPr>
          <p:nvPr>
            <p:ph idx="1"/>
          </p:nvPr>
        </p:nvSpPr>
        <p:spPr/>
        <p:txBody>
          <a:bodyPr/>
          <a:lstStyle/>
          <a:p>
            <a:pPr marL="0" indent="0">
              <a:buNone/>
            </a:pPr>
            <a:r>
              <a:rPr lang="en-US" dirty="0"/>
              <a:t>Consider two inertial reference frames K and K’ moving along their x and x’ axes. respectively, with uniform velocity  v as shown in fig 1</a:t>
            </a:r>
          </a:p>
          <a:p>
            <a:pPr marL="0" indent="0">
              <a:buNone/>
            </a:pPr>
            <a:r>
              <a:rPr lang="en-US" dirty="0"/>
              <a:t>We note system K’ is moving to the right with velocity v with respect to system K which is moving or stationary somewhere.</a:t>
            </a:r>
          </a:p>
          <a:p>
            <a:pPr marL="0" indent="0">
              <a:buNone/>
            </a:pPr>
            <a:r>
              <a:rPr lang="en-US" dirty="0"/>
              <a:t>One result of the relativity theory is that there are no fixed absolute frames of reference.</a:t>
            </a:r>
            <a:endParaRPr lang="en-NG" dirty="0"/>
          </a:p>
        </p:txBody>
      </p:sp>
    </p:spTree>
    <p:extLst>
      <p:ext uri="{BB962C8B-B14F-4D97-AF65-F5344CB8AC3E}">
        <p14:creationId xmlns:p14="http://schemas.microsoft.com/office/powerpoint/2010/main" val="3619748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7F3B-8C5C-44D3-BF69-40C3D2B31008}"/>
              </a:ext>
            </a:extLst>
          </p:cNvPr>
          <p:cNvSpPr>
            <a:spLocks noGrp="1"/>
          </p:cNvSpPr>
          <p:nvPr>
            <p:ph type="title"/>
          </p:nvPr>
        </p:nvSpPr>
        <p:spPr/>
        <p:txBody>
          <a:bodyPr/>
          <a:lstStyle/>
          <a:p>
            <a:r>
              <a:rPr lang="en-US" dirty="0"/>
              <a:t>Special theory of relativity</a:t>
            </a:r>
            <a:endParaRPr lang="en-NG" dirty="0"/>
          </a:p>
        </p:txBody>
      </p:sp>
      <p:pic>
        <p:nvPicPr>
          <p:cNvPr id="4" name="Content Placeholder 3">
            <a:extLst>
              <a:ext uri="{FF2B5EF4-FFF2-40B4-BE49-F238E27FC236}">
                <a16:creationId xmlns:a16="http://schemas.microsoft.com/office/drawing/2014/main" id="{0CD550BC-5154-4748-A613-2D1029C1552E}"/>
              </a:ext>
            </a:extLst>
          </p:cNvPr>
          <p:cNvPicPr>
            <a:picLocks noGrp="1" noChangeAspect="1"/>
          </p:cNvPicPr>
          <p:nvPr>
            <p:ph idx="1"/>
          </p:nvPr>
        </p:nvPicPr>
        <p:blipFill>
          <a:blip r:embed="rId2"/>
          <a:stretch>
            <a:fillRect/>
          </a:stretch>
        </p:blipFill>
        <p:spPr>
          <a:xfrm>
            <a:off x="3471862" y="1972469"/>
            <a:ext cx="5248275" cy="4057650"/>
          </a:xfrm>
          <a:prstGeom prst="rect">
            <a:avLst/>
          </a:prstGeom>
        </p:spPr>
      </p:pic>
    </p:spTree>
    <p:extLst>
      <p:ext uri="{BB962C8B-B14F-4D97-AF65-F5344CB8AC3E}">
        <p14:creationId xmlns:p14="http://schemas.microsoft.com/office/powerpoint/2010/main" val="3342840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6023D-B619-4B0F-B7A5-9EBBC92D153D}"/>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92F8E30B-C75C-4EFA-AF69-E39F67E6D844}"/>
              </a:ext>
            </a:extLst>
          </p:cNvPr>
          <p:cNvSpPr>
            <a:spLocks noGrp="1"/>
          </p:cNvSpPr>
          <p:nvPr>
            <p:ph idx="1"/>
          </p:nvPr>
        </p:nvSpPr>
        <p:spPr/>
        <p:txBody>
          <a:bodyPr/>
          <a:lstStyle/>
          <a:p>
            <a:pPr marL="0" indent="0">
              <a:buNone/>
            </a:pPr>
            <a:r>
              <a:rPr lang="en-US" dirty="0"/>
              <a:t>We use the term fixed to refer to a system that is fixed to a particular object, such as a planet, or spaceship, that is moving in space. The transformation  of the coordinates of a point in one system to the other system is given by </a:t>
            </a:r>
          </a:p>
          <a:p>
            <a:pPr marL="0" indent="0">
              <a:buNone/>
            </a:pPr>
            <a:r>
              <a:rPr lang="en-US" dirty="0"/>
              <a:t>x’ = x –</a:t>
            </a:r>
            <a:r>
              <a:rPr lang="en-US" dirty="0" err="1"/>
              <a:t>vt</a:t>
            </a:r>
            <a:endParaRPr lang="en-US" dirty="0"/>
          </a:p>
          <a:p>
            <a:pPr marL="0" indent="0">
              <a:buNone/>
            </a:pPr>
            <a:r>
              <a:rPr lang="en-US" dirty="0"/>
              <a:t>y’ = y</a:t>
            </a:r>
          </a:p>
          <a:p>
            <a:pPr marL="0" indent="0">
              <a:buNone/>
            </a:pPr>
            <a:r>
              <a:rPr lang="en-US" dirty="0"/>
              <a:t>z’ = z                                                                                                (1)</a:t>
            </a:r>
            <a:endParaRPr lang="en-NG" dirty="0"/>
          </a:p>
        </p:txBody>
      </p:sp>
    </p:spTree>
    <p:extLst>
      <p:ext uri="{BB962C8B-B14F-4D97-AF65-F5344CB8AC3E}">
        <p14:creationId xmlns:p14="http://schemas.microsoft.com/office/powerpoint/2010/main" val="314215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10B2E-F36D-49D8-94AE-9FA20AB7B5E6}"/>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715E4F88-BD4E-4C0A-8E6E-A06E91395A40}"/>
              </a:ext>
            </a:extLst>
          </p:cNvPr>
          <p:cNvSpPr>
            <a:spLocks noGrp="1"/>
          </p:cNvSpPr>
          <p:nvPr>
            <p:ph idx="1"/>
          </p:nvPr>
        </p:nvSpPr>
        <p:spPr/>
        <p:txBody>
          <a:bodyPr/>
          <a:lstStyle/>
          <a:p>
            <a:pPr marL="0" indent="0">
              <a:buNone/>
            </a:pPr>
            <a:r>
              <a:rPr lang="en-US" dirty="0"/>
              <a:t>Similarly, the inverse transformation is given as </a:t>
            </a:r>
          </a:p>
          <a:p>
            <a:pPr marL="0" indent="0">
              <a:buNone/>
            </a:pPr>
            <a:r>
              <a:rPr lang="en-US" dirty="0"/>
              <a:t>x = x’ + </a:t>
            </a:r>
            <a:r>
              <a:rPr lang="en-US" dirty="0" err="1"/>
              <a:t>vt</a:t>
            </a:r>
            <a:endParaRPr lang="en-US" dirty="0"/>
          </a:p>
          <a:p>
            <a:pPr marL="0" indent="0">
              <a:buNone/>
            </a:pPr>
            <a:r>
              <a:rPr lang="en-US" dirty="0"/>
              <a:t>y = y’</a:t>
            </a:r>
          </a:p>
          <a:p>
            <a:pPr marL="0" indent="0">
              <a:buNone/>
            </a:pPr>
            <a:r>
              <a:rPr lang="en-US" dirty="0"/>
              <a:t>z = z’                                                                                       (2)</a:t>
            </a:r>
          </a:p>
          <a:p>
            <a:pPr marL="0" indent="0">
              <a:buNone/>
            </a:pPr>
            <a:r>
              <a:rPr lang="en-US" dirty="0"/>
              <a:t>where we have set t =t’, because newton considered time to be absolute.</a:t>
            </a:r>
            <a:endParaRPr lang="en-NG" dirty="0"/>
          </a:p>
        </p:txBody>
      </p:sp>
    </p:spTree>
    <p:extLst>
      <p:ext uri="{BB962C8B-B14F-4D97-AF65-F5344CB8AC3E}">
        <p14:creationId xmlns:p14="http://schemas.microsoft.com/office/powerpoint/2010/main" val="613347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A3BFB-359A-4293-8CD2-98784C6679BB}"/>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6C29A349-7541-4050-B751-82A6DA606B10}"/>
              </a:ext>
            </a:extLst>
          </p:cNvPr>
          <p:cNvSpPr>
            <a:spLocks noGrp="1"/>
          </p:cNvSpPr>
          <p:nvPr>
            <p:ph idx="1"/>
          </p:nvPr>
        </p:nvSpPr>
        <p:spPr/>
        <p:txBody>
          <a:bodyPr/>
          <a:lstStyle/>
          <a:p>
            <a:pPr marL="0" indent="0">
              <a:buNone/>
            </a:pPr>
            <a:r>
              <a:rPr lang="en-US" dirty="0"/>
              <a:t>Equations 1 and 2  are known as the Galilean transformation. Newton’s laws are invariant under a Galilean transformation, that is they have the same form in both systems K and K’.</a:t>
            </a:r>
          </a:p>
          <a:p>
            <a:pPr marL="0" indent="0">
              <a:buNone/>
            </a:pPr>
            <a:r>
              <a:rPr lang="en-US" dirty="0"/>
              <a:t>In the late nineteenth century, Albert Einstein was  concerned that although Newton’s laws of motion had the same form under a Galilean transformation. Maxwell’s equation did not.</a:t>
            </a:r>
            <a:endParaRPr lang="en-NG" dirty="0"/>
          </a:p>
        </p:txBody>
      </p:sp>
    </p:spTree>
    <p:extLst>
      <p:ext uri="{BB962C8B-B14F-4D97-AF65-F5344CB8AC3E}">
        <p14:creationId xmlns:p14="http://schemas.microsoft.com/office/powerpoint/2010/main" val="63214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C471-7BA7-440D-934E-A898D72DB882}"/>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4E3F4AFA-DD04-4D24-9677-E19AFB51EEC5}"/>
              </a:ext>
            </a:extLst>
          </p:cNvPr>
          <p:cNvSpPr>
            <a:spLocks noGrp="1"/>
          </p:cNvSpPr>
          <p:nvPr>
            <p:ph idx="1"/>
          </p:nvPr>
        </p:nvSpPr>
        <p:spPr/>
        <p:txBody>
          <a:bodyPr/>
          <a:lstStyle/>
          <a:p>
            <a:pPr marL="0" indent="0">
              <a:buNone/>
            </a:pPr>
            <a:r>
              <a:rPr lang="en-US" dirty="0"/>
              <a:t>Einstein in 1905 proposed that space and time are not separable and that Newton’s laws are only an approximation. This concept is called the special theory of relativity.</a:t>
            </a:r>
          </a:p>
          <a:p>
            <a:pPr marL="0" indent="0">
              <a:buNone/>
            </a:pPr>
            <a:r>
              <a:rPr lang="en-US" dirty="0"/>
              <a:t>Question Explain the special theory of relativity</a:t>
            </a:r>
          </a:p>
          <a:p>
            <a:pPr marL="0" indent="0">
              <a:buNone/>
            </a:pPr>
            <a:r>
              <a:rPr lang="en-US" dirty="0"/>
              <a:t>Answer. The special theory of relativity postulates the following</a:t>
            </a:r>
          </a:p>
          <a:p>
            <a:pPr marL="0" indent="0">
              <a:buNone/>
            </a:pPr>
            <a:r>
              <a:rPr lang="en-US" dirty="0"/>
              <a:t>1 The laws of physics are the same in all inertial systems. There is no way to detect absolute motion and no preferred inertial system exists</a:t>
            </a:r>
          </a:p>
          <a:p>
            <a:pPr marL="0" indent="0">
              <a:buNone/>
            </a:pPr>
            <a:r>
              <a:rPr lang="en-US" dirty="0"/>
              <a:t>2 Observers in all inertial systems measure the same value for the speed of light in a vacuum.</a:t>
            </a:r>
            <a:endParaRPr lang="en-NG" dirty="0"/>
          </a:p>
        </p:txBody>
      </p:sp>
    </p:spTree>
    <p:extLst>
      <p:ext uri="{BB962C8B-B14F-4D97-AF65-F5344CB8AC3E}">
        <p14:creationId xmlns:p14="http://schemas.microsoft.com/office/powerpoint/2010/main" val="3389855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23AF-2EFD-4DC6-92E7-BCB5ECE0E2B6}"/>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619028EC-48D4-4E23-B13D-739CF20A89E9}"/>
              </a:ext>
            </a:extLst>
          </p:cNvPr>
          <p:cNvSpPr>
            <a:spLocks noGrp="1"/>
          </p:cNvSpPr>
          <p:nvPr>
            <p:ph idx="1"/>
          </p:nvPr>
        </p:nvSpPr>
        <p:spPr/>
        <p:txBody>
          <a:bodyPr/>
          <a:lstStyle/>
          <a:p>
            <a:pPr marL="514350" indent="-514350">
              <a:buAutoNum type="arabicPlain" startAt="3"/>
            </a:pPr>
            <a:r>
              <a:rPr lang="en-US" dirty="0"/>
              <a:t>Space and time are not separable</a:t>
            </a:r>
          </a:p>
          <a:p>
            <a:pPr marL="514350" indent="-514350">
              <a:buAutoNum type="arabicPlain" startAt="3"/>
            </a:pPr>
            <a:endParaRPr lang="en-US" dirty="0"/>
          </a:p>
          <a:p>
            <a:pPr marL="0" indent="0">
              <a:buNone/>
            </a:pPr>
            <a:r>
              <a:rPr lang="en-US" dirty="0"/>
              <a:t>The  first postulate indicates that the laws of physics are the same in all</a:t>
            </a:r>
          </a:p>
          <a:p>
            <a:pPr marL="0" indent="0">
              <a:buNone/>
            </a:pPr>
            <a:r>
              <a:rPr lang="en-US" dirty="0"/>
              <a:t>coordinate systems moving with uniform relative motion to each other.</a:t>
            </a:r>
          </a:p>
          <a:p>
            <a:pPr marL="0" indent="0">
              <a:buNone/>
            </a:pPr>
            <a:r>
              <a:rPr lang="en-US" dirty="0"/>
              <a:t>Although, Newton’s principle referred only to the laws of mechanics, Einstein expanded it to include all laws of physics including those of electromagnetism</a:t>
            </a:r>
            <a:endParaRPr lang="en-NG" dirty="0"/>
          </a:p>
        </p:txBody>
      </p:sp>
    </p:spTree>
    <p:extLst>
      <p:ext uri="{BB962C8B-B14F-4D97-AF65-F5344CB8AC3E}">
        <p14:creationId xmlns:p14="http://schemas.microsoft.com/office/powerpoint/2010/main" val="1816577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E325-4A35-4000-A814-F1F3CFDCCABC}"/>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CD4CAA6D-A0DD-445B-9BE8-BAD3D13F13DF}"/>
              </a:ext>
            </a:extLst>
          </p:cNvPr>
          <p:cNvSpPr>
            <a:spLocks noGrp="1"/>
          </p:cNvSpPr>
          <p:nvPr>
            <p:ph idx="1"/>
          </p:nvPr>
        </p:nvSpPr>
        <p:spPr/>
        <p:txBody>
          <a:bodyPr/>
          <a:lstStyle/>
          <a:p>
            <a:pPr marL="0" indent="0">
              <a:buNone/>
            </a:pPr>
            <a:r>
              <a:rPr lang="en-US" dirty="0"/>
              <a:t>Question: What  is an inertial frame of reference?</a:t>
            </a:r>
          </a:p>
          <a:p>
            <a:pPr marL="0" indent="0">
              <a:buNone/>
            </a:pPr>
            <a:r>
              <a:rPr lang="en-US" dirty="0"/>
              <a:t>Answer: An inertial frame of reference is that frame of reference in which all laws of physics are valid.</a:t>
            </a:r>
          </a:p>
          <a:p>
            <a:pPr marL="0" indent="0">
              <a:buNone/>
            </a:pPr>
            <a:endParaRPr lang="en-US" dirty="0"/>
          </a:p>
          <a:p>
            <a:pPr marL="0" indent="0">
              <a:buNone/>
            </a:pPr>
            <a:endParaRPr lang="en-NG" dirty="0"/>
          </a:p>
        </p:txBody>
      </p:sp>
    </p:spTree>
    <p:extLst>
      <p:ext uri="{BB962C8B-B14F-4D97-AF65-F5344CB8AC3E}">
        <p14:creationId xmlns:p14="http://schemas.microsoft.com/office/powerpoint/2010/main" val="2480329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AE39-E8E4-4A1E-993C-C71B84AE964C}"/>
              </a:ext>
            </a:extLst>
          </p:cNvPr>
          <p:cNvSpPr>
            <a:spLocks noGrp="1"/>
          </p:cNvSpPr>
          <p:nvPr>
            <p:ph type="title"/>
          </p:nvPr>
        </p:nvSpPr>
        <p:spPr/>
        <p:txBody>
          <a:bodyPr/>
          <a:lstStyle/>
          <a:p>
            <a:r>
              <a:rPr lang="en-US" dirty="0"/>
              <a:t>Special theory of relativity.</a:t>
            </a:r>
            <a:endParaRPr lang="en-NG" dirty="0"/>
          </a:p>
        </p:txBody>
      </p:sp>
      <p:sp>
        <p:nvSpPr>
          <p:cNvPr id="3" name="Content Placeholder 2">
            <a:extLst>
              <a:ext uri="{FF2B5EF4-FFF2-40B4-BE49-F238E27FC236}">
                <a16:creationId xmlns:a16="http://schemas.microsoft.com/office/drawing/2014/main" id="{5646AA5C-EA07-4774-8432-0310E946FA62}"/>
              </a:ext>
            </a:extLst>
          </p:cNvPr>
          <p:cNvSpPr>
            <a:spLocks noGrp="1"/>
          </p:cNvSpPr>
          <p:nvPr>
            <p:ph idx="1"/>
          </p:nvPr>
        </p:nvSpPr>
        <p:spPr/>
        <p:txBody>
          <a:bodyPr/>
          <a:lstStyle/>
          <a:p>
            <a:pPr marL="0" indent="0">
              <a:buNone/>
            </a:pPr>
            <a:r>
              <a:rPr lang="en-US" dirty="0"/>
              <a:t>Due to the special theory of relativity, there is transformation of momentum, force and energy.</a:t>
            </a:r>
          </a:p>
          <a:p>
            <a:pPr marL="0" indent="0">
              <a:buNone/>
            </a:pPr>
            <a:r>
              <a:rPr lang="en-US" dirty="0"/>
              <a:t>Maxwell’s equations in electromagnetism, don’t require change, because electric and magnetic effects are relative depending on the observer.</a:t>
            </a:r>
            <a:endParaRPr lang="en-NG" dirty="0"/>
          </a:p>
        </p:txBody>
      </p:sp>
    </p:spTree>
    <p:extLst>
      <p:ext uri="{BB962C8B-B14F-4D97-AF65-F5344CB8AC3E}">
        <p14:creationId xmlns:p14="http://schemas.microsoft.com/office/powerpoint/2010/main" val="2160109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C3049-9F41-40F9-88F4-C6CBC102B2B7}"/>
              </a:ext>
            </a:extLst>
          </p:cNvPr>
          <p:cNvSpPr>
            <a:spLocks noGrp="1"/>
          </p:cNvSpPr>
          <p:nvPr>
            <p:ph type="title"/>
          </p:nvPr>
        </p:nvSpPr>
        <p:spPr/>
        <p:txBody>
          <a:bodyPr/>
          <a:lstStyle/>
          <a:p>
            <a:r>
              <a:rPr lang="en-US" dirty="0"/>
              <a:t>Simultaneity</a:t>
            </a:r>
            <a:endParaRPr lang="en-NG" dirty="0"/>
          </a:p>
        </p:txBody>
      </p:sp>
      <p:sp>
        <p:nvSpPr>
          <p:cNvPr id="3" name="Content Placeholder 2">
            <a:extLst>
              <a:ext uri="{FF2B5EF4-FFF2-40B4-BE49-F238E27FC236}">
                <a16:creationId xmlns:a16="http://schemas.microsoft.com/office/drawing/2014/main" id="{A785BD41-ED6E-425E-AED1-23BE59235C96}"/>
              </a:ext>
            </a:extLst>
          </p:cNvPr>
          <p:cNvSpPr>
            <a:spLocks noGrp="1"/>
          </p:cNvSpPr>
          <p:nvPr>
            <p:ph idx="1"/>
          </p:nvPr>
        </p:nvSpPr>
        <p:spPr/>
        <p:txBody>
          <a:bodyPr/>
          <a:lstStyle/>
          <a:p>
            <a:pPr marL="0" indent="0">
              <a:buNone/>
            </a:pPr>
            <a:r>
              <a:rPr lang="en-US" dirty="0"/>
              <a:t>The figure below explains simultaneity. There are two reference frames K and K’. We assume t = t’. Each system has it’s observer with it’s own clock and meter stick. An event in a given system must be specified by stating both it’s space and time co ordinates. </a:t>
            </a:r>
          </a:p>
          <a:p>
            <a:pPr marL="0" indent="0">
              <a:buNone/>
            </a:pPr>
            <a:r>
              <a:rPr lang="en-US" dirty="0"/>
              <a:t>Consider the flashing of two  bulbs fixed in system K as shown below.</a:t>
            </a:r>
          </a:p>
          <a:p>
            <a:pPr marL="0" indent="0">
              <a:buNone/>
            </a:pPr>
            <a:r>
              <a:rPr lang="en-US" dirty="0"/>
              <a:t>Mary is in system K’ (the moving system). She is beside Frank who is in system K  (the fixed system) and the light bulbs are flashed.</a:t>
            </a:r>
            <a:endParaRPr lang="en-NG" dirty="0"/>
          </a:p>
        </p:txBody>
      </p:sp>
    </p:spTree>
    <p:extLst>
      <p:ext uri="{BB962C8B-B14F-4D97-AF65-F5344CB8AC3E}">
        <p14:creationId xmlns:p14="http://schemas.microsoft.com/office/powerpoint/2010/main" val="2453000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5A9A5-0565-43E1-862C-CB3927A4A173}"/>
              </a:ext>
            </a:extLst>
          </p:cNvPr>
          <p:cNvSpPr>
            <a:spLocks noGrp="1"/>
          </p:cNvSpPr>
          <p:nvPr>
            <p:ph type="title"/>
          </p:nvPr>
        </p:nvSpPr>
        <p:spPr/>
        <p:txBody>
          <a:bodyPr/>
          <a:lstStyle/>
          <a:p>
            <a:r>
              <a:rPr lang="en-US" dirty="0"/>
              <a:t>Simultaneity</a:t>
            </a:r>
            <a:endParaRPr lang="en-NG" dirty="0"/>
          </a:p>
        </p:txBody>
      </p:sp>
      <p:pic>
        <p:nvPicPr>
          <p:cNvPr id="4" name="Content Placeholder 3">
            <a:extLst>
              <a:ext uri="{FF2B5EF4-FFF2-40B4-BE49-F238E27FC236}">
                <a16:creationId xmlns:a16="http://schemas.microsoft.com/office/drawing/2014/main" id="{07452FFB-FCFA-4846-8A46-02EACF8F7BC0}"/>
              </a:ext>
            </a:extLst>
          </p:cNvPr>
          <p:cNvPicPr>
            <a:picLocks noGrp="1" noChangeAspect="1"/>
          </p:cNvPicPr>
          <p:nvPr>
            <p:ph idx="1"/>
          </p:nvPr>
        </p:nvPicPr>
        <p:blipFill>
          <a:blip r:embed="rId2"/>
          <a:stretch>
            <a:fillRect/>
          </a:stretch>
        </p:blipFill>
        <p:spPr>
          <a:xfrm>
            <a:off x="244549" y="276448"/>
            <a:ext cx="10855842" cy="6581552"/>
          </a:xfrm>
          <a:prstGeom prst="rect">
            <a:avLst/>
          </a:prstGeom>
        </p:spPr>
      </p:pic>
    </p:spTree>
    <p:extLst>
      <p:ext uri="{BB962C8B-B14F-4D97-AF65-F5344CB8AC3E}">
        <p14:creationId xmlns:p14="http://schemas.microsoft.com/office/powerpoint/2010/main" val="3388706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9E615-8E79-4B81-895A-18B7DF7FA156}"/>
              </a:ext>
            </a:extLst>
          </p:cNvPr>
          <p:cNvSpPr>
            <a:spLocks noGrp="1"/>
          </p:cNvSpPr>
          <p:nvPr>
            <p:ph type="title"/>
          </p:nvPr>
        </p:nvSpPr>
        <p:spPr/>
        <p:txBody>
          <a:bodyPr/>
          <a:lstStyle/>
          <a:p>
            <a:r>
              <a:rPr lang="en-US" dirty="0"/>
              <a:t>Simultaneity</a:t>
            </a:r>
            <a:endParaRPr lang="en-NG" dirty="0"/>
          </a:p>
        </p:txBody>
      </p:sp>
      <p:sp>
        <p:nvSpPr>
          <p:cNvPr id="3" name="Content Placeholder 2">
            <a:extLst>
              <a:ext uri="{FF2B5EF4-FFF2-40B4-BE49-F238E27FC236}">
                <a16:creationId xmlns:a16="http://schemas.microsoft.com/office/drawing/2014/main" id="{F79F422E-1F05-417E-BD53-6EF6FE3D2078}"/>
              </a:ext>
            </a:extLst>
          </p:cNvPr>
          <p:cNvSpPr>
            <a:spLocks noGrp="1"/>
          </p:cNvSpPr>
          <p:nvPr>
            <p:ph idx="1"/>
          </p:nvPr>
        </p:nvSpPr>
        <p:spPr/>
        <p:txBody>
          <a:bodyPr/>
          <a:lstStyle/>
          <a:p>
            <a:pPr marL="0" indent="0">
              <a:buNone/>
            </a:pPr>
            <a:r>
              <a:rPr lang="en-US" dirty="0"/>
              <a:t>As seen in (b), the light pulses travel the same distance in system K and arrive at Frank simultaneously.  Frank sees the two bulbs at the same time. However the two light pulses do not reach Mary simultaneously</a:t>
            </a:r>
          </a:p>
          <a:p>
            <a:pPr marL="0" indent="0">
              <a:buNone/>
            </a:pPr>
            <a:r>
              <a:rPr lang="en-US" dirty="0"/>
              <a:t>because system K’ is moving to the right and she has moved closer to the bulb on the right by the time the flash reaches her. The light flash</a:t>
            </a:r>
          </a:p>
          <a:p>
            <a:pPr marL="0" indent="0">
              <a:buNone/>
            </a:pPr>
            <a:r>
              <a:rPr lang="en-US" dirty="0"/>
              <a:t>coming from the left will  reach her at some later time.</a:t>
            </a:r>
          </a:p>
          <a:p>
            <a:pPr marL="0" indent="0">
              <a:buNone/>
            </a:pPr>
            <a:r>
              <a:rPr lang="en-US" dirty="0"/>
              <a:t>Mary thus determines that the light on the right flashes before the one on the left, because she is at rest in her frame, and both flashes approach her at speed c.</a:t>
            </a:r>
            <a:endParaRPr lang="en-NG" dirty="0"/>
          </a:p>
        </p:txBody>
      </p:sp>
    </p:spTree>
    <p:extLst>
      <p:ext uri="{BB962C8B-B14F-4D97-AF65-F5344CB8AC3E}">
        <p14:creationId xmlns:p14="http://schemas.microsoft.com/office/powerpoint/2010/main" val="2570969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E01E1-44CD-49DF-A732-71A31F4C3BA6}"/>
              </a:ext>
            </a:extLst>
          </p:cNvPr>
          <p:cNvSpPr>
            <a:spLocks noGrp="1"/>
          </p:cNvSpPr>
          <p:nvPr>
            <p:ph type="title"/>
          </p:nvPr>
        </p:nvSpPr>
        <p:spPr/>
        <p:txBody>
          <a:bodyPr/>
          <a:lstStyle/>
          <a:p>
            <a:r>
              <a:rPr lang="en-US" dirty="0"/>
              <a:t>Simultaneity</a:t>
            </a:r>
            <a:endParaRPr lang="en-NG" dirty="0"/>
          </a:p>
        </p:txBody>
      </p:sp>
      <p:sp>
        <p:nvSpPr>
          <p:cNvPr id="3" name="Content Placeholder 2">
            <a:extLst>
              <a:ext uri="{FF2B5EF4-FFF2-40B4-BE49-F238E27FC236}">
                <a16:creationId xmlns:a16="http://schemas.microsoft.com/office/drawing/2014/main" id="{F1770EF6-FDBA-4E71-B347-69597C6DC2CA}"/>
              </a:ext>
            </a:extLst>
          </p:cNvPr>
          <p:cNvSpPr>
            <a:spLocks noGrp="1"/>
          </p:cNvSpPr>
          <p:nvPr>
            <p:ph idx="1"/>
          </p:nvPr>
        </p:nvSpPr>
        <p:spPr/>
        <p:txBody>
          <a:bodyPr/>
          <a:lstStyle/>
          <a:p>
            <a:endParaRPr lang="en-US" dirty="0"/>
          </a:p>
          <a:p>
            <a:pPr marL="0" indent="0">
              <a:buNone/>
            </a:pPr>
            <a:r>
              <a:rPr lang="en-US" dirty="0"/>
              <a:t>We conclude that two events that are simultaneous in one reference frame (K) are not necessarily simultaneous in another reference frame K’ moving with respect to the first frame.</a:t>
            </a:r>
          </a:p>
          <a:p>
            <a:pPr marL="0" indent="0">
              <a:buNone/>
            </a:pPr>
            <a:r>
              <a:rPr lang="en-US" dirty="0"/>
              <a:t>Question: Explain the problem of simultaneity</a:t>
            </a:r>
          </a:p>
          <a:p>
            <a:pPr marL="0" indent="0">
              <a:buNone/>
            </a:pPr>
            <a:r>
              <a:rPr lang="en-US" dirty="0"/>
              <a:t>Answer Two events that are simultaneous in one reference frame (K) are not necessarily  simultaneous in another reference frame (K’) moving with respect to the first frame.</a:t>
            </a:r>
            <a:endParaRPr lang="en-NG" dirty="0"/>
          </a:p>
        </p:txBody>
      </p:sp>
    </p:spTree>
    <p:extLst>
      <p:ext uri="{BB962C8B-B14F-4D97-AF65-F5344CB8AC3E}">
        <p14:creationId xmlns:p14="http://schemas.microsoft.com/office/powerpoint/2010/main" val="2995586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0A23-5590-4565-9573-051452572B2E}"/>
              </a:ext>
            </a:extLst>
          </p:cNvPr>
          <p:cNvSpPr>
            <a:spLocks noGrp="1"/>
          </p:cNvSpPr>
          <p:nvPr>
            <p:ph type="title"/>
          </p:nvPr>
        </p:nvSpPr>
        <p:spPr/>
        <p:txBody>
          <a:bodyPr/>
          <a:lstStyle/>
          <a:p>
            <a:r>
              <a:rPr lang="en-US" dirty="0"/>
              <a:t>Galilean transformation</a:t>
            </a:r>
            <a:endParaRPr lang="en-NG" dirty="0"/>
          </a:p>
        </p:txBody>
      </p:sp>
      <p:sp>
        <p:nvSpPr>
          <p:cNvPr id="3" name="Content Placeholder 2">
            <a:extLst>
              <a:ext uri="{FF2B5EF4-FFF2-40B4-BE49-F238E27FC236}">
                <a16:creationId xmlns:a16="http://schemas.microsoft.com/office/drawing/2014/main" id="{CCDC2BC6-564A-421A-8919-73C76DC16592}"/>
              </a:ext>
            </a:extLst>
          </p:cNvPr>
          <p:cNvSpPr>
            <a:spLocks noGrp="1"/>
          </p:cNvSpPr>
          <p:nvPr>
            <p:ph idx="1"/>
          </p:nvPr>
        </p:nvSpPr>
        <p:spPr/>
        <p:txBody>
          <a:bodyPr/>
          <a:lstStyle/>
          <a:p>
            <a:pPr marL="0" indent="0">
              <a:buNone/>
            </a:pPr>
            <a:r>
              <a:rPr lang="en-US" dirty="0"/>
              <a:t>Question: What is the Galilean transformation?</a:t>
            </a:r>
          </a:p>
          <a:p>
            <a:pPr marL="0" indent="0">
              <a:buNone/>
            </a:pPr>
            <a:r>
              <a:rPr lang="en-US" dirty="0"/>
              <a:t>Answer:  The Galilean transformation states that Newton’s  laws of motion are invariant in inertial frame of reference. This means  newton’s laws of motion have the same form in an inertial frame K</a:t>
            </a:r>
          </a:p>
          <a:p>
            <a:pPr marL="0" indent="0">
              <a:buNone/>
            </a:pPr>
            <a:r>
              <a:rPr lang="en-US" dirty="0"/>
              <a:t>and in another frame K’ moving with uniform velocity v with respect to the first.</a:t>
            </a:r>
          </a:p>
          <a:p>
            <a:endParaRPr lang="en-NG" dirty="0"/>
          </a:p>
        </p:txBody>
      </p:sp>
    </p:spTree>
    <p:extLst>
      <p:ext uri="{BB962C8B-B14F-4D97-AF65-F5344CB8AC3E}">
        <p14:creationId xmlns:p14="http://schemas.microsoft.com/office/powerpoint/2010/main" val="873471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A3511-234F-44E3-B5E8-93DAA03AA4D7}"/>
              </a:ext>
            </a:extLst>
          </p:cNvPr>
          <p:cNvSpPr>
            <a:spLocks noGrp="1"/>
          </p:cNvSpPr>
          <p:nvPr>
            <p:ph type="title"/>
          </p:nvPr>
        </p:nvSpPr>
        <p:spPr/>
        <p:txBody>
          <a:bodyPr/>
          <a:lstStyle/>
          <a:p>
            <a:r>
              <a:rPr lang="en-US" dirty="0"/>
              <a:t>The Lorentz transformation</a:t>
            </a:r>
            <a:endParaRPr lang="en-NG" dirty="0"/>
          </a:p>
        </p:txBody>
      </p:sp>
      <p:sp>
        <p:nvSpPr>
          <p:cNvPr id="3" name="Content Placeholder 2">
            <a:extLst>
              <a:ext uri="{FF2B5EF4-FFF2-40B4-BE49-F238E27FC236}">
                <a16:creationId xmlns:a16="http://schemas.microsoft.com/office/drawing/2014/main" id="{C7DF66EB-23F4-4642-B8B0-E6CDD9CAF97D}"/>
              </a:ext>
            </a:extLst>
          </p:cNvPr>
          <p:cNvSpPr>
            <a:spLocks noGrp="1"/>
          </p:cNvSpPr>
          <p:nvPr>
            <p:ph idx="1"/>
          </p:nvPr>
        </p:nvSpPr>
        <p:spPr/>
        <p:txBody>
          <a:bodyPr/>
          <a:lstStyle/>
          <a:p>
            <a:pPr marL="0" indent="0">
              <a:buNone/>
            </a:pPr>
            <a:r>
              <a:rPr lang="en-US" dirty="0"/>
              <a:t>The Lorentz transformation states that the laws of physics are invariant between inertial frames of reference. Looking at fig 2</a:t>
            </a:r>
          </a:p>
          <a:p>
            <a:pPr marL="0" indent="0">
              <a:buNone/>
            </a:pPr>
            <a:r>
              <a:rPr lang="en-US" dirty="0"/>
              <a:t>t = t’ = 0 since the origin of the two co ordinate systems coincide with one another, and system K’ is travelling along the x and x’ axis. Then the Lorentz transformation equations are</a:t>
            </a:r>
          </a:p>
          <a:p>
            <a:endParaRPr lang="en-NG" dirty="0"/>
          </a:p>
        </p:txBody>
      </p:sp>
    </p:spTree>
    <p:extLst>
      <p:ext uri="{BB962C8B-B14F-4D97-AF65-F5344CB8AC3E}">
        <p14:creationId xmlns:p14="http://schemas.microsoft.com/office/powerpoint/2010/main" val="843163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7FE39-7F27-49FA-A1B5-B21B01CB9878}"/>
              </a:ext>
            </a:extLst>
          </p:cNvPr>
          <p:cNvSpPr>
            <a:spLocks noGrp="1"/>
          </p:cNvSpPr>
          <p:nvPr>
            <p:ph type="title"/>
          </p:nvPr>
        </p:nvSpPr>
        <p:spPr/>
        <p:txBody>
          <a:bodyPr/>
          <a:lstStyle/>
          <a:p>
            <a:r>
              <a:rPr lang="en-US" dirty="0"/>
              <a:t>Lorentz transformation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9C6B6E-1F4D-4D89-AF5E-14563368EE96}"/>
                  </a:ext>
                </a:extLst>
              </p:cNvPr>
              <p:cNvSpPr>
                <a:spLocks noGrp="1"/>
              </p:cNvSpPr>
              <p:nvPr>
                <p:ph idx="1"/>
              </p:nvPr>
            </p:nvSpPr>
            <p:spPr/>
            <p:txBody>
              <a:bodyPr/>
              <a:lstStyle/>
              <a:p>
                <a:pPr marL="0" indent="0">
                  <a:buNone/>
                </a:pP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  </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𝑣𝑡</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oMath>
                </a14:m>
                <a:r>
                  <a:rPr lang="en-US" dirty="0"/>
                  <a:t>  ……………………………………………………(1)</a:t>
                </a:r>
              </a:p>
              <a:p>
                <a:endParaRPr lang="en-US" dirty="0"/>
              </a:p>
              <a:p>
                <a:pPr marL="0" indent="0">
                  <a:buNone/>
                </a:pPr>
                <a:r>
                  <a:rPr lang="en-US" dirty="0"/>
                  <a:t>                                                y’  = y ………………………..(2)</a:t>
                </a:r>
              </a:p>
              <a:p>
                <a:pPr marL="0" indent="0">
                  <a:buNone/>
                </a:pPr>
                <a:r>
                  <a:rPr lang="en-US" dirty="0"/>
                  <a:t>                                                 z’  = z …………………………(3)</a:t>
                </a:r>
              </a:p>
              <a:p>
                <a:pPr marL="0" indent="0">
                  <a:buNone/>
                </a:pPr>
                <a:r>
                  <a:rPr lang="en-US" dirty="0"/>
                  <a:t>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𝑡</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𝑣𝑥</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m:t>
                    </m:r>
                  </m:oMath>
                </a14:m>
                <a:r>
                  <a:rPr lang="en-US" dirty="0"/>
                  <a:t>      ……………………………………………………..(4) </a:t>
                </a:r>
                <a:endParaRPr lang="en-NG" dirty="0"/>
              </a:p>
            </p:txBody>
          </p:sp>
        </mc:Choice>
        <mc:Fallback xmlns="">
          <p:sp>
            <p:nvSpPr>
              <p:cNvPr id="3" name="Content Placeholder 2">
                <a:extLst>
                  <a:ext uri="{FF2B5EF4-FFF2-40B4-BE49-F238E27FC236}">
                    <a16:creationId xmlns:a16="http://schemas.microsoft.com/office/drawing/2014/main" id="{639C6B6E-1F4D-4D89-AF5E-14563368EE96}"/>
                  </a:ext>
                </a:extLst>
              </p:cNvPr>
              <p:cNvSpPr>
                <a:spLocks noGrp="1" noRot="1" noChangeAspect="1" noMove="1" noResize="1" noEditPoints="1" noAdjustHandles="1" noChangeArrowheads="1" noChangeShapeType="1" noTextEdit="1"/>
              </p:cNvSpPr>
              <p:nvPr>
                <p:ph idx="1"/>
              </p:nvPr>
            </p:nvSpPr>
            <p:spPr>
              <a:blipFill>
                <a:blip r:embed="rId2"/>
                <a:stretch>
                  <a:fillRect l="-1217" t="-840"/>
                </a:stretch>
              </a:blipFill>
            </p:spPr>
            <p:txBody>
              <a:bodyPr/>
              <a:lstStyle/>
              <a:p>
                <a:r>
                  <a:rPr lang="en-NG">
                    <a:noFill/>
                  </a:rPr>
                  <a:t> </a:t>
                </a:r>
              </a:p>
            </p:txBody>
          </p:sp>
        </mc:Fallback>
      </mc:AlternateContent>
    </p:spTree>
    <p:extLst>
      <p:ext uri="{BB962C8B-B14F-4D97-AF65-F5344CB8AC3E}">
        <p14:creationId xmlns:p14="http://schemas.microsoft.com/office/powerpoint/2010/main" val="28103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6F1A-517B-4C6C-AC7A-DB7CBA46C2A1}"/>
              </a:ext>
            </a:extLst>
          </p:cNvPr>
          <p:cNvSpPr>
            <a:spLocks noGrp="1"/>
          </p:cNvSpPr>
          <p:nvPr>
            <p:ph type="title"/>
          </p:nvPr>
        </p:nvSpPr>
        <p:spPr/>
        <p:txBody>
          <a:bodyPr/>
          <a:lstStyle/>
          <a:p>
            <a:r>
              <a:rPr lang="en-US" dirty="0"/>
              <a:t>Special theory of relativity</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6A98BA-D2DB-4724-BEAD-0BBDBDE6D1FF}"/>
                  </a:ext>
                </a:extLst>
              </p:cNvPr>
              <p:cNvSpPr>
                <a:spLocks noGrp="1"/>
              </p:cNvSpPr>
              <p:nvPr>
                <p:ph idx="1"/>
              </p:nvPr>
            </p:nvSpPr>
            <p:spPr/>
            <p:txBody>
              <a:bodyPr/>
              <a:lstStyle/>
              <a:p>
                <a:pPr marL="0" indent="0">
                  <a:buNone/>
                </a:pPr>
                <a:r>
                  <a:rPr lang="en-US" dirty="0"/>
                  <a:t>Equations  1  to 4 above are Lorentz transformation equations</a:t>
                </a:r>
              </a:p>
              <a:p>
                <a:pPr marL="0" indent="0">
                  <a:buNone/>
                </a:pPr>
                <a:r>
                  <a:rPr lang="en-US" dirty="0"/>
                  <a:t>We commonly use the symbol  </a:t>
                </a:r>
                <a:r>
                  <a:rPr lang="el-GR" dirty="0"/>
                  <a:t>β</a:t>
                </a:r>
                <a:r>
                  <a:rPr lang="en-US" dirty="0"/>
                  <a:t> and the relativistic factor </a:t>
                </a:r>
                <a:r>
                  <a:rPr lang="el-GR" dirty="0"/>
                  <a:t>ϒ</a:t>
                </a:r>
                <a:r>
                  <a:rPr lang="en-US" dirty="0"/>
                  <a:t> to represent longer expressions</a:t>
                </a:r>
              </a:p>
              <a:p>
                <a:pPr marL="0" indent="0">
                  <a:buNone/>
                </a:pPr>
                <a:r>
                  <a:rPr lang="el-GR" dirty="0"/>
                  <a:t>β</a:t>
                </a:r>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𝑣</m:t>
                        </m:r>
                      </m:num>
                      <m:den>
                        <m:r>
                          <a:rPr lang="en-US" b="0" i="1" smtClean="0">
                            <a:latin typeface="Cambria Math" panose="02040503050406030204" pitchFamily="18" charset="0"/>
                          </a:rPr>
                          <m:t>𝑐</m:t>
                        </m:r>
                      </m:den>
                    </m:f>
                    <m:r>
                      <a:rPr lang="en-US" b="0" i="1" smtClean="0">
                        <a:latin typeface="Cambria Math" panose="02040503050406030204" pitchFamily="18" charset="0"/>
                      </a:rPr>
                      <m:t>  </m:t>
                    </m:r>
                  </m:oMath>
                </a14:m>
                <a:r>
                  <a:rPr lang="en-US" dirty="0"/>
                  <a:t>                                                           (5)</a:t>
                </a:r>
              </a:p>
              <a:p>
                <a:pPr marL="0" indent="0">
                  <a:buNone/>
                </a:pPr>
                <a:r>
                  <a:rPr lang="en-US" dirty="0"/>
                  <a:t>ϒ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den>
                        </m:f>
                        <m:r>
                          <a:rPr lang="en-US" b="0" i="1" smtClean="0">
                            <a:latin typeface="Cambria Math" panose="02040503050406030204" pitchFamily="18" charset="0"/>
                            <a:ea typeface="Cambria Math" panose="02040503050406030204" pitchFamily="18" charset="0"/>
                          </a:rPr>
                          <m:t>)</m:t>
                        </m:r>
                      </m:den>
                    </m:f>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β</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oMath>
                </a14:m>
                <a:r>
                  <a:rPr lang="en-US" dirty="0"/>
                  <a:t>                                             (6)</a:t>
                </a:r>
              </a:p>
              <a:p>
                <a:pPr marL="0" indent="0">
                  <a:buNone/>
                </a:pPr>
                <a:r>
                  <a:rPr lang="en-US" dirty="0"/>
                  <a:t>        </a:t>
                </a:r>
                <a:endParaRPr lang="en-NG" dirty="0"/>
              </a:p>
            </p:txBody>
          </p:sp>
        </mc:Choice>
        <mc:Fallback xmlns="">
          <p:sp>
            <p:nvSpPr>
              <p:cNvPr id="3" name="Content Placeholder 2">
                <a:extLst>
                  <a:ext uri="{FF2B5EF4-FFF2-40B4-BE49-F238E27FC236}">
                    <a16:creationId xmlns:a16="http://schemas.microsoft.com/office/drawing/2014/main" id="{736A98BA-D2DB-4724-BEAD-0BBDBDE6D1FF}"/>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2884582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AD71D-8EA4-4CF6-A282-934652ECE353}"/>
              </a:ext>
            </a:extLst>
          </p:cNvPr>
          <p:cNvSpPr>
            <a:spLocks noGrp="1"/>
          </p:cNvSpPr>
          <p:nvPr>
            <p:ph type="title"/>
          </p:nvPr>
        </p:nvSpPr>
        <p:spPr>
          <a:xfrm>
            <a:off x="838200" y="365125"/>
            <a:ext cx="10515600" cy="45719"/>
          </a:xfrm>
        </p:spPr>
        <p:txBody>
          <a:bodyPr>
            <a:normAutofit fontScale="90000"/>
          </a:bodyPr>
          <a:lstStyle/>
          <a:p>
            <a:r>
              <a:rPr lang="en-US" dirty="0"/>
              <a:t>Special theory of relativity</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8B34C7-0DDC-4798-BFA4-1F6BA65EA275}"/>
                  </a:ext>
                </a:extLst>
              </p:cNvPr>
              <p:cNvSpPr>
                <a:spLocks noGrp="1"/>
              </p:cNvSpPr>
              <p:nvPr>
                <p:ph idx="1"/>
              </p:nvPr>
            </p:nvSpPr>
            <p:spPr>
              <a:xfrm>
                <a:off x="838200" y="1201479"/>
                <a:ext cx="10515600" cy="4975484"/>
              </a:xfrm>
            </p:spPr>
            <p:txBody>
              <a:bodyPr/>
              <a:lstStyle/>
              <a:p>
                <a:pPr marL="0" indent="0">
                  <a:buNone/>
                </a:pPr>
                <a:r>
                  <a:rPr lang="en-US" dirty="0"/>
                  <a:t>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𝑡</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𝑣𝑥</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oMath>
                </a14:m>
                <a:r>
                  <a:rPr lang="en-US" dirty="0"/>
                  <a:t>  =</a:t>
                </a:r>
              </a:p>
              <a:p>
                <a:pPr marL="0" indent="0">
                  <a:buNone/>
                </a:pPr>
                <a:endParaRPr lang="en-US" dirty="0"/>
              </a:p>
              <a:p>
                <a:pPr marL="0" indent="0">
                  <a:buNone/>
                </a:pPr>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𝑣𝑥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m:t>
                    </m:r>
                  </m:oMath>
                </a14:m>
                <a:r>
                  <a:rPr lang="en-US" dirty="0"/>
                  <a:t>We note the Galilean transformation is valid only when</a:t>
                </a:r>
              </a:p>
              <a:p>
                <a:pPr marL="0" indent="0">
                  <a:buNone/>
                </a:pPr>
                <a:r>
                  <a:rPr lang="en-US" dirty="0"/>
                  <a:t> v is much smaller than c. When v is large, the Lorentz transformation</a:t>
                </a:r>
              </a:p>
              <a:p>
                <a:pPr marL="0" indent="0">
                  <a:buNone/>
                </a:pPr>
                <a:r>
                  <a:rPr lang="en-US" dirty="0"/>
                  <a:t>becomes necessary and the Galilean transformation no longer holds. </a:t>
                </a:r>
              </a:p>
              <a:p>
                <a:pPr marL="0" indent="0">
                  <a:buNone/>
                </a:pPr>
                <a:endParaRPr lang="en-US" dirty="0"/>
              </a:p>
              <a:p>
                <a:pPr marL="0" indent="0">
                  <a:buNone/>
                </a:pPr>
                <a:endParaRPr lang="en-NG" dirty="0"/>
              </a:p>
            </p:txBody>
          </p:sp>
        </mc:Choice>
        <mc:Fallback xmlns="">
          <p:sp>
            <p:nvSpPr>
              <p:cNvPr id="3" name="Content Placeholder 2">
                <a:extLst>
                  <a:ext uri="{FF2B5EF4-FFF2-40B4-BE49-F238E27FC236}">
                    <a16:creationId xmlns:a16="http://schemas.microsoft.com/office/drawing/2014/main" id="{CC8B34C7-0DDC-4798-BFA4-1F6BA65EA275}"/>
                  </a:ext>
                </a:extLst>
              </p:cNvPr>
              <p:cNvSpPr>
                <a:spLocks noGrp="1" noRot="1" noChangeAspect="1" noMove="1" noResize="1" noEditPoints="1" noAdjustHandles="1" noChangeArrowheads="1" noChangeShapeType="1" noTextEdit="1"/>
              </p:cNvSpPr>
              <p:nvPr>
                <p:ph idx="1"/>
              </p:nvPr>
            </p:nvSpPr>
            <p:spPr>
              <a:xfrm>
                <a:off x="838200" y="1201479"/>
                <a:ext cx="10515600" cy="4975484"/>
              </a:xfrm>
              <a:blipFill>
                <a:blip r:embed="rId2"/>
                <a:stretch>
                  <a:fillRect l="-1217"/>
                </a:stretch>
              </a:blipFill>
            </p:spPr>
            <p:txBody>
              <a:bodyPr/>
              <a:lstStyle/>
              <a:p>
                <a:r>
                  <a:rPr lang="en-NG">
                    <a:noFill/>
                  </a:rPr>
                  <a:t> </a:t>
                </a:r>
              </a:p>
            </p:txBody>
          </p:sp>
        </mc:Fallback>
      </mc:AlternateContent>
    </p:spTree>
    <p:extLst>
      <p:ext uri="{BB962C8B-B14F-4D97-AF65-F5344CB8AC3E}">
        <p14:creationId xmlns:p14="http://schemas.microsoft.com/office/powerpoint/2010/main" val="2001560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7E871-8628-45B9-91F6-6D51A2FD14B2}"/>
              </a:ext>
            </a:extLst>
          </p:cNvPr>
          <p:cNvSpPr>
            <a:spLocks noGrp="1"/>
          </p:cNvSpPr>
          <p:nvPr>
            <p:ph type="title"/>
          </p:nvPr>
        </p:nvSpPr>
        <p:spPr/>
        <p:txBody>
          <a:bodyPr/>
          <a:lstStyle/>
          <a:p>
            <a:r>
              <a:rPr lang="en-US" dirty="0"/>
              <a:t> Example</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638D25-117B-4E2B-B12B-FE1B61519673}"/>
                  </a:ext>
                </a:extLst>
              </p:cNvPr>
              <p:cNvSpPr>
                <a:spLocks noGrp="1"/>
              </p:cNvSpPr>
              <p:nvPr>
                <p:ph idx="1"/>
              </p:nvPr>
            </p:nvSpPr>
            <p:spPr/>
            <p:txBody>
              <a:bodyPr/>
              <a:lstStyle/>
              <a:p>
                <a:pPr marL="0" indent="0">
                  <a:buNone/>
                </a:pPr>
                <a:r>
                  <a:rPr lang="en-US" dirty="0"/>
                  <a:t>Question: The momentum of a particle according to Newtonian mechanics is given as p= mv.</a:t>
                </a:r>
              </a:p>
              <a:p>
                <a:pPr marL="0" indent="0">
                  <a:buNone/>
                </a:pPr>
                <a:r>
                  <a:rPr lang="en-US" dirty="0"/>
                  <a:t>What is the relativistic momentum?</a:t>
                </a:r>
              </a:p>
              <a:p>
                <a:pPr marL="0" indent="0">
                  <a:buNone/>
                </a:pPr>
                <a:r>
                  <a:rPr lang="en-US" dirty="0"/>
                  <a:t>Answer the relativistic momentum  is </a:t>
                </a:r>
                <a:r>
                  <a:rPr lang="en-US" dirty="0" err="1"/>
                  <a:t>ϒmv</a:t>
                </a:r>
                <a:r>
                  <a:rPr lang="en-US" dirty="0"/>
                  <a:t>  given as</a:t>
                </a:r>
              </a:p>
              <a:p>
                <a:pPr marL="0" indent="0">
                  <a:buNone/>
                </a:pPr>
                <a:r>
                  <a:rPr lang="en-US" dirty="0"/>
                  <a:t> p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𝑚𝑣</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oMath>
                </a14:m>
                <a:r>
                  <a:rPr lang="en-US" dirty="0"/>
                  <a:t> .  Where  </a:t>
                </a:r>
                <a:r>
                  <a:rPr lang="el-GR" dirty="0"/>
                  <a:t>ϒ</a:t>
                </a:r>
                <a:r>
                  <a:rPr lang="en-US" dirty="0"/>
                  <a:t> is relativistic factor with value </a:t>
                </a:r>
                <a:r>
                  <a:rPr lang="el-GR" dirty="0"/>
                  <a:t>ϒ</a:t>
                </a:r>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oMath>
                </a14:m>
                <a:endParaRPr lang="en-NG" dirty="0"/>
              </a:p>
            </p:txBody>
          </p:sp>
        </mc:Choice>
        <mc:Fallback xmlns="">
          <p:sp>
            <p:nvSpPr>
              <p:cNvPr id="3" name="Content Placeholder 2">
                <a:extLst>
                  <a:ext uri="{FF2B5EF4-FFF2-40B4-BE49-F238E27FC236}">
                    <a16:creationId xmlns:a16="http://schemas.microsoft.com/office/drawing/2014/main" id="{D0638D25-117B-4E2B-B12B-FE1B61519673}"/>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3456808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26CE-B3BE-4957-903A-82C93DBF6308}"/>
              </a:ext>
            </a:extLst>
          </p:cNvPr>
          <p:cNvSpPr>
            <a:spLocks noGrp="1"/>
          </p:cNvSpPr>
          <p:nvPr>
            <p:ph type="title"/>
          </p:nvPr>
        </p:nvSpPr>
        <p:spPr/>
        <p:txBody>
          <a:bodyPr/>
          <a:lstStyle/>
          <a:p>
            <a:r>
              <a:rPr lang="en-US" dirty="0"/>
              <a:t>Example 2</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201662-71C5-4553-B450-5AB2DDEE4B24}"/>
                  </a:ext>
                </a:extLst>
              </p:cNvPr>
              <p:cNvSpPr>
                <a:spLocks noGrp="1"/>
              </p:cNvSpPr>
              <p:nvPr>
                <p:ph idx="1"/>
              </p:nvPr>
            </p:nvSpPr>
            <p:spPr/>
            <p:txBody>
              <a:bodyPr/>
              <a:lstStyle/>
              <a:p>
                <a:pPr marL="0" indent="0">
                  <a:buNone/>
                </a:pPr>
                <a:r>
                  <a:rPr lang="en-US" dirty="0"/>
                  <a:t>An electron has a mass of 0.511MeV/</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𝑡𝑟𝑎𝑣𝑒𝑙𝑠</m:t>
                    </m:r>
                  </m:oMath>
                </a14:m>
                <a:r>
                  <a:rPr lang="en-US" dirty="0"/>
                  <a:t> with a velocity of</a:t>
                </a:r>
              </a:p>
              <a:p>
                <a:pPr marL="0" indent="0">
                  <a:buNone/>
                </a:pPr>
                <a:r>
                  <a:rPr lang="en-US" dirty="0"/>
                  <a:t>0.8c. Calculate it’s momentum.</a:t>
                </a:r>
              </a:p>
              <a:p>
                <a:pPr marL="0" indent="0">
                  <a:buNone/>
                </a:pPr>
                <a:r>
                  <a:rPr lang="en-US" dirty="0"/>
                  <a:t>Answer: The velocity is large, comparable with the velocity of light.</a:t>
                </a:r>
              </a:p>
              <a:p>
                <a:pPr marL="0" indent="0">
                  <a:buNone/>
                </a:pPr>
                <a:r>
                  <a:rPr lang="en-US" dirty="0"/>
                  <a:t>So we use relativistic formula.</a:t>
                </a:r>
              </a:p>
              <a:p>
                <a:pPr marL="0" indent="0">
                  <a:buNone/>
                </a:pPr>
                <a:r>
                  <a:rPr lang="en-US" dirty="0"/>
                  <a:t>Momentum = p =</a:t>
                </a:r>
                <a:r>
                  <a:rPr lang="en-US" dirty="0" err="1"/>
                  <a:t>ϒmv</a:t>
                </a:r>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𝑚𝑣</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0.511</m:t>
                            </m:r>
                            <m:r>
                              <a:rPr lang="en-US" b="0" i="1" smtClean="0">
                                <a:latin typeface="Cambria Math" panose="02040503050406030204" pitchFamily="18" charset="0"/>
                              </a:rPr>
                              <m:t>𝑀𝑒𝑉</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𝑥</m:t>
                        </m:r>
                        <m:r>
                          <a:rPr lang="en-US" b="0" i="1" smtClean="0">
                            <a:latin typeface="Cambria Math" panose="02040503050406030204" pitchFamily="18" charset="0"/>
                          </a:rPr>
                          <m:t> 0.8</m:t>
                        </m:r>
                        <m:r>
                          <a:rPr lang="en-US" b="0" i="1" smtClean="0">
                            <a:latin typeface="Cambria Math" panose="02040503050406030204" pitchFamily="18" charset="0"/>
                          </a:rPr>
                          <m:t>𝑐</m:t>
                        </m:r>
                      </m:num>
                      <m:den>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(0.8</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oMath>
                </a14:m>
                <a:endParaRPr lang="en-US" dirty="0"/>
              </a:p>
              <a:p>
                <a:pPr marL="0" indent="0">
                  <a:buNone/>
                </a:pPr>
                <a:r>
                  <a:rPr lang="en-US" dirty="0"/>
                  <a:t>=</a:t>
                </a:r>
                <a:endParaRPr lang="en-NG" dirty="0"/>
              </a:p>
            </p:txBody>
          </p:sp>
        </mc:Choice>
        <mc:Fallback xmlns="">
          <p:sp>
            <p:nvSpPr>
              <p:cNvPr id="3" name="Content Placeholder 2">
                <a:extLst>
                  <a:ext uri="{FF2B5EF4-FFF2-40B4-BE49-F238E27FC236}">
                    <a16:creationId xmlns:a16="http://schemas.microsoft.com/office/drawing/2014/main" id="{56201662-71C5-4553-B450-5AB2DDEE4B24}"/>
                  </a:ext>
                </a:extLst>
              </p:cNvPr>
              <p:cNvSpPr>
                <a:spLocks noGrp="1" noRot="1" noChangeAspect="1" noMove="1" noResize="1" noEditPoints="1" noAdjustHandles="1" noChangeArrowheads="1" noChangeShapeType="1" noTextEdit="1"/>
              </p:cNvSpPr>
              <p:nvPr>
                <p:ph idx="1"/>
              </p:nvPr>
            </p:nvSpPr>
            <p:spPr>
              <a:blipFill>
                <a:blip r:embed="rId2"/>
                <a:stretch>
                  <a:fillRect l="-1217" t="-2241" r="-116"/>
                </a:stretch>
              </a:blipFill>
            </p:spPr>
            <p:txBody>
              <a:bodyPr/>
              <a:lstStyle/>
              <a:p>
                <a:r>
                  <a:rPr lang="en-N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4657A2-5661-4063-97E8-AEAEC2499FDF}"/>
                  </a:ext>
                </a:extLst>
              </p:cNvPr>
              <p:cNvSpPr txBox="1"/>
              <p:nvPr/>
            </p:nvSpPr>
            <p:spPr>
              <a:xfrm>
                <a:off x="5885078" y="3258756"/>
                <a:ext cx="425387" cy="3404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NG" i="1" smtClean="0">
                              <a:latin typeface="Cambria Math" panose="02040503050406030204" pitchFamily="18" charset="0"/>
                            </a:rPr>
                          </m:ctrlPr>
                        </m:sSupPr>
                        <m:e/>
                        <m:sup/>
                      </m:sSup>
                    </m:oMath>
                  </m:oMathPara>
                </a14:m>
                <a:endParaRPr lang="en-NG" dirty="0"/>
              </a:p>
            </p:txBody>
          </p:sp>
        </mc:Choice>
        <mc:Fallback xmlns="">
          <p:sp>
            <p:nvSpPr>
              <p:cNvPr id="4" name="TextBox 3">
                <a:extLst>
                  <a:ext uri="{FF2B5EF4-FFF2-40B4-BE49-F238E27FC236}">
                    <a16:creationId xmlns:a16="http://schemas.microsoft.com/office/drawing/2014/main" id="{C84657A2-5661-4063-97E8-AEAEC2499FDF}"/>
                  </a:ext>
                </a:extLst>
              </p:cNvPr>
              <p:cNvSpPr txBox="1">
                <a:spLocks noRot="1" noChangeAspect="1" noMove="1" noResize="1" noEditPoints="1" noAdjustHandles="1" noChangeArrowheads="1" noChangeShapeType="1" noTextEdit="1"/>
              </p:cNvSpPr>
              <p:nvPr/>
            </p:nvSpPr>
            <p:spPr>
              <a:xfrm>
                <a:off x="5885078" y="3258756"/>
                <a:ext cx="425387" cy="340487"/>
              </a:xfrm>
              <a:prstGeom prst="rect">
                <a:avLst/>
              </a:prstGeom>
              <a:blipFill>
                <a:blip r:embed="rId3"/>
                <a:stretch>
                  <a:fillRect/>
                </a:stretch>
              </a:blipFill>
            </p:spPr>
            <p:txBody>
              <a:bodyPr/>
              <a:lstStyle/>
              <a:p>
                <a:r>
                  <a:rPr lang="en-NG">
                    <a:noFill/>
                  </a:rPr>
                  <a:t> </a:t>
                </a:r>
              </a:p>
            </p:txBody>
          </p:sp>
        </mc:Fallback>
      </mc:AlternateContent>
    </p:spTree>
    <p:extLst>
      <p:ext uri="{BB962C8B-B14F-4D97-AF65-F5344CB8AC3E}">
        <p14:creationId xmlns:p14="http://schemas.microsoft.com/office/powerpoint/2010/main" val="2884579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223AB-A0C4-4F0B-B606-CFF3987173EE}"/>
              </a:ext>
            </a:extLst>
          </p:cNvPr>
          <p:cNvSpPr>
            <a:spLocks noGrp="1"/>
          </p:cNvSpPr>
          <p:nvPr>
            <p:ph type="title"/>
          </p:nvPr>
        </p:nvSpPr>
        <p:spPr/>
        <p:txBody>
          <a:bodyPr/>
          <a:lstStyle/>
          <a:p>
            <a:r>
              <a:rPr lang="en-US" dirty="0"/>
              <a:t>Solution to example 2</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59AE02-4B8B-4FC4-96D4-2B7487FD1257}"/>
                  </a:ext>
                </a:extLst>
              </p:cNvPr>
              <p:cNvSpPr>
                <a:spLocks noGrp="1"/>
              </p:cNvSpPr>
              <p:nvPr>
                <p:ph idx="1"/>
              </p:nvPr>
            </p:nvSpPr>
            <p:spPr/>
            <p:txBody>
              <a:bodyPr/>
              <a:lstStyle/>
              <a:p>
                <a:pPr marL="0" indent="0">
                  <a:buNone/>
                </a:pPr>
                <a:r>
                  <a:rPr lang="en-US" dirty="0"/>
                  <a:t>=</a:t>
                </a:r>
                <a14:m>
                  <m:oMath xmlns:m="http://schemas.openxmlformats.org/officeDocument/2006/math">
                    <m:r>
                      <a:rPr lang="en-US" b="0" i="0"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0.6813</m:t>
                        </m:r>
                        <m:r>
                          <a:rPr lang="en-US" b="0" i="1" smtClean="0">
                            <a:latin typeface="Cambria Math" panose="02040503050406030204" pitchFamily="18" charset="0"/>
                          </a:rPr>
                          <m:t>𝑀𝑒𝑉</m:t>
                        </m:r>
                      </m:num>
                      <m:den>
                        <m:r>
                          <a:rPr lang="en-US" b="0" i="1" smtClean="0">
                            <a:latin typeface="Cambria Math" panose="02040503050406030204" pitchFamily="18" charset="0"/>
                          </a:rPr>
                          <m:t>𝑐</m:t>
                        </m:r>
                      </m:den>
                    </m:f>
                  </m:oMath>
                </a14:m>
                <a:r>
                  <a:rPr lang="en-US" dirty="0"/>
                  <a:t>  </a:t>
                </a:r>
              </a:p>
              <a:p>
                <a:pPr marL="0" indent="0">
                  <a:buNone/>
                </a:pPr>
                <a:r>
                  <a:rPr lang="en-US" dirty="0"/>
                  <a:t>(b) What is the value of this momentum in </a:t>
                </a:r>
                <a:r>
                  <a:rPr lang="en-US" dirty="0" err="1"/>
                  <a:t>kgm</a:t>
                </a:r>
                <a:r>
                  <a:rPr lang="en-US" dirty="0"/>
                  <a:t>/s if  1Mev/c =</a:t>
                </a:r>
              </a:p>
              <a:p>
                <a:pPr marL="0" indent="0">
                  <a:buNone/>
                </a:pPr>
                <a:r>
                  <a:rPr lang="en-US" dirty="0"/>
                  <a:t>5.344 x </a:t>
                </a:r>
                <a14:m>
                  <m:oMath xmlns:m="http://schemas.openxmlformats.org/officeDocument/2006/math">
                    <m:f>
                      <m:fPr>
                        <m:ctrlPr>
                          <a:rPr lang="en-US" b="0"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−22</m:t>
                            </m:r>
                          </m:sup>
                        </m:sSup>
                        <m:r>
                          <a:rPr lang="en-US" b="0" i="1" smtClean="0">
                            <a:latin typeface="Cambria Math" panose="02040503050406030204" pitchFamily="18" charset="0"/>
                          </a:rPr>
                          <m:t>𝑘𝑔𝑚</m:t>
                        </m:r>
                      </m:num>
                      <m:den>
                        <m:r>
                          <a:rPr lang="en-US" b="0" i="1" smtClean="0">
                            <a:latin typeface="Cambria Math" panose="02040503050406030204" pitchFamily="18" charset="0"/>
                          </a:rPr>
                          <m:t>𝑠</m:t>
                        </m:r>
                      </m:den>
                    </m:f>
                    <m:r>
                      <a:rPr lang="en-US" b="0" i="1" smtClean="0">
                        <a:latin typeface="Cambria Math" panose="02040503050406030204" pitchFamily="18" charset="0"/>
                      </a:rPr>
                      <m:t>?</m:t>
                    </m:r>
                  </m:oMath>
                </a14:m>
                <a:endParaRPr lang="en-US" b="0" dirty="0"/>
              </a:p>
              <a:p>
                <a:pPr marL="0" indent="0">
                  <a:buNone/>
                </a:pPr>
                <a:r>
                  <a:rPr lang="en-US" dirty="0"/>
                  <a:t>Answer</a:t>
                </a:r>
              </a:p>
              <a:p>
                <a:pPr marL="0" indent="0">
                  <a:buNone/>
                </a:pPr>
                <a14:m>
                  <m:oMath xmlns:m="http://schemas.openxmlformats.org/officeDocument/2006/math">
                    <m:f>
                      <m:fPr>
                        <m:ctrlPr>
                          <a:rPr lang="en-NG" i="1" smtClean="0">
                            <a:latin typeface="Cambria Math" panose="02040503050406030204" pitchFamily="18" charset="0"/>
                          </a:rPr>
                        </m:ctrlPr>
                      </m:fPr>
                      <m:num>
                        <m:r>
                          <a:rPr lang="en-US" b="0" i="1" smtClean="0">
                            <a:latin typeface="Cambria Math" panose="02040503050406030204" pitchFamily="18" charset="0"/>
                          </a:rPr>
                          <m:t>0.6813</m:t>
                        </m:r>
                        <m:r>
                          <a:rPr lang="en-US" b="0" i="1" smtClean="0">
                            <a:latin typeface="Cambria Math" panose="02040503050406030204" pitchFamily="18" charset="0"/>
                          </a:rPr>
                          <m:t>𝑀𝑒𝑉</m:t>
                        </m:r>
                      </m:num>
                      <m:den>
                        <m:r>
                          <a:rPr lang="en-US" b="0" i="1" smtClean="0">
                            <a:latin typeface="Cambria Math" panose="02040503050406030204" pitchFamily="18" charset="0"/>
                          </a:rPr>
                          <m:t>𝑐</m:t>
                        </m:r>
                      </m:den>
                    </m:f>
                  </m:oMath>
                </a14:m>
                <a:r>
                  <a:rPr lang="en-US" dirty="0"/>
                  <a:t> =  0.6813 x 5.344 x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−22</m:t>
                        </m:r>
                      </m:sup>
                    </m:sSup>
                    <m:r>
                      <a:rPr lang="en-US" b="0" i="1" smtClean="0">
                        <a:latin typeface="Cambria Math" panose="02040503050406030204" pitchFamily="18" charset="0"/>
                      </a:rPr>
                      <m:t> =3.640 </m:t>
                    </m:r>
                    <m:r>
                      <a:rPr lang="en-US" b="0" i="1" smtClean="0">
                        <a:latin typeface="Cambria Math" panose="02040503050406030204" pitchFamily="18" charset="0"/>
                      </a:rPr>
                      <m:t>𝑥</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−22</m:t>
                            </m:r>
                          </m:sup>
                        </m:sSup>
                        <m:r>
                          <a:rPr lang="en-US" b="0" i="1" smtClean="0">
                            <a:latin typeface="Cambria Math" panose="02040503050406030204" pitchFamily="18" charset="0"/>
                          </a:rPr>
                          <m:t>𝑘𝑔𝑚</m:t>
                        </m:r>
                      </m:num>
                      <m:den>
                        <m:r>
                          <a:rPr lang="en-US" b="0" i="1" smtClean="0">
                            <a:latin typeface="Cambria Math" panose="02040503050406030204" pitchFamily="18" charset="0"/>
                          </a:rPr>
                          <m:t>𝑠</m:t>
                        </m:r>
                      </m:den>
                    </m:f>
                  </m:oMath>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NG" dirty="0"/>
              </a:p>
            </p:txBody>
          </p:sp>
        </mc:Choice>
        <mc:Fallback xmlns="">
          <p:sp>
            <p:nvSpPr>
              <p:cNvPr id="3" name="Content Placeholder 2">
                <a:extLst>
                  <a:ext uri="{FF2B5EF4-FFF2-40B4-BE49-F238E27FC236}">
                    <a16:creationId xmlns:a16="http://schemas.microsoft.com/office/drawing/2014/main" id="{7259AE02-4B8B-4FC4-96D4-2B7487FD1257}"/>
                  </a:ext>
                </a:extLst>
              </p:cNvPr>
              <p:cNvSpPr>
                <a:spLocks noGrp="1" noRot="1" noChangeAspect="1" noMove="1" noResize="1" noEditPoints="1" noAdjustHandles="1" noChangeArrowheads="1" noChangeShapeType="1" noTextEdit="1"/>
              </p:cNvSpPr>
              <p:nvPr>
                <p:ph idx="1"/>
              </p:nvPr>
            </p:nvSpPr>
            <p:spPr>
              <a:blipFill>
                <a:blip r:embed="rId2"/>
                <a:stretch>
                  <a:fillRect l="-1217" t="-280"/>
                </a:stretch>
              </a:blipFill>
            </p:spPr>
            <p:txBody>
              <a:bodyPr/>
              <a:lstStyle/>
              <a:p>
                <a:r>
                  <a:rPr lang="en-NG">
                    <a:noFill/>
                  </a:rPr>
                  <a:t> </a:t>
                </a:r>
              </a:p>
            </p:txBody>
          </p:sp>
        </mc:Fallback>
      </mc:AlternateContent>
    </p:spTree>
    <p:extLst>
      <p:ext uri="{BB962C8B-B14F-4D97-AF65-F5344CB8AC3E}">
        <p14:creationId xmlns:p14="http://schemas.microsoft.com/office/powerpoint/2010/main" val="1812957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2E4E1-23C1-486F-ABD3-4E649DCA042D}"/>
              </a:ext>
            </a:extLst>
          </p:cNvPr>
          <p:cNvSpPr>
            <a:spLocks noGrp="1"/>
          </p:cNvSpPr>
          <p:nvPr>
            <p:ph type="title"/>
          </p:nvPr>
        </p:nvSpPr>
        <p:spPr/>
        <p:txBody>
          <a:bodyPr/>
          <a:lstStyle/>
          <a:p>
            <a:r>
              <a:rPr lang="en-US" dirty="0"/>
              <a:t>Review Questions</a:t>
            </a:r>
            <a:endParaRPr lang="en-NG" dirty="0"/>
          </a:p>
        </p:txBody>
      </p:sp>
      <p:sp>
        <p:nvSpPr>
          <p:cNvPr id="3" name="Content Placeholder 2">
            <a:extLst>
              <a:ext uri="{FF2B5EF4-FFF2-40B4-BE49-F238E27FC236}">
                <a16:creationId xmlns:a16="http://schemas.microsoft.com/office/drawing/2014/main" id="{07541B9E-EBD9-4ADD-AF23-873990EC6BED}"/>
              </a:ext>
            </a:extLst>
          </p:cNvPr>
          <p:cNvSpPr>
            <a:spLocks noGrp="1"/>
          </p:cNvSpPr>
          <p:nvPr>
            <p:ph idx="1"/>
          </p:nvPr>
        </p:nvSpPr>
        <p:spPr/>
        <p:txBody>
          <a:bodyPr/>
          <a:lstStyle/>
          <a:p>
            <a:r>
              <a:rPr lang="en-US" dirty="0"/>
              <a:t>By means of equations, write down the Galilean transformation</a:t>
            </a:r>
          </a:p>
          <a:p>
            <a:r>
              <a:rPr lang="en-US" dirty="0"/>
              <a:t>In  3 sentences, explain the special theory of relativity.</a:t>
            </a:r>
          </a:p>
          <a:p>
            <a:r>
              <a:rPr lang="en-US" dirty="0"/>
              <a:t>What is an inertial frame of reference?</a:t>
            </a:r>
          </a:p>
          <a:p>
            <a:r>
              <a:rPr lang="en-US" dirty="0"/>
              <a:t>Using two reference frames K and K’, explain simultaneity</a:t>
            </a:r>
          </a:p>
          <a:p>
            <a:r>
              <a:rPr lang="en-US" dirty="0"/>
              <a:t>What is Galilean transformation?</a:t>
            </a:r>
          </a:p>
          <a:p>
            <a:r>
              <a:rPr lang="en-US" dirty="0"/>
              <a:t>Explain Lorentz transformation</a:t>
            </a:r>
          </a:p>
          <a:p>
            <a:r>
              <a:rPr lang="en-US" dirty="0"/>
              <a:t>Write down 4 equations showing Lorentz transformation</a:t>
            </a:r>
          </a:p>
          <a:p>
            <a:endParaRPr lang="en-NG" dirty="0"/>
          </a:p>
        </p:txBody>
      </p:sp>
    </p:spTree>
    <p:extLst>
      <p:ext uri="{BB962C8B-B14F-4D97-AF65-F5344CB8AC3E}">
        <p14:creationId xmlns:p14="http://schemas.microsoft.com/office/powerpoint/2010/main" val="4203596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69F7-CC4A-41C8-AE0C-A9BD1C5B85AD}"/>
              </a:ext>
            </a:extLst>
          </p:cNvPr>
          <p:cNvSpPr>
            <a:spLocks noGrp="1"/>
          </p:cNvSpPr>
          <p:nvPr>
            <p:ph type="title"/>
          </p:nvPr>
        </p:nvSpPr>
        <p:spPr/>
        <p:txBody>
          <a:bodyPr/>
          <a:lstStyle/>
          <a:p>
            <a:r>
              <a:rPr lang="en-US" dirty="0"/>
              <a:t>Review Questions </a:t>
            </a:r>
            <a:r>
              <a:rPr lang="en-US" dirty="0" err="1"/>
              <a:t>contd</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785C73-4B4B-400C-BF1D-394339EDE6ED}"/>
                  </a:ext>
                </a:extLst>
              </p:cNvPr>
              <p:cNvSpPr>
                <a:spLocks noGrp="1"/>
              </p:cNvSpPr>
              <p:nvPr>
                <p:ph idx="1"/>
              </p:nvPr>
            </p:nvSpPr>
            <p:spPr/>
            <p:txBody>
              <a:bodyPr/>
              <a:lstStyle/>
              <a:p>
                <a:r>
                  <a:rPr lang="en-US" dirty="0"/>
                  <a:t>A muon has mass 105.66MeV/</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𝐶</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0" smtClean="0">
                        <a:latin typeface="Cambria Math" panose="02040503050406030204" pitchFamily="18" charset="0"/>
                      </a:rPr>
                      <m:t>.</m:t>
                    </m:r>
                    <m:r>
                      <m:rPr>
                        <m:sty m:val="p"/>
                      </m:rPr>
                      <a:rPr lang="en-US" b="0" i="0" smtClean="0">
                        <a:latin typeface="Cambria Math" panose="02040503050406030204" pitchFamily="18" charset="0"/>
                      </a:rPr>
                      <m:t>C</m:t>
                    </m:r>
                  </m:oMath>
                </a14:m>
                <a:r>
                  <a:rPr lang="en-US" dirty="0"/>
                  <a:t>alculate it’s momentum if it’s velocity is 0.9c</a:t>
                </a:r>
              </a:p>
              <a:p>
                <a:r>
                  <a:rPr lang="en-US" dirty="0"/>
                  <a:t>Find it’s momentum in </a:t>
                </a:r>
                <a:r>
                  <a:rPr lang="en-US" dirty="0" err="1"/>
                  <a:t>kgm</a:t>
                </a:r>
                <a:r>
                  <a:rPr lang="en-US"/>
                  <a:t>/s</a:t>
                </a:r>
                <a:endParaRPr lang="en-NG" dirty="0"/>
              </a:p>
            </p:txBody>
          </p:sp>
        </mc:Choice>
        <mc:Fallback xmlns="">
          <p:sp>
            <p:nvSpPr>
              <p:cNvPr id="3" name="Content Placeholder 2">
                <a:extLst>
                  <a:ext uri="{FF2B5EF4-FFF2-40B4-BE49-F238E27FC236}">
                    <a16:creationId xmlns:a16="http://schemas.microsoft.com/office/drawing/2014/main" id="{67785C73-4B4B-400C-BF1D-394339EDE6E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NG">
                    <a:noFill/>
                  </a:rPr>
                  <a:t> </a:t>
                </a:r>
              </a:p>
            </p:txBody>
          </p:sp>
        </mc:Fallback>
      </mc:AlternateContent>
    </p:spTree>
    <p:extLst>
      <p:ext uri="{BB962C8B-B14F-4D97-AF65-F5344CB8AC3E}">
        <p14:creationId xmlns:p14="http://schemas.microsoft.com/office/powerpoint/2010/main" val="1935389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TotalTime>
  <Words>1528</Words>
  <Application>Microsoft Office PowerPoint</Application>
  <PresentationFormat>Widescreen</PresentationFormat>
  <Paragraphs>132</Paragraphs>
  <Slides>27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等线 Light</vt:lpstr>
      <vt:lpstr>Arial</vt:lpstr>
      <vt:lpstr>Calibri</vt:lpstr>
      <vt:lpstr>Calibri Light</vt:lpstr>
      <vt:lpstr>Cambria Math</vt:lpstr>
      <vt:lpstr>Times New Roman</vt:lpstr>
      <vt:lpstr>Wingdings</vt:lpstr>
      <vt:lpstr>Office Theme</vt:lpstr>
      <vt:lpstr>PHY 211: Elementary modern Physics (2 Units) Special theory of relativity  (week 1)      </vt:lpstr>
      <vt:lpstr>OBJECTIVES</vt:lpstr>
      <vt:lpstr>Special theory of relativity</vt:lpstr>
      <vt:lpstr>Special theory of relativity</vt:lpstr>
      <vt:lpstr>Special theory of relativity</vt:lpstr>
      <vt:lpstr>Special theory of relativity</vt:lpstr>
      <vt:lpstr>Special theory of relativity</vt:lpstr>
      <vt:lpstr>Special theory of relativity</vt:lpstr>
      <vt:lpstr>Special theory of relativity</vt:lpstr>
      <vt:lpstr>Special theory of relativity</vt:lpstr>
      <vt:lpstr>Special theory of relativity</vt:lpstr>
      <vt:lpstr>Special theory of relativity</vt:lpstr>
      <vt:lpstr>Special theory of relativity.</vt:lpstr>
      <vt:lpstr>Simultaneity</vt:lpstr>
      <vt:lpstr>Simultaneity</vt:lpstr>
      <vt:lpstr>Simultaneity</vt:lpstr>
      <vt:lpstr>Simultaneity</vt:lpstr>
      <vt:lpstr>Galilean transformation</vt:lpstr>
      <vt:lpstr>The Lorentz transformation</vt:lpstr>
      <vt:lpstr>Lorentz transformation</vt:lpstr>
      <vt:lpstr>Special theory of relativity</vt:lpstr>
      <vt:lpstr>Special theory of relativity</vt:lpstr>
      <vt:lpstr> Example</vt:lpstr>
      <vt:lpstr>Example 2</vt:lpstr>
      <vt:lpstr>Solution to example 2</vt:lpstr>
      <vt:lpstr>Review Questions</vt:lpstr>
      <vt:lpstr>Review Questions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OKAFOR PC</dc:creator>
  <cp:lastModifiedBy>DR OKAFOR PC</cp:lastModifiedBy>
  <cp:revision>56</cp:revision>
  <dcterms:created xsi:type="dcterms:W3CDTF">2025-09-10T15:34:09Z</dcterms:created>
  <dcterms:modified xsi:type="dcterms:W3CDTF">2025-09-29T11:00:09Z</dcterms:modified>
</cp:coreProperties>
</file>